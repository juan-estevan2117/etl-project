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7200000" cx="10800000"/>
  <p:notesSz cx="6858000" cy="9144000"/>
  <p:embeddedFontLst>
    <p:embeddedFont>
      <p:font typeface="Oswald ExtraLight"/>
      <p:regular r:id="rId24"/>
      <p:bold r:id="rId25"/>
    </p:embeddedFont>
    <p:embeddedFont>
      <p:font typeface="Oswa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268">
          <p15:clr>
            <a:srgbClr val="747775"/>
          </p15:clr>
        </p15:guide>
        <p15:guide id="2" pos="3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2C1B599-24EF-4329-B8DF-2FCB8B7AFC4C}">
  <a:tblStyle styleId="{02C1B599-24EF-4329-B8DF-2FCB8B7AFC4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556CFA1-8E2C-47EC-A9A8-5E49D9BD7B61}"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268" orient="horz"/>
        <p:guide pos="3402"/>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OswaldExtraLight-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Oswald-regular.fntdata"/><Relationship Id="rId25" Type="http://schemas.openxmlformats.org/officeDocument/2006/relationships/font" Target="fonts/OswaldExtraLight-bold.fntdata"/><Relationship Id="rId27" Type="http://schemas.openxmlformats.org/officeDocument/2006/relationships/font" Target="fonts/Oswald-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857543" y="685800"/>
            <a:ext cx="5143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a8ca8e8b2d_0_235:notes"/>
          <p:cNvSpPr/>
          <p:nvPr>
            <p:ph idx="2" type="sldImg"/>
          </p:nvPr>
        </p:nvSpPr>
        <p:spPr>
          <a:xfrm>
            <a:off x="857550"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a8ca8e8b2d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a8ca8e8b2d_0_178:notes"/>
          <p:cNvSpPr/>
          <p:nvPr>
            <p:ph idx="2" type="sldImg"/>
          </p:nvPr>
        </p:nvSpPr>
        <p:spPr>
          <a:xfrm>
            <a:off x="857550"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a8ca8e8b2d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8cca342d9_4_1:notes"/>
          <p:cNvSpPr/>
          <p:nvPr>
            <p:ph idx="2" type="sldImg"/>
          </p:nvPr>
        </p:nvSpPr>
        <p:spPr>
          <a:xfrm>
            <a:off x="857550"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a8cca342d9_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8ca8e8b2d_0_287:notes"/>
          <p:cNvSpPr/>
          <p:nvPr>
            <p:ph idx="2" type="sldImg"/>
          </p:nvPr>
        </p:nvSpPr>
        <p:spPr>
          <a:xfrm>
            <a:off x="857550"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8ca8e8b2d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8ca8e8b2d_0_306:notes"/>
          <p:cNvSpPr/>
          <p:nvPr>
            <p:ph idx="2" type="sldImg"/>
          </p:nvPr>
        </p:nvSpPr>
        <p:spPr>
          <a:xfrm>
            <a:off x="857550"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8ca8e8b2d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8ca8e8b2d_0_326:notes"/>
          <p:cNvSpPr/>
          <p:nvPr>
            <p:ph idx="2" type="sldImg"/>
          </p:nvPr>
        </p:nvSpPr>
        <p:spPr>
          <a:xfrm>
            <a:off x="857550"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8ca8e8b2d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8cca342d9_6_9:notes"/>
          <p:cNvSpPr/>
          <p:nvPr>
            <p:ph idx="2" type="sldImg"/>
          </p:nvPr>
        </p:nvSpPr>
        <p:spPr>
          <a:xfrm>
            <a:off x="857550"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8cca342d9_6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notes"/>
          <p:cNvSpPr/>
          <p:nvPr>
            <p:ph idx="2" type="sldImg"/>
          </p:nvPr>
        </p:nvSpPr>
        <p:spPr>
          <a:xfrm>
            <a:off x="857543"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a8ca8e8b2d_0_468:notes"/>
          <p:cNvSpPr/>
          <p:nvPr>
            <p:ph idx="2" type="sldImg"/>
          </p:nvPr>
        </p:nvSpPr>
        <p:spPr>
          <a:xfrm>
            <a:off x="857550"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a8ca8e8b2d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a8ca8e8b2d_0_512:notes"/>
          <p:cNvSpPr/>
          <p:nvPr>
            <p:ph idx="2" type="sldImg"/>
          </p:nvPr>
        </p:nvSpPr>
        <p:spPr>
          <a:xfrm>
            <a:off x="857550"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a8ca8e8b2d_0_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a8ca8e8b2d_0_533:notes"/>
          <p:cNvSpPr/>
          <p:nvPr>
            <p:ph idx="2" type="sldImg"/>
          </p:nvPr>
        </p:nvSpPr>
        <p:spPr>
          <a:xfrm>
            <a:off x="857550"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a8ca8e8b2d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a8cca342d9_6_19:notes"/>
          <p:cNvSpPr/>
          <p:nvPr>
            <p:ph idx="2" type="sldImg"/>
          </p:nvPr>
        </p:nvSpPr>
        <p:spPr>
          <a:xfrm>
            <a:off x="857550"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a8cca342d9_6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a8ca8e8b2d_0_97:notes"/>
          <p:cNvSpPr/>
          <p:nvPr>
            <p:ph idx="2" type="sldImg"/>
          </p:nvPr>
        </p:nvSpPr>
        <p:spPr>
          <a:xfrm>
            <a:off x="857543"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a8ca8e8b2d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a8cca342d9_6_246:notes"/>
          <p:cNvSpPr/>
          <p:nvPr>
            <p:ph idx="2" type="sldImg"/>
          </p:nvPr>
        </p:nvSpPr>
        <p:spPr>
          <a:xfrm>
            <a:off x="857550"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a8cca342d9_6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a8ca8e8b2d_0_500:notes"/>
          <p:cNvSpPr/>
          <p:nvPr>
            <p:ph idx="2" type="sldImg"/>
          </p:nvPr>
        </p:nvSpPr>
        <p:spPr>
          <a:xfrm>
            <a:off x="857550"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a8ca8e8b2d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a8cca342d9_6_193:notes"/>
          <p:cNvSpPr/>
          <p:nvPr>
            <p:ph idx="2" type="sldImg"/>
          </p:nvPr>
        </p:nvSpPr>
        <p:spPr>
          <a:xfrm>
            <a:off x="857550"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a8cca342d9_6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a8cca342d9_6_235:notes"/>
          <p:cNvSpPr/>
          <p:nvPr>
            <p:ph idx="2" type="sldImg"/>
          </p:nvPr>
        </p:nvSpPr>
        <p:spPr>
          <a:xfrm>
            <a:off x="857550"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a8cca342d9_6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1042275"/>
            <a:ext cx="10063800" cy="2873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68150" y="3967279"/>
            <a:ext cx="10063800" cy="1109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10006840" y="6527688"/>
            <a:ext cx="648000" cy="551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3010814"/>
            <a:ext cx="10063800" cy="1178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10006840" y="6527688"/>
            <a:ext cx="648000" cy="551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622957"/>
            <a:ext cx="10063800" cy="8016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68150" y="1613263"/>
            <a:ext cx="10063800" cy="47823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10006840" y="6527688"/>
            <a:ext cx="648000" cy="551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622957"/>
            <a:ext cx="10063800" cy="8016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68150" y="1613263"/>
            <a:ext cx="4724400" cy="4782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5707559" y="1613263"/>
            <a:ext cx="4724400" cy="4782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10006840" y="6527688"/>
            <a:ext cx="648000" cy="551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622957"/>
            <a:ext cx="10063800" cy="8016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10006840" y="6527688"/>
            <a:ext cx="648000" cy="551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777743"/>
            <a:ext cx="3316500" cy="10578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68150" y="1945197"/>
            <a:ext cx="3316500" cy="4450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10006840" y="6527688"/>
            <a:ext cx="648000" cy="551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630131"/>
            <a:ext cx="7521000" cy="57264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10006840" y="6527688"/>
            <a:ext cx="648000" cy="551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175"/>
            <a:ext cx="5400000" cy="720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1726229"/>
            <a:ext cx="4777800" cy="2075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313583" y="3923815"/>
            <a:ext cx="4777800" cy="1728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5834055" y="1013578"/>
            <a:ext cx="4531800" cy="51726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10006840" y="6527688"/>
            <a:ext cx="648000" cy="551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5922065"/>
            <a:ext cx="7085100" cy="8469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10006840" y="6527688"/>
            <a:ext cx="648000" cy="551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1548381"/>
            <a:ext cx="10063800" cy="2748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68150" y="4412563"/>
            <a:ext cx="10063800" cy="18210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10006840" y="6527688"/>
            <a:ext cx="648000" cy="551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6527688"/>
            <a:ext cx="648000" cy="551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622957"/>
            <a:ext cx="10063800" cy="8016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68150" y="1613263"/>
            <a:ext cx="10063800" cy="47823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10006840" y="6527688"/>
            <a:ext cx="648000" cy="5511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2.png"/><Relationship Id="rId4" Type="http://schemas.openxmlformats.org/officeDocument/2006/relationships/image" Target="../media/image10.png"/><Relationship Id="rId5" Type="http://schemas.openxmlformats.org/officeDocument/2006/relationships/hyperlink" Target="mailto:nicole.ruiz@uao.edu.co" TargetMode="External"/><Relationship Id="rId6" Type="http://schemas.openxmlformats.org/officeDocument/2006/relationships/hyperlink" Target="mailto:isabea.manchabajoy@uao.edu.co" TargetMode="External"/><Relationship Id="rId7" Type="http://schemas.openxmlformats.org/officeDocument/2006/relationships/hyperlink" Target="mailto:santiago.ituyan@uao.edu.co" TargetMode="External"/><Relationship Id="rId8" Type="http://schemas.openxmlformats.org/officeDocument/2006/relationships/hyperlink" Target="mailto:juan.viera@uao.edu.co"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0.png"/><Relationship Id="rId4"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datos.gov.co/resource/26bn-e42j.json" TargetMode="External"/><Relationship Id="rId4" Type="http://schemas.openxmlformats.org/officeDocument/2006/relationships/image" Target="../media/image5.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25.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26.png"/><Relationship Id="rId13" Type="http://schemas.openxmlformats.org/officeDocument/2006/relationships/image" Target="../media/image16.png"/><Relationship Id="rId12" Type="http://schemas.openxmlformats.org/officeDocument/2006/relationships/image" Target="../media/image29.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7.png"/><Relationship Id="rId4" Type="http://schemas.openxmlformats.org/officeDocument/2006/relationships/image" Target="../media/image3.png"/><Relationship Id="rId9" Type="http://schemas.openxmlformats.org/officeDocument/2006/relationships/image" Target="../media/image2.png"/><Relationship Id="rId15" Type="http://schemas.openxmlformats.org/officeDocument/2006/relationships/image" Target="../media/image18.png"/><Relationship Id="rId14" Type="http://schemas.openxmlformats.org/officeDocument/2006/relationships/image" Target="../media/image11.png"/><Relationship Id="rId17" Type="http://schemas.openxmlformats.org/officeDocument/2006/relationships/image" Target="../media/image23.png"/><Relationship Id="rId16" Type="http://schemas.openxmlformats.org/officeDocument/2006/relationships/image" Target="../media/image17.png"/><Relationship Id="rId5" Type="http://schemas.openxmlformats.org/officeDocument/2006/relationships/image" Target="../media/image9.png"/><Relationship Id="rId6" Type="http://schemas.openxmlformats.org/officeDocument/2006/relationships/image" Target="../media/image12.png"/><Relationship Id="rId18" Type="http://schemas.openxmlformats.org/officeDocument/2006/relationships/image" Target="../media/image19.png"/><Relationship Id="rId7" Type="http://schemas.openxmlformats.org/officeDocument/2006/relationships/image" Target="../media/image7.png"/><Relationship Id="rId8" Type="http://schemas.openxmlformats.org/officeDocument/2006/relationships/image" Target="../media/image4.png"/></Relationships>
</file>

<file path=ppt/slides/_rels/slide9.xml.rels><?xml version="1.0" encoding="UTF-8" standalone="yes"?><Relationships xmlns="http://schemas.openxmlformats.org/package/2006/relationships"><Relationship Id="rId11" Type="http://schemas.openxmlformats.org/officeDocument/2006/relationships/hyperlink" Target="http://main.py" TargetMode="External"/><Relationship Id="rId10" Type="http://schemas.openxmlformats.org/officeDocument/2006/relationships/hyperlink" Target="http://load.py" TargetMode="External"/><Relationship Id="rId12" Type="http://schemas.openxmlformats.org/officeDocument/2006/relationships/image" Target="../media/image15.png"/><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3.png"/><Relationship Id="rId9" Type="http://schemas.openxmlformats.org/officeDocument/2006/relationships/hyperlink" Target="http://validate.py" TargetMode="External"/><Relationship Id="rId5" Type="http://schemas.openxmlformats.org/officeDocument/2006/relationships/hyperlink" Target="http://config.py" TargetMode="External"/><Relationship Id="rId6" Type="http://schemas.openxmlformats.org/officeDocument/2006/relationships/hyperlink" Target="http://extract.py" TargetMode="External"/><Relationship Id="rId7" Type="http://schemas.openxmlformats.org/officeDocument/2006/relationships/hyperlink" Target="http://transform.py" TargetMode="External"/><Relationship Id="rId8" Type="http://schemas.openxmlformats.org/officeDocument/2006/relationships/hyperlink" Target="http://integrate.py"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7.png"/><Relationship Id="rId4" Type="http://schemas.openxmlformats.org/officeDocument/2006/relationships/image" Target="../media/image2.png"/><Relationship Id="rId9" Type="http://schemas.openxmlformats.org/officeDocument/2006/relationships/image" Target="../media/image19.png"/><Relationship Id="rId5" Type="http://schemas.openxmlformats.org/officeDocument/2006/relationships/image" Target="../media/image29.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0" y="16800"/>
            <a:ext cx="10800000" cy="7166400"/>
          </a:xfrm>
          <a:prstGeom prst="rect">
            <a:avLst/>
          </a:prstGeom>
          <a:noFill/>
          <a:ln cap="flat" cmpd="sng" w="95550">
            <a:solidFill>
              <a:schemeClr val="accent1"/>
            </a:solidFill>
            <a:prstDash val="solid"/>
            <a:round/>
            <a:headEnd len="sm" w="sm" type="none"/>
            <a:tailEnd len="sm" w="sm" type="none"/>
          </a:ln>
        </p:spPr>
        <p:txBody>
          <a:bodyPr anchorCtr="0" anchor="ctr" bIns="114650" lIns="114650" spcFirstLastPara="1" rIns="114650" wrap="square" tIns="114650">
            <a:noAutofit/>
          </a:bodyPr>
          <a:lstStyle/>
          <a:p>
            <a:pPr indent="0" lvl="0" marL="0" rtl="0" algn="ctr">
              <a:spcBef>
                <a:spcPts val="0"/>
              </a:spcBef>
              <a:spcAft>
                <a:spcPts val="0"/>
              </a:spcAft>
              <a:buNone/>
            </a:pPr>
            <a:r>
              <a:t/>
            </a:r>
            <a:endParaRPr sz="1800"/>
          </a:p>
        </p:txBody>
      </p:sp>
      <p:sp>
        <p:nvSpPr>
          <p:cNvPr id="55" name="Google Shape;55;p13"/>
          <p:cNvSpPr txBox="1"/>
          <p:nvPr/>
        </p:nvSpPr>
        <p:spPr>
          <a:xfrm>
            <a:off x="1728900" y="310525"/>
            <a:ext cx="7342200" cy="2139600"/>
          </a:xfrm>
          <a:prstGeom prst="rect">
            <a:avLst/>
          </a:prstGeom>
          <a:noFill/>
          <a:ln>
            <a:noFill/>
          </a:ln>
        </p:spPr>
        <p:txBody>
          <a:bodyPr anchorCtr="0" anchor="t" bIns="114650" lIns="114650" spcFirstLastPara="1" rIns="114650" wrap="square" tIns="114650">
            <a:noAutofit/>
          </a:bodyPr>
          <a:lstStyle/>
          <a:p>
            <a:pPr indent="0" lvl="0" marL="0" rtl="0" algn="ctr">
              <a:spcBef>
                <a:spcPts val="0"/>
              </a:spcBef>
              <a:spcAft>
                <a:spcPts val="0"/>
              </a:spcAft>
              <a:buNone/>
            </a:pPr>
            <a:r>
              <a:rPr b="1" lang="es-419" sz="3800">
                <a:solidFill>
                  <a:schemeClr val="dk1"/>
                </a:solidFill>
                <a:latin typeface="Oswald"/>
                <a:ea typeface="Oswald"/>
                <a:cs typeface="Oswald"/>
                <a:sym typeface="Oswald"/>
              </a:rPr>
              <a:t>Observatorio de Acceso y Financiación a la Educación Superior - ODS 4</a:t>
            </a:r>
            <a:endParaRPr b="1" sz="3800">
              <a:solidFill>
                <a:schemeClr val="dk1"/>
              </a:solidFill>
              <a:latin typeface="Oswald"/>
              <a:ea typeface="Oswald"/>
              <a:cs typeface="Oswald"/>
              <a:sym typeface="Oswald"/>
            </a:endParaRPr>
          </a:p>
        </p:txBody>
      </p:sp>
      <p:sp>
        <p:nvSpPr>
          <p:cNvPr id="56" name="Google Shape;56;p13"/>
          <p:cNvSpPr txBox="1"/>
          <p:nvPr/>
        </p:nvSpPr>
        <p:spPr>
          <a:xfrm>
            <a:off x="1821600" y="6411025"/>
            <a:ext cx="7342200" cy="588300"/>
          </a:xfrm>
          <a:prstGeom prst="rect">
            <a:avLst/>
          </a:prstGeom>
          <a:noFill/>
          <a:ln>
            <a:noFill/>
          </a:ln>
        </p:spPr>
        <p:txBody>
          <a:bodyPr anchorCtr="0" anchor="t" bIns="114650" lIns="114650" spcFirstLastPara="1" rIns="114650" wrap="square" tIns="114650">
            <a:noAutofit/>
          </a:bodyPr>
          <a:lstStyle/>
          <a:p>
            <a:pPr indent="0" lvl="0" marL="0" rtl="0" algn="ctr">
              <a:spcBef>
                <a:spcPts val="0"/>
              </a:spcBef>
              <a:spcAft>
                <a:spcPts val="0"/>
              </a:spcAft>
              <a:buNone/>
            </a:pPr>
            <a:r>
              <a:rPr b="1" lang="es-419" sz="2300">
                <a:solidFill>
                  <a:schemeClr val="accent1"/>
                </a:solidFill>
                <a:latin typeface="Oswald"/>
                <a:ea typeface="Oswald"/>
                <a:cs typeface="Oswald"/>
                <a:sym typeface="Oswald"/>
              </a:rPr>
              <a:t>ENTREGA FINAL | </a:t>
            </a:r>
            <a:r>
              <a:rPr b="1" lang="es-419" sz="2300">
                <a:solidFill>
                  <a:schemeClr val="accent1"/>
                </a:solidFill>
                <a:latin typeface="Oswald"/>
                <a:ea typeface="Oswald"/>
                <a:cs typeface="Oswald"/>
                <a:sym typeface="Oswald"/>
              </a:rPr>
              <a:t>ETL (Extraction, transformation and load)</a:t>
            </a:r>
            <a:endParaRPr b="1" sz="2300">
              <a:solidFill>
                <a:schemeClr val="accent1"/>
              </a:solidFill>
              <a:latin typeface="Oswald"/>
              <a:ea typeface="Oswald"/>
              <a:cs typeface="Oswald"/>
              <a:sym typeface="Oswald"/>
            </a:endParaRPr>
          </a:p>
        </p:txBody>
      </p:sp>
      <p:pic>
        <p:nvPicPr>
          <p:cNvPr id="57" name="Google Shape;57;p13"/>
          <p:cNvPicPr preferRelativeResize="0"/>
          <p:nvPr/>
        </p:nvPicPr>
        <p:blipFill rotWithShape="1">
          <a:blip r:embed="rId3">
            <a:alphaModFix/>
          </a:blip>
          <a:srcRect b="7019" l="0" r="0" t="3679"/>
          <a:stretch/>
        </p:blipFill>
        <p:spPr>
          <a:xfrm>
            <a:off x="9163800" y="822159"/>
            <a:ext cx="1054752" cy="1116347"/>
          </a:xfrm>
          <a:prstGeom prst="rect">
            <a:avLst/>
          </a:prstGeom>
          <a:noFill/>
          <a:ln>
            <a:noFill/>
          </a:ln>
        </p:spPr>
      </p:pic>
      <p:pic>
        <p:nvPicPr>
          <p:cNvPr id="58" name="Google Shape;58;p13"/>
          <p:cNvPicPr preferRelativeResize="0"/>
          <p:nvPr/>
        </p:nvPicPr>
        <p:blipFill>
          <a:blip r:embed="rId4">
            <a:alphaModFix/>
          </a:blip>
          <a:stretch>
            <a:fillRect/>
          </a:stretch>
        </p:blipFill>
        <p:spPr>
          <a:xfrm>
            <a:off x="1156402" y="852956"/>
            <a:ext cx="1054752" cy="1054752"/>
          </a:xfrm>
          <a:prstGeom prst="rect">
            <a:avLst/>
          </a:prstGeom>
          <a:noFill/>
          <a:ln>
            <a:noFill/>
          </a:ln>
        </p:spPr>
      </p:pic>
      <p:graphicFrame>
        <p:nvGraphicFramePr>
          <p:cNvPr id="59" name="Google Shape;59;p13"/>
          <p:cNvGraphicFramePr/>
          <p:nvPr/>
        </p:nvGraphicFramePr>
        <p:xfrm>
          <a:off x="179475" y="2573250"/>
          <a:ext cx="3000000" cy="3000000"/>
        </p:xfrm>
        <a:graphic>
          <a:graphicData uri="http://schemas.openxmlformats.org/drawingml/2006/table">
            <a:tbl>
              <a:tblPr>
                <a:noFill/>
                <a:tableStyleId>{02C1B599-24EF-4329-B8DF-2FCB8B7AFC4C}</a:tableStyleId>
              </a:tblPr>
              <a:tblGrid>
                <a:gridCol w="2437325"/>
                <a:gridCol w="3179950"/>
                <a:gridCol w="2685850"/>
                <a:gridCol w="2082725"/>
              </a:tblGrid>
              <a:tr h="1231050">
                <a:tc>
                  <a:txBody>
                    <a:bodyPr/>
                    <a:lstStyle/>
                    <a:p>
                      <a:pPr indent="0" lvl="0" marL="0" rtl="0" algn="ctr">
                        <a:spcBef>
                          <a:spcPts val="0"/>
                        </a:spcBef>
                        <a:spcAft>
                          <a:spcPts val="0"/>
                        </a:spcAft>
                        <a:buNone/>
                      </a:pPr>
                      <a:r>
                        <a:rPr lang="es-419" sz="1800">
                          <a:latin typeface="Oswald"/>
                          <a:ea typeface="Oswald"/>
                          <a:cs typeface="Oswald"/>
                          <a:sym typeface="Oswald"/>
                        </a:rPr>
                        <a:t>Nicole Valeria Ruiz Valencia</a:t>
                      </a:r>
                      <a:endParaRPr sz="1800">
                        <a:latin typeface="Oswald"/>
                        <a:ea typeface="Oswald"/>
                        <a:cs typeface="Oswald"/>
                        <a:sym typeface="Oswald"/>
                      </a:endParaRPr>
                    </a:p>
                    <a:p>
                      <a:pPr indent="0" lvl="0" marL="0" rtl="0" algn="ctr">
                        <a:spcBef>
                          <a:spcPts val="0"/>
                        </a:spcBef>
                        <a:spcAft>
                          <a:spcPts val="0"/>
                        </a:spcAft>
                        <a:buNone/>
                      </a:pPr>
                      <a:r>
                        <a:rPr i="1" lang="es-419" sz="1800" u="sng">
                          <a:solidFill>
                            <a:schemeClr val="hlink"/>
                          </a:solidFill>
                          <a:latin typeface="Oswald"/>
                          <a:ea typeface="Oswald"/>
                          <a:cs typeface="Oswald"/>
                          <a:sym typeface="Oswald"/>
                          <a:hlinkClick r:id="rId5"/>
                        </a:rPr>
                        <a:t>nicole.ruiz@uao.edu.co</a:t>
                      </a:r>
                      <a:r>
                        <a:rPr lang="es-419" sz="1800">
                          <a:latin typeface="Oswald"/>
                          <a:ea typeface="Oswald"/>
                          <a:cs typeface="Oswald"/>
                          <a:sym typeface="Oswald"/>
                        </a:rPr>
                        <a:t> </a:t>
                      </a:r>
                      <a:endParaRPr sz="1800">
                        <a:latin typeface="Oswald"/>
                        <a:ea typeface="Oswald"/>
                        <a:cs typeface="Oswald"/>
                        <a:sym typeface="Oswal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800">
                          <a:latin typeface="Oswald"/>
                          <a:ea typeface="Oswald"/>
                          <a:cs typeface="Oswald"/>
                          <a:sym typeface="Oswald"/>
                        </a:rPr>
                        <a:t>Isabela Manchabajoy </a:t>
                      </a:r>
                      <a:br>
                        <a:rPr lang="es-419" sz="1800">
                          <a:latin typeface="Oswald"/>
                          <a:ea typeface="Oswald"/>
                          <a:cs typeface="Oswald"/>
                          <a:sym typeface="Oswald"/>
                        </a:rPr>
                      </a:br>
                      <a:r>
                        <a:rPr lang="es-419" sz="1800">
                          <a:latin typeface="Oswald"/>
                          <a:ea typeface="Oswald"/>
                          <a:cs typeface="Oswald"/>
                          <a:sym typeface="Oswald"/>
                        </a:rPr>
                        <a:t>Padilla</a:t>
                      </a:r>
                      <a:endParaRPr sz="1800">
                        <a:latin typeface="Oswald"/>
                        <a:ea typeface="Oswald"/>
                        <a:cs typeface="Oswald"/>
                        <a:sym typeface="Oswald"/>
                      </a:endParaRPr>
                    </a:p>
                    <a:p>
                      <a:pPr indent="0" lvl="0" marL="0" rtl="0" algn="ctr">
                        <a:spcBef>
                          <a:spcPts val="0"/>
                        </a:spcBef>
                        <a:spcAft>
                          <a:spcPts val="0"/>
                        </a:spcAft>
                        <a:buNone/>
                      </a:pPr>
                      <a:r>
                        <a:rPr i="1" lang="es-419" sz="1800" u="sng">
                          <a:solidFill>
                            <a:schemeClr val="hlink"/>
                          </a:solidFill>
                          <a:latin typeface="Oswald"/>
                          <a:ea typeface="Oswald"/>
                          <a:cs typeface="Oswald"/>
                          <a:sym typeface="Oswald"/>
                          <a:hlinkClick r:id="rId6"/>
                        </a:rPr>
                        <a:t>isabela.manchabajoy@uao.edu.co</a:t>
                      </a:r>
                      <a:r>
                        <a:rPr i="1" lang="es-419" sz="1800">
                          <a:latin typeface="Oswald"/>
                          <a:ea typeface="Oswald"/>
                          <a:cs typeface="Oswald"/>
                          <a:sym typeface="Oswald"/>
                        </a:rPr>
                        <a:t> </a:t>
                      </a:r>
                      <a:endParaRPr i="1" sz="1800">
                        <a:latin typeface="Oswald"/>
                        <a:ea typeface="Oswald"/>
                        <a:cs typeface="Oswald"/>
                        <a:sym typeface="Oswal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800">
                          <a:latin typeface="Oswald"/>
                          <a:ea typeface="Oswald"/>
                          <a:cs typeface="Oswald"/>
                          <a:sym typeface="Oswald"/>
                        </a:rPr>
                        <a:t>Santiago Ituyan </a:t>
                      </a:r>
                      <a:br>
                        <a:rPr lang="es-419" sz="1800">
                          <a:latin typeface="Oswald"/>
                          <a:ea typeface="Oswald"/>
                          <a:cs typeface="Oswald"/>
                          <a:sym typeface="Oswald"/>
                        </a:rPr>
                      </a:br>
                      <a:r>
                        <a:rPr lang="es-419" sz="1800">
                          <a:latin typeface="Oswald"/>
                          <a:ea typeface="Oswald"/>
                          <a:cs typeface="Oswald"/>
                          <a:sym typeface="Oswald"/>
                        </a:rPr>
                        <a:t>Figueroa</a:t>
                      </a:r>
                      <a:endParaRPr sz="1800">
                        <a:latin typeface="Oswald"/>
                        <a:ea typeface="Oswald"/>
                        <a:cs typeface="Oswald"/>
                        <a:sym typeface="Oswald"/>
                      </a:endParaRPr>
                    </a:p>
                    <a:p>
                      <a:pPr indent="0" lvl="0" marL="0" rtl="0" algn="ctr">
                        <a:spcBef>
                          <a:spcPts val="0"/>
                        </a:spcBef>
                        <a:spcAft>
                          <a:spcPts val="0"/>
                        </a:spcAft>
                        <a:buNone/>
                      </a:pPr>
                      <a:r>
                        <a:rPr i="1" lang="es-419" sz="1800" u="sng">
                          <a:solidFill>
                            <a:schemeClr val="hlink"/>
                          </a:solidFill>
                          <a:latin typeface="Oswald"/>
                          <a:ea typeface="Oswald"/>
                          <a:cs typeface="Oswald"/>
                          <a:sym typeface="Oswald"/>
                          <a:hlinkClick r:id="rId7"/>
                        </a:rPr>
                        <a:t>santiago.ituyan@uao.edu.co</a:t>
                      </a:r>
                      <a:r>
                        <a:rPr lang="es-419" sz="1800">
                          <a:latin typeface="Oswald"/>
                          <a:ea typeface="Oswald"/>
                          <a:cs typeface="Oswald"/>
                          <a:sym typeface="Oswald"/>
                        </a:rPr>
                        <a:t> </a:t>
                      </a:r>
                      <a:endParaRPr sz="1800">
                        <a:latin typeface="Oswald"/>
                        <a:ea typeface="Oswald"/>
                        <a:cs typeface="Oswald"/>
                        <a:sym typeface="Oswal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s-419" sz="1800">
                          <a:latin typeface="Oswald"/>
                          <a:ea typeface="Oswald"/>
                          <a:cs typeface="Oswald"/>
                          <a:sym typeface="Oswald"/>
                        </a:rPr>
                        <a:t>Juan Estevan Viera Cano</a:t>
                      </a:r>
                      <a:endParaRPr sz="1800">
                        <a:latin typeface="Oswald"/>
                        <a:ea typeface="Oswald"/>
                        <a:cs typeface="Oswald"/>
                        <a:sym typeface="Oswald"/>
                      </a:endParaRPr>
                    </a:p>
                    <a:p>
                      <a:pPr indent="0" lvl="0" marL="0" rtl="0" algn="ctr">
                        <a:spcBef>
                          <a:spcPts val="0"/>
                        </a:spcBef>
                        <a:spcAft>
                          <a:spcPts val="0"/>
                        </a:spcAft>
                        <a:buNone/>
                      </a:pPr>
                      <a:r>
                        <a:rPr i="1" lang="es-419" sz="1800" u="sng">
                          <a:solidFill>
                            <a:schemeClr val="hlink"/>
                          </a:solidFill>
                          <a:latin typeface="Oswald"/>
                          <a:ea typeface="Oswald"/>
                          <a:cs typeface="Oswald"/>
                          <a:sym typeface="Oswald"/>
                          <a:hlinkClick r:id="rId8"/>
                        </a:rPr>
                        <a:t>juan.viera@uao.edu.co</a:t>
                      </a:r>
                      <a:r>
                        <a:rPr i="1" lang="es-419" sz="1800">
                          <a:latin typeface="Oswald"/>
                          <a:ea typeface="Oswald"/>
                          <a:cs typeface="Oswald"/>
                          <a:sym typeface="Oswald"/>
                        </a:rPr>
                        <a:t> </a:t>
                      </a:r>
                      <a:endParaRPr i="1" sz="1800">
                        <a:latin typeface="Oswald"/>
                        <a:ea typeface="Oswald"/>
                        <a:cs typeface="Oswald"/>
                        <a:sym typeface="Oswal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231050">
                <a:tc>
                  <a:txBody>
                    <a:bodyPr/>
                    <a:lstStyle/>
                    <a:p>
                      <a:pPr indent="0" lvl="0" marL="0" rtl="0" algn="ctr">
                        <a:spcBef>
                          <a:spcPts val="0"/>
                        </a:spcBef>
                        <a:spcAft>
                          <a:spcPts val="0"/>
                        </a:spcAft>
                        <a:buNone/>
                      </a:pPr>
                      <a:r>
                        <a:t/>
                      </a:r>
                      <a:endParaRPr sz="1800">
                        <a:latin typeface="Oswald"/>
                        <a:ea typeface="Oswald"/>
                        <a:cs typeface="Oswald"/>
                        <a:sym typeface="Oswal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2">
                  <a:txBody>
                    <a:bodyPr/>
                    <a:lstStyle/>
                    <a:p>
                      <a:pPr indent="0" lvl="0" marL="0" rtl="0" algn="ctr">
                        <a:lnSpc>
                          <a:spcPct val="115000"/>
                        </a:lnSpc>
                        <a:spcBef>
                          <a:spcPts val="0"/>
                        </a:spcBef>
                        <a:spcAft>
                          <a:spcPts val="0"/>
                        </a:spcAft>
                        <a:buNone/>
                      </a:pPr>
                      <a:r>
                        <a:rPr i="1" lang="es-419" sz="1800">
                          <a:latin typeface="Oswald"/>
                          <a:ea typeface="Oswald"/>
                          <a:cs typeface="Oswald"/>
                          <a:sym typeface="Oswald"/>
                        </a:rPr>
                        <a:t>Facultad de Ingeniería y Ciencias Básicas</a:t>
                      </a:r>
                      <a:endParaRPr i="1" sz="1800">
                        <a:latin typeface="Oswald"/>
                        <a:ea typeface="Oswald"/>
                        <a:cs typeface="Oswald"/>
                        <a:sym typeface="Oswald"/>
                      </a:endParaRPr>
                    </a:p>
                    <a:p>
                      <a:pPr indent="0" lvl="0" marL="0" rtl="0" algn="ctr">
                        <a:lnSpc>
                          <a:spcPct val="115000"/>
                        </a:lnSpc>
                        <a:spcBef>
                          <a:spcPts val="0"/>
                        </a:spcBef>
                        <a:spcAft>
                          <a:spcPts val="0"/>
                        </a:spcAft>
                        <a:buNone/>
                      </a:pPr>
                      <a:r>
                        <a:rPr i="1" lang="es-419" sz="1800">
                          <a:latin typeface="Oswald"/>
                          <a:ea typeface="Oswald"/>
                          <a:cs typeface="Oswald"/>
                          <a:sym typeface="Oswald"/>
                        </a:rPr>
                        <a:t>Ingeniería de Datos e Inteligencia Artificial</a:t>
                      </a:r>
                      <a:endParaRPr i="1" sz="1800">
                        <a:latin typeface="Oswald"/>
                        <a:ea typeface="Oswald"/>
                        <a:cs typeface="Oswald"/>
                        <a:sym typeface="Oswald"/>
                      </a:endParaRPr>
                    </a:p>
                    <a:p>
                      <a:pPr indent="0" lvl="0" marL="0" rtl="0" algn="ctr">
                        <a:lnSpc>
                          <a:spcPct val="115000"/>
                        </a:lnSpc>
                        <a:spcBef>
                          <a:spcPts val="0"/>
                        </a:spcBef>
                        <a:spcAft>
                          <a:spcPts val="0"/>
                        </a:spcAft>
                        <a:buNone/>
                      </a:pPr>
                      <a:r>
                        <a:rPr lang="es-419" sz="1800">
                          <a:latin typeface="Oswald"/>
                          <a:ea typeface="Oswald"/>
                          <a:cs typeface="Oswald"/>
                          <a:sym typeface="Oswald"/>
                        </a:rPr>
                        <a:t>Docente Breyner Posso Bautista</a:t>
                      </a:r>
                      <a:endParaRPr sz="1800">
                        <a:latin typeface="Oswald"/>
                        <a:ea typeface="Oswald"/>
                        <a:cs typeface="Oswald"/>
                        <a:sym typeface="Oswald"/>
                      </a:endParaRPr>
                    </a:p>
                    <a:p>
                      <a:pPr indent="0" lvl="0" marL="0" rtl="0" algn="ctr">
                        <a:lnSpc>
                          <a:spcPct val="115000"/>
                        </a:lnSpc>
                        <a:spcBef>
                          <a:spcPts val="0"/>
                        </a:spcBef>
                        <a:spcAft>
                          <a:spcPts val="0"/>
                        </a:spcAft>
                        <a:buNone/>
                      </a:pPr>
                      <a:r>
                        <a:rPr i="1" lang="es-419" sz="1800">
                          <a:latin typeface="Oswald"/>
                          <a:ea typeface="Oswald"/>
                          <a:cs typeface="Oswald"/>
                          <a:sym typeface="Oswald"/>
                        </a:rPr>
                        <a:t>Universidad Autónoma de Occidente</a:t>
                      </a:r>
                      <a:endParaRPr i="1" sz="1800">
                        <a:latin typeface="Oswald"/>
                        <a:ea typeface="Oswald"/>
                        <a:cs typeface="Oswald"/>
                        <a:sym typeface="Oswald"/>
                      </a:endParaRPr>
                    </a:p>
                    <a:p>
                      <a:pPr indent="0" lvl="0" marL="0" rtl="0" algn="ctr">
                        <a:lnSpc>
                          <a:spcPct val="115000"/>
                        </a:lnSpc>
                        <a:spcBef>
                          <a:spcPts val="0"/>
                        </a:spcBef>
                        <a:spcAft>
                          <a:spcPts val="0"/>
                        </a:spcAft>
                        <a:buNone/>
                      </a:pPr>
                      <a:r>
                        <a:rPr i="1" lang="es-419" sz="1800">
                          <a:latin typeface="Oswald"/>
                          <a:ea typeface="Oswald"/>
                          <a:cs typeface="Oswald"/>
                          <a:sym typeface="Oswald"/>
                        </a:rPr>
                        <a:t>Cali, Colombia</a:t>
                      </a:r>
                      <a:endParaRPr i="1" sz="1800">
                        <a:latin typeface="Oswald"/>
                        <a:ea typeface="Oswald"/>
                        <a:cs typeface="Oswald"/>
                        <a:sym typeface="Oswald"/>
                      </a:endParaRPr>
                    </a:p>
                    <a:p>
                      <a:pPr indent="0" lvl="0" marL="0" rtl="0" algn="ctr">
                        <a:lnSpc>
                          <a:spcPct val="115000"/>
                        </a:lnSpc>
                        <a:spcBef>
                          <a:spcPts val="0"/>
                        </a:spcBef>
                        <a:spcAft>
                          <a:spcPts val="0"/>
                        </a:spcAft>
                        <a:buNone/>
                      </a:pPr>
                      <a:r>
                        <a:rPr i="1" lang="es-419" sz="1800">
                          <a:latin typeface="Oswald"/>
                          <a:ea typeface="Oswald"/>
                          <a:cs typeface="Oswald"/>
                          <a:sym typeface="Oswald"/>
                        </a:rPr>
                        <a:t>2026</a:t>
                      </a:r>
                      <a:endParaRPr i="1" sz="1800">
                        <a:latin typeface="Oswald"/>
                        <a:ea typeface="Oswald"/>
                        <a:cs typeface="Oswald"/>
                        <a:sym typeface="Oswal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a:txBody>
                    <a:bodyPr/>
                    <a:lstStyle/>
                    <a:p>
                      <a:pPr indent="0" lvl="0" marL="0" rtl="0" algn="ctr">
                        <a:spcBef>
                          <a:spcPts val="0"/>
                        </a:spcBef>
                        <a:spcAft>
                          <a:spcPts val="0"/>
                        </a:spcAft>
                        <a:buNone/>
                      </a:pPr>
                      <a:r>
                        <a:t/>
                      </a:r>
                      <a:endParaRPr sz="1800">
                        <a:latin typeface="Oswald"/>
                        <a:ea typeface="Oswald"/>
                        <a:cs typeface="Oswald"/>
                        <a:sym typeface="Oswal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14"/>
          <p:cNvPicPr preferRelativeResize="0"/>
          <p:nvPr/>
        </p:nvPicPr>
        <p:blipFill>
          <a:blip r:embed="rId3">
            <a:alphaModFix/>
          </a:blip>
          <a:stretch>
            <a:fillRect/>
          </a:stretch>
        </p:blipFill>
        <p:spPr>
          <a:xfrm>
            <a:off x="4991863" y="5930925"/>
            <a:ext cx="5811424" cy="1269075"/>
          </a:xfrm>
          <a:prstGeom prst="rect">
            <a:avLst/>
          </a:prstGeom>
          <a:noFill/>
          <a:ln>
            <a:noFill/>
          </a:ln>
        </p:spPr>
      </p:pic>
      <p:sp>
        <p:nvSpPr>
          <p:cNvPr id="65" name="Google Shape;65;p14"/>
          <p:cNvSpPr txBox="1"/>
          <p:nvPr/>
        </p:nvSpPr>
        <p:spPr>
          <a:xfrm>
            <a:off x="5915775" y="3677863"/>
            <a:ext cx="4633800" cy="936000"/>
          </a:xfrm>
          <a:prstGeom prst="rect">
            <a:avLst/>
          </a:prstGeom>
          <a:noFill/>
          <a:ln>
            <a:noFill/>
          </a:ln>
        </p:spPr>
        <p:txBody>
          <a:bodyPr anchorCtr="0" anchor="t" bIns="114650" lIns="114650" spcFirstLastPara="1" rIns="114650" wrap="square" tIns="114650">
            <a:noAutofit/>
          </a:bodyPr>
          <a:lstStyle/>
          <a:p>
            <a:pPr indent="0" lvl="0" marL="0" rtl="0" algn="ctr">
              <a:spcBef>
                <a:spcPts val="0"/>
              </a:spcBef>
              <a:spcAft>
                <a:spcPts val="0"/>
              </a:spcAft>
              <a:buNone/>
            </a:pPr>
            <a:r>
              <a:rPr b="1" lang="es-419" sz="3800">
                <a:solidFill>
                  <a:schemeClr val="dk1"/>
                </a:solidFill>
                <a:latin typeface="Oswald"/>
                <a:ea typeface="Oswald"/>
                <a:cs typeface="Oswald"/>
                <a:sym typeface="Oswald"/>
              </a:rPr>
              <a:t>Objetivo de Negocio</a:t>
            </a:r>
            <a:endParaRPr b="1" sz="3800">
              <a:solidFill>
                <a:schemeClr val="dk1"/>
              </a:solidFill>
              <a:latin typeface="Oswald"/>
              <a:ea typeface="Oswald"/>
              <a:cs typeface="Oswald"/>
              <a:sym typeface="Oswald"/>
            </a:endParaRPr>
          </a:p>
          <a:p>
            <a:pPr indent="0" lvl="0" marL="0" rtl="0" algn="ctr">
              <a:spcBef>
                <a:spcPts val="0"/>
              </a:spcBef>
              <a:spcAft>
                <a:spcPts val="0"/>
              </a:spcAft>
              <a:buNone/>
            </a:pPr>
            <a:r>
              <a:t/>
            </a:r>
            <a:endParaRPr b="1" sz="3800">
              <a:solidFill>
                <a:schemeClr val="dk1"/>
              </a:solidFill>
              <a:latin typeface="Oswald"/>
              <a:ea typeface="Oswald"/>
              <a:cs typeface="Oswald"/>
              <a:sym typeface="Oswald"/>
            </a:endParaRPr>
          </a:p>
        </p:txBody>
      </p:sp>
      <p:sp>
        <p:nvSpPr>
          <p:cNvPr id="66" name="Google Shape;66;p14"/>
          <p:cNvSpPr txBox="1"/>
          <p:nvPr/>
        </p:nvSpPr>
        <p:spPr>
          <a:xfrm>
            <a:off x="6250875" y="4581938"/>
            <a:ext cx="3963600" cy="107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700">
                <a:latin typeface="Oswald"/>
                <a:ea typeface="Oswald"/>
                <a:cs typeface="Oswald"/>
                <a:sym typeface="Oswald"/>
              </a:rPr>
              <a:t>Medir la equidad y cobertura de la financiación estatal (ICETEX) frente a la oferta</a:t>
            </a:r>
            <a:endParaRPr sz="1700">
              <a:latin typeface="Oswald"/>
              <a:ea typeface="Oswald"/>
              <a:cs typeface="Oswald"/>
              <a:sym typeface="Oswald"/>
            </a:endParaRPr>
          </a:p>
          <a:p>
            <a:pPr indent="0" lvl="0" marL="0" rtl="0" algn="ctr">
              <a:spcBef>
                <a:spcPts val="0"/>
              </a:spcBef>
              <a:spcAft>
                <a:spcPts val="0"/>
              </a:spcAft>
              <a:buNone/>
            </a:pPr>
            <a:r>
              <a:rPr lang="es-419" sz="1700">
                <a:latin typeface="Oswald"/>
                <a:ea typeface="Oswald"/>
                <a:cs typeface="Oswald"/>
                <a:sym typeface="Oswald"/>
              </a:rPr>
              <a:t>   educativa (SNIES)</a:t>
            </a:r>
            <a:endParaRPr sz="1700">
              <a:latin typeface="Oswald"/>
              <a:ea typeface="Oswald"/>
              <a:cs typeface="Oswald"/>
              <a:sym typeface="Oswald"/>
            </a:endParaRPr>
          </a:p>
        </p:txBody>
      </p:sp>
      <p:sp>
        <p:nvSpPr>
          <p:cNvPr id="67" name="Google Shape;67;p14"/>
          <p:cNvSpPr/>
          <p:nvPr/>
        </p:nvSpPr>
        <p:spPr>
          <a:xfrm>
            <a:off x="6315588" y="410975"/>
            <a:ext cx="1875000" cy="1376700"/>
          </a:xfrm>
          <a:prstGeom prst="roundRect">
            <a:avLst>
              <a:gd fmla="val 16667" name="adj"/>
            </a:avLst>
          </a:prstGeom>
          <a:solidFill>
            <a:srgbClr val="C8D0D4"/>
          </a:solidFill>
          <a:ln>
            <a:noFill/>
          </a:ln>
        </p:spPr>
        <p:txBody>
          <a:bodyPr anchorCtr="0" anchor="ctr" bIns="82400" lIns="82400" spcFirstLastPara="1" rIns="82400" wrap="square" tIns="82400">
            <a:noAutofit/>
          </a:bodyPr>
          <a:lstStyle/>
          <a:p>
            <a:pPr indent="0" lvl="0" marL="0" rtl="0" algn="ctr">
              <a:spcBef>
                <a:spcPts val="0"/>
              </a:spcBef>
              <a:spcAft>
                <a:spcPts val="0"/>
              </a:spcAft>
              <a:buNone/>
            </a:pPr>
            <a:r>
              <a:rPr b="1" i="1" lang="es-419" sz="1262">
                <a:solidFill>
                  <a:srgbClr val="204A87"/>
                </a:solidFill>
                <a:latin typeface="Oswald"/>
                <a:ea typeface="Oswald"/>
                <a:cs typeface="Oswald"/>
                <a:sym typeface="Oswald"/>
              </a:rPr>
              <a:t>¿Cuál es la tasa de cobertura de crédito por departamento? ¿Existen "desiertos de financiación"?</a:t>
            </a:r>
            <a:endParaRPr b="1" i="1" sz="1262">
              <a:solidFill>
                <a:srgbClr val="204A87"/>
              </a:solidFill>
              <a:latin typeface="Oswald"/>
              <a:ea typeface="Oswald"/>
              <a:cs typeface="Oswald"/>
              <a:sym typeface="Oswald"/>
            </a:endParaRPr>
          </a:p>
        </p:txBody>
      </p:sp>
      <p:sp>
        <p:nvSpPr>
          <p:cNvPr id="68" name="Google Shape;68;p14"/>
          <p:cNvSpPr/>
          <p:nvPr/>
        </p:nvSpPr>
        <p:spPr>
          <a:xfrm>
            <a:off x="8274750" y="1854325"/>
            <a:ext cx="1875000" cy="1376700"/>
          </a:xfrm>
          <a:prstGeom prst="roundRect">
            <a:avLst>
              <a:gd fmla="val 16667" name="adj"/>
            </a:avLst>
          </a:prstGeom>
          <a:solidFill>
            <a:srgbClr val="C8D0D4"/>
          </a:solidFill>
          <a:ln>
            <a:noFill/>
          </a:ln>
        </p:spPr>
        <p:txBody>
          <a:bodyPr anchorCtr="0" anchor="ctr" bIns="82400" lIns="82400" spcFirstLastPara="1" rIns="82400" wrap="square" tIns="82400">
            <a:noAutofit/>
          </a:bodyPr>
          <a:lstStyle/>
          <a:p>
            <a:pPr indent="0" lvl="0" marL="0" rtl="0" algn="ctr">
              <a:spcBef>
                <a:spcPts val="0"/>
              </a:spcBef>
              <a:spcAft>
                <a:spcPts val="0"/>
              </a:spcAft>
              <a:buClr>
                <a:schemeClr val="dk1"/>
              </a:buClr>
              <a:buSzPts val="1100"/>
              <a:buFont typeface="Arial"/>
              <a:buNone/>
            </a:pPr>
            <a:r>
              <a:rPr b="1" i="1" lang="es-419" sz="1262">
                <a:solidFill>
                  <a:srgbClr val="204A87"/>
                </a:solidFill>
                <a:latin typeface="Oswald"/>
                <a:ea typeface="Oswald"/>
                <a:cs typeface="Oswald"/>
                <a:sym typeface="Oswald"/>
              </a:rPr>
              <a:t>¿La financiación del ICETEX llega equitativamente a todos los estratos socioeconómicos?</a:t>
            </a:r>
            <a:endParaRPr b="1" i="1" sz="1262">
              <a:solidFill>
                <a:srgbClr val="204A87"/>
              </a:solidFill>
              <a:latin typeface="Oswald"/>
              <a:ea typeface="Oswald"/>
              <a:cs typeface="Oswald"/>
              <a:sym typeface="Oswald"/>
            </a:endParaRPr>
          </a:p>
        </p:txBody>
      </p:sp>
      <p:sp>
        <p:nvSpPr>
          <p:cNvPr id="69" name="Google Shape;69;p14"/>
          <p:cNvSpPr/>
          <p:nvPr/>
        </p:nvSpPr>
        <p:spPr>
          <a:xfrm>
            <a:off x="6315575" y="1854325"/>
            <a:ext cx="1875000" cy="1376700"/>
          </a:xfrm>
          <a:prstGeom prst="roundRect">
            <a:avLst>
              <a:gd fmla="val 16667" name="adj"/>
            </a:avLst>
          </a:prstGeom>
          <a:solidFill>
            <a:srgbClr val="C8D0D4"/>
          </a:solidFill>
          <a:ln>
            <a:noFill/>
          </a:ln>
        </p:spPr>
        <p:txBody>
          <a:bodyPr anchorCtr="0" anchor="ctr" bIns="82400" lIns="82400" spcFirstLastPara="1" rIns="82400" wrap="square" tIns="82400">
            <a:noAutofit/>
          </a:bodyPr>
          <a:lstStyle/>
          <a:p>
            <a:pPr indent="0" lvl="0" marL="0" rtl="0" algn="ctr">
              <a:spcBef>
                <a:spcPts val="0"/>
              </a:spcBef>
              <a:spcAft>
                <a:spcPts val="0"/>
              </a:spcAft>
              <a:buClr>
                <a:schemeClr val="dk1"/>
              </a:buClr>
              <a:buSzPts val="1100"/>
              <a:buFont typeface="Arial"/>
              <a:buNone/>
            </a:pPr>
            <a:r>
              <a:rPr b="1" i="1" lang="es-419" sz="1262">
                <a:solidFill>
                  <a:srgbClr val="204A87"/>
                </a:solidFill>
                <a:latin typeface="Oswald"/>
                <a:ea typeface="Oswald"/>
                <a:cs typeface="Oswald"/>
                <a:sym typeface="Oswald"/>
              </a:rPr>
              <a:t>¿Hay preferencia de créditos hacia el sector público o privado? ¿Ha cambiado en el tiempo?</a:t>
            </a:r>
            <a:endParaRPr b="1" i="1" sz="1262">
              <a:solidFill>
                <a:srgbClr val="204A87"/>
              </a:solidFill>
              <a:latin typeface="Oswald"/>
              <a:ea typeface="Oswald"/>
              <a:cs typeface="Oswald"/>
              <a:sym typeface="Oswald"/>
            </a:endParaRPr>
          </a:p>
        </p:txBody>
      </p:sp>
      <p:sp>
        <p:nvSpPr>
          <p:cNvPr id="70" name="Google Shape;70;p14"/>
          <p:cNvSpPr/>
          <p:nvPr/>
        </p:nvSpPr>
        <p:spPr>
          <a:xfrm>
            <a:off x="8274763" y="383450"/>
            <a:ext cx="1875000" cy="1376700"/>
          </a:xfrm>
          <a:prstGeom prst="roundRect">
            <a:avLst>
              <a:gd fmla="val 16667" name="adj"/>
            </a:avLst>
          </a:prstGeom>
          <a:solidFill>
            <a:srgbClr val="C8D0D4"/>
          </a:solidFill>
          <a:ln>
            <a:noFill/>
          </a:ln>
        </p:spPr>
        <p:txBody>
          <a:bodyPr anchorCtr="0" anchor="ctr" bIns="82400" lIns="82400" spcFirstLastPara="1" rIns="82400" wrap="square" tIns="82400">
            <a:noAutofit/>
          </a:bodyPr>
          <a:lstStyle/>
          <a:p>
            <a:pPr indent="0" lvl="0" marL="0" rtl="0" algn="ctr">
              <a:spcBef>
                <a:spcPts val="0"/>
              </a:spcBef>
              <a:spcAft>
                <a:spcPts val="0"/>
              </a:spcAft>
              <a:buClr>
                <a:schemeClr val="dk1"/>
              </a:buClr>
              <a:buSzPts val="1100"/>
              <a:buFont typeface="Arial"/>
              <a:buNone/>
            </a:pPr>
            <a:r>
              <a:rPr b="1" i="1" lang="es-419" sz="1262">
                <a:solidFill>
                  <a:srgbClr val="204A87"/>
                </a:solidFill>
                <a:latin typeface="Oswald"/>
                <a:ea typeface="Oswald"/>
                <a:cs typeface="Oswald"/>
                <a:sym typeface="Oswald"/>
              </a:rPr>
              <a:t>¿Qué brecha de género existe en el acceso al crédito según el nivel de formación?</a:t>
            </a:r>
            <a:endParaRPr b="1" i="1" sz="1262">
              <a:solidFill>
                <a:srgbClr val="204A87"/>
              </a:solidFill>
              <a:latin typeface="Oswald"/>
              <a:ea typeface="Oswald"/>
              <a:cs typeface="Oswald"/>
              <a:sym typeface="Oswald"/>
            </a:endParaRPr>
          </a:p>
        </p:txBody>
      </p:sp>
      <p:sp>
        <p:nvSpPr>
          <p:cNvPr id="71" name="Google Shape;71;p14"/>
          <p:cNvSpPr txBox="1"/>
          <p:nvPr/>
        </p:nvSpPr>
        <p:spPr>
          <a:xfrm>
            <a:off x="-152262" y="243025"/>
            <a:ext cx="5402100" cy="773400"/>
          </a:xfrm>
          <a:prstGeom prst="rect">
            <a:avLst/>
          </a:prstGeom>
          <a:noFill/>
          <a:ln>
            <a:noFill/>
          </a:ln>
        </p:spPr>
        <p:txBody>
          <a:bodyPr anchorCtr="0" anchor="t" bIns="114650" lIns="114650" spcFirstLastPara="1" rIns="114650" wrap="square" tIns="114650">
            <a:noAutofit/>
          </a:bodyPr>
          <a:lstStyle/>
          <a:p>
            <a:pPr indent="0" lvl="0" marL="0" rtl="0" algn="ctr">
              <a:spcBef>
                <a:spcPts val="0"/>
              </a:spcBef>
              <a:spcAft>
                <a:spcPts val="0"/>
              </a:spcAft>
              <a:buNone/>
            </a:pPr>
            <a:r>
              <a:rPr b="1" lang="es-419" sz="3800">
                <a:solidFill>
                  <a:schemeClr val="dk1"/>
                </a:solidFill>
                <a:latin typeface="Oswald"/>
                <a:ea typeface="Oswald"/>
                <a:cs typeface="Oswald"/>
                <a:sym typeface="Oswald"/>
              </a:rPr>
              <a:t>Problema y Contexto</a:t>
            </a:r>
            <a:endParaRPr b="1" sz="3800">
              <a:solidFill>
                <a:schemeClr val="dk1"/>
              </a:solidFill>
              <a:latin typeface="Oswald"/>
              <a:ea typeface="Oswald"/>
              <a:cs typeface="Oswald"/>
              <a:sym typeface="Oswald"/>
            </a:endParaRPr>
          </a:p>
        </p:txBody>
      </p:sp>
      <p:sp>
        <p:nvSpPr>
          <p:cNvPr id="72" name="Google Shape;72;p14"/>
          <p:cNvSpPr txBox="1"/>
          <p:nvPr/>
        </p:nvSpPr>
        <p:spPr>
          <a:xfrm>
            <a:off x="566988" y="1124425"/>
            <a:ext cx="3963600" cy="210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s-419" sz="1700">
                <a:solidFill>
                  <a:srgbClr val="000000"/>
                </a:solidFill>
                <a:latin typeface="Oswald"/>
                <a:ea typeface="Oswald"/>
                <a:cs typeface="Oswald"/>
                <a:sym typeface="Oswald"/>
              </a:rPr>
              <a:t>El gobierno colombiano necesita reestructurar su presupuesto de inversión educativa para la próxima década. Para solicitar estos fondos al Ministerio de Hacienda, necesitan evidencia histórica sólida sobre dónde están los verdaderos 'Desiertos Educativos' y cuáles son las brechas reales."</a:t>
            </a:r>
            <a:endParaRPr b="1" i="1" sz="1700">
              <a:solidFill>
                <a:srgbClr val="000000"/>
              </a:solidFill>
              <a:latin typeface="Oswald"/>
              <a:ea typeface="Oswald"/>
              <a:cs typeface="Oswald"/>
              <a:sym typeface="Oswald"/>
            </a:endParaRPr>
          </a:p>
        </p:txBody>
      </p:sp>
      <p:pic>
        <p:nvPicPr>
          <p:cNvPr descr="quiero que todo el globo sea el logo rojo" id="73" name="Google Shape;73;p14"/>
          <p:cNvPicPr preferRelativeResize="0"/>
          <p:nvPr/>
        </p:nvPicPr>
        <p:blipFill rotWithShape="1">
          <a:blip r:embed="rId4">
            <a:alphaModFix/>
          </a:blip>
          <a:srcRect b="3614" l="0" r="0" t="0"/>
          <a:stretch/>
        </p:blipFill>
        <p:spPr>
          <a:xfrm>
            <a:off x="652025" y="3677875"/>
            <a:ext cx="3354001" cy="3554875"/>
          </a:xfrm>
          <a:prstGeom prst="rect">
            <a:avLst/>
          </a:prstGeom>
          <a:noFill/>
          <a:ln>
            <a:noFill/>
          </a:ln>
        </p:spPr>
      </p:pic>
      <p:sp>
        <p:nvSpPr>
          <p:cNvPr id="74" name="Google Shape;74;p14"/>
          <p:cNvSpPr/>
          <p:nvPr/>
        </p:nvSpPr>
        <p:spPr>
          <a:xfrm>
            <a:off x="5763300" y="410975"/>
            <a:ext cx="552300" cy="2811300"/>
          </a:xfrm>
          <a:prstGeom prst="leftBrace">
            <a:avLst>
              <a:gd fmla="val 50000" name="adj1"/>
              <a:gd fmla="val 50000" name="adj2"/>
            </a:avLst>
          </a:prstGeom>
          <a:noFill/>
          <a:ln cap="flat" cmpd="sng" w="19050">
            <a:solidFill>
              <a:srgbClr val="10598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5" name="Google Shape;75;p14"/>
          <p:cNvCxnSpPr>
            <a:stCxn id="65" idx="1"/>
            <a:endCxn id="74" idx="1"/>
          </p:cNvCxnSpPr>
          <p:nvPr/>
        </p:nvCxnSpPr>
        <p:spPr>
          <a:xfrm rot="10800000">
            <a:off x="5763375" y="1816663"/>
            <a:ext cx="152400" cy="2329200"/>
          </a:xfrm>
          <a:prstGeom prst="curvedConnector3">
            <a:avLst>
              <a:gd fmla="val 584859" name="adj1"/>
            </a:avLst>
          </a:prstGeom>
          <a:noFill/>
          <a:ln cap="flat" cmpd="sng" w="19050">
            <a:solidFill>
              <a:srgbClr val="105982"/>
            </a:solidFill>
            <a:prstDash val="solid"/>
            <a:round/>
            <a:headEnd len="med" w="med" type="none"/>
            <a:tailEnd len="med" w="med" type="triangle"/>
          </a:ln>
        </p:spPr>
      </p:cxnSp>
      <p:sp>
        <p:nvSpPr>
          <p:cNvPr id="76" name="Google Shape;76;p14"/>
          <p:cNvSpPr txBox="1"/>
          <p:nvPr/>
        </p:nvSpPr>
        <p:spPr>
          <a:xfrm>
            <a:off x="3938550" y="3231025"/>
            <a:ext cx="1311300" cy="56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s-419" sz="1100">
                <a:latin typeface="Oswald"/>
                <a:ea typeface="Oswald"/>
                <a:cs typeface="Oswald"/>
                <a:sym typeface="Oswald"/>
              </a:rPr>
              <a:t>Responder</a:t>
            </a:r>
            <a:r>
              <a:rPr lang="es-419" sz="1700">
                <a:latin typeface="Oswald"/>
                <a:ea typeface="Oswald"/>
                <a:cs typeface="Oswald"/>
                <a:sym typeface="Oswald"/>
              </a:rPr>
              <a:t> </a:t>
            </a:r>
            <a:endParaRPr sz="1700">
              <a:latin typeface="Oswald"/>
              <a:ea typeface="Oswald"/>
              <a:cs typeface="Oswald"/>
              <a:sym typeface="Oswald"/>
            </a:endParaRPr>
          </a:p>
        </p:txBody>
      </p:sp>
      <p:sp>
        <p:nvSpPr>
          <p:cNvPr id="77" name="Google Shape;77;p14"/>
          <p:cNvSpPr/>
          <p:nvPr/>
        </p:nvSpPr>
        <p:spPr>
          <a:xfrm>
            <a:off x="0" y="16800"/>
            <a:ext cx="10800000" cy="7166400"/>
          </a:xfrm>
          <a:prstGeom prst="rect">
            <a:avLst/>
          </a:prstGeom>
          <a:noFill/>
          <a:ln cap="flat" cmpd="sng" w="95550">
            <a:solidFill>
              <a:schemeClr val="accent1"/>
            </a:solidFill>
            <a:prstDash val="solid"/>
            <a:round/>
            <a:headEnd len="sm" w="sm" type="none"/>
            <a:tailEnd len="sm" w="sm" type="none"/>
          </a:ln>
        </p:spPr>
        <p:txBody>
          <a:bodyPr anchorCtr="0" anchor="ctr" bIns="114650" lIns="114650" spcFirstLastPara="1" rIns="114650" wrap="square" tIns="114650">
            <a:noAutofit/>
          </a:bodyPr>
          <a:lstStyle/>
          <a:p>
            <a:pPr indent="0" lvl="0" marL="0" rtl="0" algn="ctr">
              <a:spcBef>
                <a:spcPts val="0"/>
              </a:spcBef>
              <a:spcAft>
                <a:spcPts val="0"/>
              </a:spcAft>
              <a:buNone/>
            </a:pPr>
            <a:r>
              <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5"/>
          <p:cNvSpPr/>
          <p:nvPr/>
        </p:nvSpPr>
        <p:spPr>
          <a:xfrm>
            <a:off x="0" y="16800"/>
            <a:ext cx="10800000" cy="7166400"/>
          </a:xfrm>
          <a:prstGeom prst="rect">
            <a:avLst/>
          </a:prstGeom>
          <a:noFill/>
          <a:ln cap="flat" cmpd="sng" w="95550">
            <a:solidFill>
              <a:schemeClr val="accent1"/>
            </a:solidFill>
            <a:prstDash val="solid"/>
            <a:round/>
            <a:headEnd len="sm" w="sm" type="none"/>
            <a:tailEnd len="sm" w="sm" type="none"/>
          </a:ln>
        </p:spPr>
        <p:txBody>
          <a:bodyPr anchorCtr="0" anchor="ctr" bIns="114650" lIns="114650" spcFirstLastPara="1" rIns="114650" wrap="square" tIns="114650">
            <a:noAutofit/>
          </a:bodyPr>
          <a:lstStyle/>
          <a:p>
            <a:pPr indent="0" lvl="0" marL="0" rtl="0" algn="ctr">
              <a:spcBef>
                <a:spcPts val="0"/>
              </a:spcBef>
              <a:spcAft>
                <a:spcPts val="0"/>
              </a:spcAft>
              <a:buNone/>
            </a:pPr>
            <a:r>
              <a:t/>
            </a:r>
            <a:endParaRPr sz="1800"/>
          </a:p>
        </p:txBody>
      </p:sp>
      <p:sp>
        <p:nvSpPr>
          <p:cNvPr id="83" name="Google Shape;83;p15"/>
          <p:cNvSpPr txBox="1"/>
          <p:nvPr/>
        </p:nvSpPr>
        <p:spPr>
          <a:xfrm>
            <a:off x="173975" y="6455450"/>
            <a:ext cx="10322100" cy="547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400"/>
              </a:spcBef>
              <a:spcAft>
                <a:spcPts val="400"/>
              </a:spcAft>
              <a:buNone/>
            </a:pPr>
            <a:r>
              <a:rPr i="1" lang="es-419" sz="1900">
                <a:solidFill>
                  <a:schemeClr val="dk1"/>
                </a:solidFill>
                <a:latin typeface="Oswald"/>
                <a:ea typeface="Oswald"/>
                <a:cs typeface="Oswald"/>
                <a:sym typeface="Oswald"/>
              </a:rPr>
              <a:t>Justificación de la API: el estrato socioeconómico es la variable de equidad que solo aporta ICETEX.</a:t>
            </a:r>
            <a:endParaRPr i="1" sz="1900">
              <a:latin typeface="Oswald"/>
              <a:ea typeface="Oswald"/>
              <a:cs typeface="Oswald"/>
              <a:sym typeface="Oswald"/>
            </a:endParaRPr>
          </a:p>
        </p:txBody>
      </p:sp>
      <p:sp>
        <p:nvSpPr>
          <p:cNvPr id="84" name="Google Shape;84;p15"/>
          <p:cNvSpPr/>
          <p:nvPr/>
        </p:nvSpPr>
        <p:spPr>
          <a:xfrm>
            <a:off x="0" y="-19825"/>
            <a:ext cx="10800000" cy="773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5"/>
          <p:cNvSpPr/>
          <p:nvPr/>
        </p:nvSpPr>
        <p:spPr>
          <a:xfrm>
            <a:off x="3439800" y="239575"/>
            <a:ext cx="3920400" cy="7734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5"/>
          <p:cNvSpPr txBox="1"/>
          <p:nvPr/>
        </p:nvSpPr>
        <p:spPr>
          <a:xfrm>
            <a:off x="3553650" y="239575"/>
            <a:ext cx="3692700" cy="773400"/>
          </a:xfrm>
          <a:prstGeom prst="rect">
            <a:avLst/>
          </a:prstGeom>
          <a:noFill/>
          <a:ln>
            <a:noFill/>
          </a:ln>
        </p:spPr>
        <p:txBody>
          <a:bodyPr anchorCtr="0" anchor="t" bIns="114650" lIns="114650" spcFirstLastPara="1" rIns="114650" wrap="square" tIns="114650">
            <a:noAutofit/>
          </a:bodyPr>
          <a:lstStyle/>
          <a:p>
            <a:pPr indent="0" lvl="0" marL="0" rtl="0" algn="ctr">
              <a:spcBef>
                <a:spcPts val="0"/>
              </a:spcBef>
              <a:spcAft>
                <a:spcPts val="0"/>
              </a:spcAft>
              <a:buNone/>
            </a:pPr>
            <a:r>
              <a:rPr b="1" lang="es-419" sz="3800">
                <a:solidFill>
                  <a:schemeClr val="dk1"/>
                </a:solidFill>
                <a:latin typeface="Oswald"/>
                <a:ea typeface="Oswald"/>
                <a:cs typeface="Oswald"/>
                <a:sym typeface="Oswald"/>
              </a:rPr>
              <a:t>Fuentes de datos</a:t>
            </a:r>
            <a:endParaRPr b="1" sz="3800">
              <a:solidFill>
                <a:schemeClr val="dk1"/>
              </a:solidFill>
              <a:latin typeface="Oswald"/>
              <a:ea typeface="Oswald"/>
              <a:cs typeface="Oswald"/>
              <a:sym typeface="Oswald"/>
            </a:endParaRPr>
          </a:p>
        </p:txBody>
      </p:sp>
      <p:sp>
        <p:nvSpPr>
          <p:cNvPr id="87" name="Google Shape;87;p15"/>
          <p:cNvSpPr txBox="1"/>
          <p:nvPr/>
        </p:nvSpPr>
        <p:spPr>
          <a:xfrm>
            <a:off x="173975" y="1569325"/>
            <a:ext cx="4448400" cy="54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s-419" sz="1900">
                <a:latin typeface="Oswald"/>
                <a:ea typeface="Oswald"/>
                <a:cs typeface="Oswald"/>
                <a:sym typeface="Oswald"/>
              </a:rPr>
              <a:t>Fuente primaria </a:t>
            </a:r>
            <a:r>
              <a:rPr b="1" lang="es-419" sz="1900">
                <a:solidFill>
                  <a:schemeClr val="dk1"/>
                </a:solidFill>
                <a:latin typeface="Oswald"/>
                <a:ea typeface="Oswald"/>
                <a:cs typeface="Oswald"/>
                <a:sym typeface="Oswald"/>
              </a:rPr>
              <a:t>— Matrículas SNIES (CSV)</a:t>
            </a:r>
            <a:endParaRPr b="1" sz="1900">
              <a:solidFill>
                <a:schemeClr val="dk1"/>
              </a:solidFill>
              <a:latin typeface="Oswald"/>
              <a:ea typeface="Oswald"/>
              <a:cs typeface="Oswald"/>
              <a:sym typeface="Oswald"/>
            </a:endParaRPr>
          </a:p>
          <a:p>
            <a:pPr indent="0" lvl="0" marL="0" rtl="0" algn="ctr">
              <a:spcBef>
                <a:spcPts val="0"/>
              </a:spcBef>
              <a:spcAft>
                <a:spcPts val="0"/>
              </a:spcAft>
              <a:buNone/>
            </a:pPr>
            <a:r>
              <a:t/>
            </a:r>
            <a:endParaRPr i="1" sz="2000">
              <a:latin typeface="Oswald"/>
              <a:ea typeface="Oswald"/>
              <a:cs typeface="Oswald"/>
              <a:sym typeface="Oswald"/>
            </a:endParaRPr>
          </a:p>
        </p:txBody>
      </p:sp>
      <p:sp>
        <p:nvSpPr>
          <p:cNvPr id="88" name="Google Shape;88;p15"/>
          <p:cNvSpPr txBox="1"/>
          <p:nvPr/>
        </p:nvSpPr>
        <p:spPr>
          <a:xfrm>
            <a:off x="4992875" y="1413863"/>
            <a:ext cx="5503200" cy="54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s-419" sz="1900">
                <a:solidFill>
                  <a:schemeClr val="dk1"/>
                </a:solidFill>
                <a:latin typeface="Oswald"/>
                <a:ea typeface="Oswald"/>
                <a:cs typeface="Oswald"/>
                <a:sym typeface="Oswald"/>
              </a:rPr>
              <a:t>Fuente Secundaria — Créditos ICETEX (API Socrata)</a:t>
            </a:r>
            <a:endParaRPr b="1" sz="1900">
              <a:solidFill>
                <a:schemeClr val="dk1"/>
              </a:solidFill>
              <a:latin typeface="Oswald"/>
              <a:ea typeface="Oswald"/>
              <a:cs typeface="Oswald"/>
              <a:sym typeface="Oswald"/>
            </a:endParaRPr>
          </a:p>
          <a:p>
            <a:pPr indent="0" lvl="0" marL="0" rtl="0" algn="ctr">
              <a:spcBef>
                <a:spcPts val="400"/>
              </a:spcBef>
              <a:spcAft>
                <a:spcPts val="0"/>
              </a:spcAft>
              <a:buNone/>
            </a:pPr>
            <a:r>
              <a:t/>
            </a:r>
            <a:endParaRPr i="1" sz="1900">
              <a:latin typeface="Oswald"/>
              <a:ea typeface="Oswald"/>
              <a:cs typeface="Oswald"/>
              <a:sym typeface="Oswald"/>
            </a:endParaRPr>
          </a:p>
          <a:p>
            <a:pPr indent="0" lvl="0" marL="0" rtl="0" algn="ctr">
              <a:spcBef>
                <a:spcPts val="0"/>
              </a:spcBef>
              <a:spcAft>
                <a:spcPts val="0"/>
              </a:spcAft>
              <a:buNone/>
            </a:pPr>
            <a:r>
              <a:t/>
            </a:r>
            <a:endParaRPr i="1" sz="1900">
              <a:latin typeface="Oswald"/>
              <a:ea typeface="Oswald"/>
              <a:cs typeface="Oswald"/>
              <a:sym typeface="Oswald"/>
            </a:endParaRPr>
          </a:p>
        </p:txBody>
      </p:sp>
      <p:graphicFrame>
        <p:nvGraphicFramePr>
          <p:cNvPr id="89" name="Google Shape;89;p15"/>
          <p:cNvGraphicFramePr/>
          <p:nvPr/>
        </p:nvGraphicFramePr>
        <p:xfrm>
          <a:off x="173975" y="2276863"/>
          <a:ext cx="3000000" cy="3000000"/>
        </p:xfrm>
        <a:graphic>
          <a:graphicData uri="http://schemas.openxmlformats.org/drawingml/2006/table">
            <a:tbl>
              <a:tblPr>
                <a:noFill/>
                <a:tableStyleId>{C556CFA1-8E2C-47EC-A9A8-5E49D9BD7B61}</a:tableStyleId>
              </a:tblPr>
              <a:tblGrid>
                <a:gridCol w="1653125"/>
                <a:gridCol w="2795275"/>
              </a:tblGrid>
              <a:tr h="285425">
                <a:tc>
                  <a:txBody>
                    <a:bodyPr/>
                    <a:lstStyle/>
                    <a:p>
                      <a:pPr indent="0" lvl="0" marL="0" rtl="0" algn="l">
                        <a:lnSpc>
                          <a:spcPct val="115000"/>
                        </a:lnSpc>
                        <a:spcBef>
                          <a:spcPts val="0"/>
                        </a:spcBef>
                        <a:spcAft>
                          <a:spcPts val="0"/>
                        </a:spcAft>
                        <a:buNone/>
                      </a:pPr>
                      <a:r>
                        <a:rPr b="1" i="1" lang="es-419" sz="1600">
                          <a:solidFill>
                            <a:srgbClr val="1F1F1F"/>
                          </a:solidFill>
                          <a:latin typeface="Oswald"/>
                          <a:ea typeface="Oswald"/>
                          <a:cs typeface="Oswald"/>
                          <a:sym typeface="Oswald"/>
                        </a:rPr>
                        <a:t>Atributo</a:t>
                      </a:r>
                      <a:endParaRPr b="1" i="1" sz="1600">
                        <a:solidFill>
                          <a:srgbClr val="1F1F1F"/>
                        </a:solidFill>
                        <a:latin typeface="Oswald"/>
                        <a:ea typeface="Oswald"/>
                        <a:cs typeface="Oswald"/>
                        <a:sym typeface="Oswald"/>
                      </a:endParaRPr>
                    </a:p>
                  </a:txBody>
                  <a:tcPr marT="19050" marB="19050" marR="28575" marL="28575" anchor="ct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i="1" lang="es-419" sz="1600">
                          <a:solidFill>
                            <a:srgbClr val="1F1F1F"/>
                          </a:solidFill>
                          <a:latin typeface="Oswald"/>
                          <a:ea typeface="Oswald"/>
                          <a:cs typeface="Oswald"/>
                          <a:sym typeface="Oswald"/>
                        </a:rPr>
                        <a:t>Valor</a:t>
                      </a:r>
                      <a:endParaRPr b="1" i="1" sz="1600">
                        <a:solidFill>
                          <a:srgbClr val="1F1F1F"/>
                        </a:solidFill>
                        <a:latin typeface="Oswald"/>
                        <a:ea typeface="Oswald"/>
                        <a:cs typeface="Oswald"/>
                        <a:sym typeface="Oswald"/>
                      </a:endParaRPr>
                    </a:p>
                  </a:txBody>
                  <a:tcPr marT="19050" marB="19050" marR="28575" marL="28575" anchor="ct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536225">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Origen</a:t>
                      </a:r>
                      <a:endParaRPr i="1" sz="1600">
                        <a:solidFill>
                          <a:srgbClr val="1F1F1F"/>
                        </a:solidFill>
                        <a:latin typeface="Oswald"/>
                        <a:ea typeface="Oswald"/>
                        <a:cs typeface="Oswald"/>
                        <a:sym typeface="Oswald"/>
                      </a:endParaRPr>
                    </a:p>
                  </a:txBody>
                  <a:tcPr marT="19050" marB="19050" marR="28575" marL="28575" anchor="ctr">
                    <a:lnT cap="flat" cmpd="sng" w="76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s-419" sz="1600">
                          <a:solidFill>
                            <a:srgbClr val="1F1F1F"/>
                          </a:solidFill>
                          <a:latin typeface="Courier New"/>
                          <a:ea typeface="Courier New"/>
                          <a:cs typeface="Courier New"/>
                          <a:sym typeface="Courier New"/>
                        </a:rPr>
                        <a:t>datos.gov.co</a:t>
                      </a:r>
                      <a:r>
                        <a:rPr lang="es-419" sz="1600">
                          <a:solidFill>
                            <a:srgbClr val="1F1F1F"/>
                          </a:solidFill>
                          <a:latin typeface="Oswald"/>
                          <a:ea typeface="Oswald"/>
                          <a:cs typeface="Oswald"/>
                          <a:sym typeface="Oswald"/>
                        </a:rPr>
                        <a:t> — Estadísticas de Matrículas en Educación Superior</a:t>
                      </a:r>
                      <a:endParaRPr sz="1600">
                        <a:solidFill>
                          <a:srgbClr val="1F1F1F"/>
                        </a:solidFill>
                        <a:latin typeface="Oswald"/>
                        <a:ea typeface="Oswald"/>
                        <a:cs typeface="Oswald"/>
                        <a:sym typeface="Oswald"/>
                      </a:endParaRPr>
                    </a:p>
                  </a:txBody>
                  <a:tcPr marT="19050" marB="19050" marR="28575" marL="28575" anchor="ctr">
                    <a:lnT cap="flat" cmpd="sng" w="7625">
                      <a:solidFill>
                        <a:srgbClr val="000000"/>
                      </a:solidFill>
                      <a:prstDash val="solid"/>
                      <a:round/>
                      <a:headEnd len="sm" w="sm" type="none"/>
                      <a:tailEnd len="sm" w="sm" type="none"/>
                    </a:lnT>
                  </a:tcPr>
                </a:tc>
              </a:tr>
              <a:tr h="536225">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Ruta local</a:t>
                      </a:r>
                      <a:endParaRPr i="1"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i="1" lang="es-419" sz="1600">
                          <a:solidFill>
                            <a:srgbClr val="1F1F1F"/>
                          </a:solidFill>
                          <a:latin typeface="Courier New"/>
                          <a:ea typeface="Courier New"/>
                          <a:cs typeface="Courier New"/>
                          <a:sym typeface="Courier New"/>
                        </a:rPr>
                        <a:t>airflow/data/raw/educacionCol.csv</a:t>
                      </a:r>
                      <a:endParaRPr i="1" sz="1600">
                        <a:solidFill>
                          <a:srgbClr val="1F1F1F"/>
                        </a:solidFill>
                        <a:latin typeface="Courier New"/>
                        <a:ea typeface="Courier New"/>
                        <a:cs typeface="Courier New"/>
                        <a:sym typeface="Courier New"/>
                      </a:endParaRPr>
                    </a:p>
                  </a:txBody>
                  <a:tcPr marT="19050" marB="19050" marR="28575" marL="28575" anchor="ctr"/>
                </a:tc>
              </a:tr>
              <a:tr h="285425">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Volumen</a:t>
                      </a:r>
                      <a:endParaRPr i="1"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~390,000 registros (2015–2021)</a:t>
                      </a:r>
                      <a:endParaRPr sz="1600">
                        <a:solidFill>
                          <a:srgbClr val="1F1F1F"/>
                        </a:solidFill>
                        <a:latin typeface="Oswald"/>
                        <a:ea typeface="Oswald"/>
                        <a:cs typeface="Oswald"/>
                        <a:sym typeface="Oswald"/>
                      </a:endParaRPr>
                    </a:p>
                  </a:txBody>
                  <a:tcPr marT="19050" marB="19050" marR="28575" marL="28575" anchor="ctr"/>
                </a:tc>
              </a:tr>
              <a:tr h="536225">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Granularidad original</a:t>
                      </a:r>
                      <a:endParaRPr i="1"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IES × Programa × Municipio × Año × Semestre × Género</a:t>
                      </a:r>
                      <a:endParaRPr sz="1600">
                        <a:solidFill>
                          <a:srgbClr val="1F1F1F"/>
                        </a:solidFill>
                        <a:latin typeface="Oswald"/>
                        <a:ea typeface="Oswald"/>
                        <a:cs typeface="Oswald"/>
                        <a:sym typeface="Oswald"/>
                      </a:endParaRPr>
                    </a:p>
                  </a:txBody>
                  <a:tcPr marT="19050" marB="19050" marR="28575" marL="28575" anchor="ctr"/>
                </a:tc>
              </a:tr>
              <a:tr h="293250">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Métricas aportadas</a:t>
                      </a:r>
                      <a:endParaRPr i="1"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i="1" lang="es-419" sz="1600">
                          <a:solidFill>
                            <a:srgbClr val="1F1F1F"/>
                          </a:solidFill>
                          <a:latin typeface="Courier New"/>
                          <a:ea typeface="Courier New"/>
                          <a:cs typeface="Courier New"/>
                          <a:sym typeface="Courier New"/>
                        </a:rPr>
                        <a:t>total_matriculados</a:t>
                      </a:r>
                      <a:endParaRPr i="1" sz="1600">
                        <a:solidFill>
                          <a:srgbClr val="1F1F1F"/>
                        </a:solidFill>
                        <a:latin typeface="Courier New"/>
                        <a:ea typeface="Courier New"/>
                        <a:cs typeface="Courier New"/>
                        <a:sym typeface="Courier New"/>
                      </a:endParaRPr>
                    </a:p>
                  </a:txBody>
                  <a:tcPr marT="19050" marB="19050" marR="28575" marL="28575" anchor="ctr"/>
                </a:tc>
              </a:tr>
              <a:tr h="536225">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Dimensiones aportadas</a:t>
                      </a:r>
                      <a:endParaRPr i="1" sz="1600">
                        <a:solidFill>
                          <a:srgbClr val="1F1F1F"/>
                        </a:solidFill>
                        <a:latin typeface="Oswald"/>
                        <a:ea typeface="Oswald"/>
                        <a:cs typeface="Oswald"/>
                        <a:sym typeface="Oswald"/>
                      </a:endParaRPr>
                    </a:p>
                  </a:txBody>
                  <a:tcPr marT="19050" marB="19050" marR="28575" marL="28575" anchor="ctr">
                    <a:lnB cap="flat" cmpd="sng" w="228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Institución, Programa, Municipio, Departamento, Nivel, Sector, Género</a:t>
                      </a:r>
                      <a:endParaRPr sz="1600">
                        <a:solidFill>
                          <a:srgbClr val="1F1F1F"/>
                        </a:solidFill>
                        <a:latin typeface="Oswald"/>
                        <a:ea typeface="Oswald"/>
                        <a:cs typeface="Oswald"/>
                        <a:sym typeface="Oswald"/>
                      </a:endParaRPr>
                    </a:p>
                  </a:txBody>
                  <a:tcPr marT="19050" marB="19050" marR="28575" marL="28575" anchor="ctr">
                    <a:lnB cap="flat" cmpd="sng" w="22850">
                      <a:solidFill>
                        <a:srgbClr val="000000"/>
                      </a:solidFill>
                      <a:prstDash val="solid"/>
                      <a:round/>
                      <a:headEnd len="sm" w="sm" type="none"/>
                      <a:tailEnd len="sm" w="sm" type="none"/>
                    </a:lnB>
                  </a:tcPr>
                </a:tc>
              </a:tr>
            </a:tbl>
          </a:graphicData>
        </a:graphic>
      </p:graphicFrame>
      <p:graphicFrame>
        <p:nvGraphicFramePr>
          <p:cNvPr id="90" name="Google Shape;90;p15"/>
          <p:cNvGraphicFramePr/>
          <p:nvPr/>
        </p:nvGraphicFramePr>
        <p:xfrm>
          <a:off x="5077475" y="1972075"/>
          <a:ext cx="3000000" cy="3000000"/>
        </p:xfrm>
        <a:graphic>
          <a:graphicData uri="http://schemas.openxmlformats.org/drawingml/2006/table">
            <a:tbl>
              <a:tblPr>
                <a:noFill/>
                <a:tableStyleId>{C556CFA1-8E2C-47EC-A9A8-5E49D9BD7B61}</a:tableStyleId>
              </a:tblPr>
              <a:tblGrid>
                <a:gridCol w="1695450"/>
                <a:gridCol w="3638550"/>
              </a:tblGrid>
              <a:tr h="285750">
                <a:tc>
                  <a:txBody>
                    <a:bodyPr/>
                    <a:lstStyle/>
                    <a:p>
                      <a:pPr indent="0" lvl="0" marL="0" rtl="0" algn="l">
                        <a:lnSpc>
                          <a:spcPct val="115000"/>
                        </a:lnSpc>
                        <a:spcBef>
                          <a:spcPts val="0"/>
                        </a:spcBef>
                        <a:spcAft>
                          <a:spcPts val="0"/>
                        </a:spcAft>
                        <a:buNone/>
                      </a:pPr>
                      <a:r>
                        <a:rPr b="1" i="1" lang="es-419" sz="1500">
                          <a:solidFill>
                            <a:srgbClr val="1F1F1F"/>
                          </a:solidFill>
                          <a:latin typeface="Oswald"/>
                          <a:ea typeface="Oswald"/>
                          <a:cs typeface="Oswald"/>
                          <a:sym typeface="Oswald"/>
                        </a:rPr>
                        <a:t>Atributo</a:t>
                      </a:r>
                      <a:endParaRPr b="1" i="1" sz="1500">
                        <a:solidFill>
                          <a:srgbClr val="1F1F1F"/>
                        </a:solidFill>
                        <a:latin typeface="Oswald"/>
                        <a:ea typeface="Oswald"/>
                        <a:cs typeface="Oswald"/>
                        <a:sym typeface="Oswald"/>
                      </a:endParaRPr>
                    </a:p>
                  </a:txBody>
                  <a:tcPr marT="19050" marB="19050" marR="28575" marL="28575" anchor="ct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i="1" lang="es-419" sz="1500">
                          <a:solidFill>
                            <a:srgbClr val="1F1F1F"/>
                          </a:solidFill>
                          <a:latin typeface="Oswald"/>
                          <a:ea typeface="Oswald"/>
                          <a:cs typeface="Oswald"/>
                          <a:sym typeface="Oswald"/>
                        </a:rPr>
                        <a:t>Valor</a:t>
                      </a:r>
                      <a:endParaRPr b="1" i="1" sz="1500">
                        <a:solidFill>
                          <a:srgbClr val="1F1F1F"/>
                        </a:solidFill>
                        <a:latin typeface="Oswald"/>
                        <a:ea typeface="Oswald"/>
                        <a:cs typeface="Oswald"/>
                        <a:sym typeface="Oswald"/>
                      </a:endParaRPr>
                    </a:p>
                  </a:txBody>
                  <a:tcPr marT="19050" marB="19050" marR="28575" marL="28575" anchor="ct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76250">
                <a:tc>
                  <a:txBody>
                    <a:bodyPr/>
                    <a:lstStyle/>
                    <a:p>
                      <a:pPr indent="0" lvl="0" marL="0" rtl="0" algn="l">
                        <a:lnSpc>
                          <a:spcPct val="115000"/>
                        </a:lnSpc>
                        <a:spcBef>
                          <a:spcPts val="0"/>
                        </a:spcBef>
                        <a:spcAft>
                          <a:spcPts val="0"/>
                        </a:spcAft>
                        <a:buNone/>
                      </a:pPr>
                      <a:r>
                        <a:rPr i="1" lang="es-419" sz="1500">
                          <a:solidFill>
                            <a:srgbClr val="1F1F1F"/>
                          </a:solidFill>
                          <a:latin typeface="Oswald"/>
                          <a:ea typeface="Oswald"/>
                          <a:cs typeface="Oswald"/>
                          <a:sym typeface="Oswald"/>
                        </a:rPr>
                        <a:t>Origen</a:t>
                      </a:r>
                      <a:endParaRPr i="1" sz="1500">
                        <a:solidFill>
                          <a:srgbClr val="1F1F1F"/>
                        </a:solidFill>
                        <a:latin typeface="Oswald"/>
                        <a:ea typeface="Oswald"/>
                        <a:cs typeface="Oswald"/>
                        <a:sym typeface="Oswald"/>
                      </a:endParaRPr>
                    </a:p>
                  </a:txBody>
                  <a:tcPr marT="19050" marB="19050" marR="28575" marL="28575" anchor="ctr">
                    <a:lnT cap="flat" cmpd="sng" w="76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s-419" sz="1500">
                          <a:solidFill>
                            <a:srgbClr val="1F1F1F"/>
                          </a:solidFill>
                          <a:latin typeface="Oswald"/>
                          <a:ea typeface="Oswald"/>
                          <a:cs typeface="Oswald"/>
                          <a:sym typeface="Oswald"/>
                        </a:rPr>
                        <a:t>Portal datos.gov.co — API Socrata</a:t>
                      </a:r>
                      <a:endParaRPr sz="1500">
                        <a:solidFill>
                          <a:srgbClr val="1F1F1F"/>
                        </a:solidFill>
                        <a:latin typeface="Oswald"/>
                        <a:ea typeface="Oswald"/>
                        <a:cs typeface="Oswald"/>
                        <a:sym typeface="Oswald"/>
                      </a:endParaRPr>
                    </a:p>
                  </a:txBody>
                  <a:tcPr marT="19050" marB="19050" marR="28575" marL="28575" anchor="ctr">
                    <a:lnT cap="flat" cmpd="sng" w="7625">
                      <a:solidFill>
                        <a:srgbClr val="000000"/>
                      </a:solidFill>
                      <a:prstDash val="solid"/>
                      <a:round/>
                      <a:headEnd len="sm" w="sm" type="none"/>
                      <a:tailEnd len="sm" w="sm" type="none"/>
                    </a:lnT>
                  </a:tcPr>
                </a:tc>
              </a:tr>
              <a:tr h="476250">
                <a:tc>
                  <a:txBody>
                    <a:bodyPr/>
                    <a:lstStyle/>
                    <a:p>
                      <a:pPr indent="0" lvl="0" marL="0" rtl="0" algn="l">
                        <a:lnSpc>
                          <a:spcPct val="115000"/>
                        </a:lnSpc>
                        <a:spcBef>
                          <a:spcPts val="0"/>
                        </a:spcBef>
                        <a:spcAft>
                          <a:spcPts val="0"/>
                        </a:spcAft>
                        <a:buNone/>
                      </a:pPr>
                      <a:r>
                        <a:rPr i="1" lang="es-419" sz="1500">
                          <a:solidFill>
                            <a:srgbClr val="1F1F1F"/>
                          </a:solidFill>
                          <a:latin typeface="Oswald"/>
                          <a:ea typeface="Oswald"/>
                          <a:cs typeface="Oswald"/>
                          <a:sym typeface="Oswald"/>
                        </a:rPr>
                        <a:t>Endpoint</a:t>
                      </a:r>
                      <a:endParaRPr i="1" sz="15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i="1" lang="es-419" sz="1500" u="sng">
                          <a:solidFill>
                            <a:schemeClr val="hlink"/>
                          </a:solidFill>
                          <a:latin typeface="Courier New"/>
                          <a:ea typeface="Courier New"/>
                          <a:cs typeface="Courier New"/>
                          <a:sym typeface="Courier New"/>
                          <a:hlinkClick r:id="rId3"/>
                        </a:rPr>
                        <a:t>https://www.datos.gov.co/resource/26bn-e42j.json</a:t>
                      </a:r>
                      <a:endParaRPr i="1" sz="1500" u="sng">
                        <a:solidFill>
                          <a:schemeClr val="hlink"/>
                        </a:solidFill>
                        <a:latin typeface="Courier New"/>
                        <a:ea typeface="Courier New"/>
                        <a:cs typeface="Courier New"/>
                        <a:sym typeface="Courier New"/>
                      </a:endParaRPr>
                    </a:p>
                  </a:txBody>
                  <a:tcPr marT="19050" marB="19050" marR="28575" marL="28575" anchor="ctr"/>
                </a:tc>
              </a:tr>
              <a:tr h="476250">
                <a:tc>
                  <a:txBody>
                    <a:bodyPr/>
                    <a:lstStyle/>
                    <a:p>
                      <a:pPr indent="0" lvl="0" marL="0" rtl="0" algn="l">
                        <a:lnSpc>
                          <a:spcPct val="115000"/>
                        </a:lnSpc>
                        <a:spcBef>
                          <a:spcPts val="0"/>
                        </a:spcBef>
                        <a:spcAft>
                          <a:spcPts val="0"/>
                        </a:spcAft>
                        <a:buNone/>
                      </a:pPr>
                      <a:r>
                        <a:rPr i="1" lang="es-419" sz="1500">
                          <a:solidFill>
                            <a:srgbClr val="1F1F1F"/>
                          </a:solidFill>
                          <a:latin typeface="Oswald"/>
                          <a:ea typeface="Oswald"/>
                          <a:cs typeface="Oswald"/>
                          <a:sym typeface="Oswald"/>
                        </a:rPr>
                        <a:t>Autenticación</a:t>
                      </a:r>
                      <a:endParaRPr i="1" sz="15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500">
                          <a:solidFill>
                            <a:srgbClr val="1F1F1F"/>
                          </a:solidFill>
                          <a:latin typeface="Oswald"/>
                          <a:ea typeface="Oswald"/>
                          <a:cs typeface="Oswald"/>
                          <a:sym typeface="Oswald"/>
                        </a:rPr>
                        <a:t>Header X-App-Token (opcional, aumenta rate limit)</a:t>
                      </a:r>
                      <a:endParaRPr sz="1500">
                        <a:solidFill>
                          <a:srgbClr val="1F1F1F"/>
                        </a:solidFill>
                        <a:latin typeface="Oswald"/>
                        <a:ea typeface="Oswald"/>
                        <a:cs typeface="Oswald"/>
                        <a:sym typeface="Oswald"/>
                      </a:endParaRPr>
                    </a:p>
                  </a:txBody>
                  <a:tcPr marT="19050" marB="19050" marR="28575" marL="28575" anchor="ctr"/>
                </a:tc>
              </a:tr>
              <a:tr h="476250">
                <a:tc>
                  <a:txBody>
                    <a:bodyPr/>
                    <a:lstStyle/>
                    <a:p>
                      <a:pPr indent="0" lvl="0" marL="0" rtl="0" algn="l">
                        <a:lnSpc>
                          <a:spcPct val="115000"/>
                        </a:lnSpc>
                        <a:spcBef>
                          <a:spcPts val="0"/>
                        </a:spcBef>
                        <a:spcAft>
                          <a:spcPts val="0"/>
                        </a:spcAft>
                        <a:buNone/>
                      </a:pPr>
                      <a:r>
                        <a:rPr i="1" lang="es-419" sz="1500">
                          <a:solidFill>
                            <a:srgbClr val="1F1F1F"/>
                          </a:solidFill>
                          <a:latin typeface="Oswald"/>
                          <a:ea typeface="Oswald"/>
                          <a:cs typeface="Oswald"/>
                          <a:sym typeface="Oswald"/>
                        </a:rPr>
                        <a:t>Paginación</a:t>
                      </a:r>
                      <a:endParaRPr i="1" sz="15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500">
                          <a:solidFill>
                            <a:srgbClr val="1F1F1F"/>
                          </a:solidFill>
                          <a:latin typeface="Oswald"/>
                          <a:ea typeface="Oswald"/>
                          <a:cs typeface="Oswald"/>
                          <a:sym typeface="Oswald"/>
                        </a:rPr>
                        <a:t>$limit / $offset (páginas de 50,000 registros)</a:t>
                      </a:r>
                      <a:endParaRPr sz="1500">
                        <a:solidFill>
                          <a:srgbClr val="1F1F1F"/>
                        </a:solidFill>
                        <a:latin typeface="Oswald"/>
                        <a:ea typeface="Oswald"/>
                        <a:cs typeface="Oswald"/>
                        <a:sym typeface="Oswald"/>
                      </a:endParaRPr>
                    </a:p>
                  </a:txBody>
                  <a:tcPr marT="19050" marB="19050" marR="28575" marL="28575" anchor="ctr"/>
                </a:tc>
              </a:tr>
              <a:tr h="257175">
                <a:tc>
                  <a:txBody>
                    <a:bodyPr/>
                    <a:lstStyle/>
                    <a:p>
                      <a:pPr indent="0" lvl="0" marL="0" rtl="0" algn="l">
                        <a:lnSpc>
                          <a:spcPct val="115000"/>
                        </a:lnSpc>
                        <a:spcBef>
                          <a:spcPts val="0"/>
                        </a:spcBef>
                        <a:spcAft>
                          <a:spcPts val="0"/>
                        </a:spcAft>
                        <a:buNone/>
                      </a:pPr>
                      <a:r>
                        <a:rPr i="1" lang="es-419" sz="1500">
                          <a:solidFill>
                            <a:srgbClr val="1F1F1F"/>
                          </a:solidFill>
                          <a:latin typeface="Oswald"/>
                          <a:ea typeface="Oswald"/>
                          <a:cs typeface="Oswald"/>
                          <a:sym typeface="Oswald"/>
                        </a:rPr>
                        <a:t>Volumen</a:t>
                      </a:r>
                      <a:endParaRPr i="1" sz="15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500">
                          <a:solidFill>
                            <a:srgbClr val="1F1F1F"/>
                          </a:solidFill>
                          <a:latin typeface="Oswald"/>
                          <a:ea typeface="Oswald"/>
                          <a:cs typeface="Oswald"/>
                          <a:sym typeface="Oswald"/>
                        </a:rPr>
                        <a:t>~107,000 registros (2015–2025)</a:t>
                      </a:r>
                      <a:endParaRPr sz="1500">
                        <a:solidFill>
                          <a:srgbClr val="1F1F1F"/>
                        </a:solidFill>
                        <a:latin typeface="Oswald"/>
                        <a:ea typeface="Oswald"/>
                        <a:cs typeface="Oswald"/>
                        <a:sym typeface="Oswald"/>
                      </a:endParaRPr>
                    </a:p>
                  </a:txBody>
                  <a:tcPr marT="19050" marB="19050" marR="28575" marL="28575" anchor="ctr"/>
                </a:tc>
              </a:tr>
              <a:tr h="704850">
                <a:tc>
                  <a:txBody>
                    <a:bodyPr/>
                    <a:lstStyle/>
                    <a:p>
                      <a:pPr indent="0" lvl="0" marL="0" rtl="0" algn="l">
                        <a:lnSpc>
                          <a:spcPct val="115000"/>
                        </a:lnSpc>
                        <a:spcBef>
                          <a:spcPts val="0"/>
                        </a:spcBef>
                        <a:spcAft>
                          <a:spcPts val="0"/>
                        </a:spcAft>
                        <a:buNone/>
                      </a:pPr>
                      <a:r>
                        <a:rPr i="1" lang="es-419" sz="1500">
                          <a:solidFill>
                            <a:srgbClr val="1F1F1F"/>
                          </a:solidFill>
                          <a:latin typeface="Oswald"/>
                          <a:ea typeface="Oswald"/>
                          <a:cs typeface="Oswald"/>
                          <a:sym typeface="Oswald"/>
                        </a:rPr>
                        <a:t>Granularidad original</a:t>
                      </a:r>
                      <a:endParaRPr i="1" sz="15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500">
                          <a:solidFill>
                            <a:srgbClr val="1F1F1F"/>
                          </a:solidFill>
                          <a:latin typeface="Oswald"/>
                          <a:ea typeface="Oswald"/>
                          <a:cs typeface="Oswald"/>
                          <a:sym typeface="Oswald"/>
                        </a:rPr>
                        <a:t>Año × Semestre × Departamento de origen × Nivel × Sector IES × Género × Estrato × Modalidad</a:t>
                      </a:r>
                      <a:endParaRPr sz="1500">
                        <a:solidFill>
                          <a:srgbClr val="1F1F1F"/>
                        </a:solidFill>
                        <a:latin typeface="Oswald"/>
                        <a:ea typeface="Oswald"/>
                        <a:cs typeface="Oswald"/>
                        <a:sym typeface="Oswald"/>
                      </a:endParaRPr>
                    </a:p>
                  </a:txBody>
                  <a:tcPr marT="19050" marB="19050" marR="28575" marL="28575" anchor="ctr"/>
                </a:tc>
              </a:tr>
              <a:tr h="476250">
                <a:tc>
                  <a:txBody>
                    <a:bodyPr/>
                    <a:lstStyle/>
                    <a:p>
                      <a:pPr indent="0" lvl="0" marL="0" rtl="0" algn="l">
                        <a:lnSpc>
                          <a:spcPct val="115000"/>
                        </a:lnSpc>
                        <a:spcBef>
                          <a:spcPts val="0"/>
                        </a:spcBef>
                        <a:spcAft>
                          <a:spcPts val="0"/>
                        </a:spcAft>
                        <a:buNone/>
                      </a:pPr>
                      <a:r>
                        <a:rPr i="1" lang="es-419" sz="1500">
                          <a:solidFill>
                            <a:srgbClr val="1F1F1F"/>
                          </a:solidFill>
                          <a:latin typeface="Oswald"/>
                          <a:ea typeface="Oswald"/>
                          <a:cs typeface="Oswald"/>
                          <a:sym typeface="Oswald"/>
                        </a:rPr>
                        <a:t>Métricas aportadas</a:t>
                      </a:r>
                      <a:endParaRPr i="1" sz="15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i="1" lang="es-419" sz="1500">
                          <a:solidFill>
                            <a:srgbClr val="1F1F1F"/>
                          </a:solidFill>
                          <a:latin typeface="Courier New"/>
                          <a:ea typeface="Courier New"/>
                          <a:cs typeface="Courier New"/>
                          <a:sym typeface="Courier New"/>
                        </a:rPr>
                        <a:t>nuevos_beneficiarios_credito</a:t>
                      </a:r>
                      <a:endParaRPr i="1" sz="1500">
                        <a:solidFill>
                          <a:srgbClr val="1F1F1F"/>
                        </a:solidFill>
                        <a:latin typeface="Courier New"/>
                        <a:ea typeface="Courier New"/>
                        <a:cs typeface="Courier New"/>
                        <a:sym typeface="Courier New"/>
                      </a:endParaRPr>
                    </a:p>
                  </a:txBody>
                  <a:tcPr marT="19050" marB="19050" marR="28575" marL="28575" anchor="ctr"/>
                </a:tc>
              </a:tr>
              <a:tr h="485775">
                <a:tc>
                  <a:txBody>
                    <a:bodyPr/>
                    <a:lstStyle/>
                    <a:p>
                      <a:pPr indent="0" lvl="0" marL="0" rtl="0" algn="l">
                        <a:lnSpc>
                          <a:spcPct val="115000"/>
                        </a:lnSpc>
                        <a:spcBef>
                          <a:spcPts val="0"/>
                        </a:spcBef>
                        <a:spcAft>
                          <a:spcPts val="0"/>
                        </a:spcAft>
                        <a:buNone/>
                      </a:pPr>
                      <a:r>
                        <a:rPr i="1" lang="es-419" sz="1500">
                          <a:solidFill>
                            <a:srgbClr val="1F1F1F"/>
                          </a:solidFill>
                          <a:latin typeface="Oswald"/>
                          <a:ea typeface="Oswald"/>
                          <a:cs typeface="Oswald"/>
                          <a:sym typeface="Oswald"/>
                        </a:rPr>
                        <a:t>Dimensión exclusiva</a:t>
                      </a:r>
                      <a:endParaRPr i="1" sz="1500">
                        <a:solidFill>
                          <a:srgbClr val="1F1F1F"/>
                        </a:solidFill>
                        <a:latin typeface="Oswald"/>
                        <a:ea typeface="Oswald"/>
                        <a:cs typeface="Oswald"/>
                        <a:sym typeface="Oswald"/>
                      </a:endParaRPr>
                    </a:p>
                  </a:txBody>
                  <a:tcPr marT="19050" marB="19050" marR="28575" marL="28575" anchor="ctr">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419" sz="1500">
                          <a:solidFill>
                            <a:srgbClr val="1F1F1F"/>
                          </a:solidFill>
                          <a:latin typeface="Oswald"/>
                          <a:ea typeface="Oswald"/>
                          <a:cs typeface="Oswald"/>
                          <a:sym typeface="Oswald"/>
                        </a:rPr>
                        <a:t>Estrato socioeconómico (no disponible en SNIES)</a:t>
                      </a:r>
                      <a:endParaRPr sz="1500">
                        <a:solidFill>
                          <a:srgbClr val="1F1F1F"/>
                        </a:solidFill>
                        <a:latin typeface="Oswald"/>
                        <a:ea typeface="Oswald"/>
                        <a:cs typeface="Oswald"/>
                        <a:sym typeface="Oswald"/>
                      </a:endParaRPr>
                    </a:p>
                  </a:txBody>
                  <a:tcPr marT="19050" marB="19050" marR="28575" marL="28575" anchor="ctr">
                    <a:lnB cap="flat" cmpd="sng" w="7625">
                      <a:solidFill>
                        <a:srgbClr val="000000"/>
                      </a:solidFill>
                      <a:prstDash val="solid"/>
                      <a:round/>
                      <a:headEnd len="sm" w="sm" type="none"/>
                      <a:tailEnd len="sm" w="sm" type="none"/>
                    </a:lnB>
                  </a:tcPr>
                </a:tc>
              </a:tr>
            </a:tbl>
          </a:graphicData>
        </a:graphic>
      </p:graphicFrame>
      <p:pic>
        <p:nvPicPr>
          <p:cNvPr id="91" name="Google Shape;91;p15"/>
          <p:cNvPicPr preferRelativeResize="0"/>
          <p:nvPr/>
        </p:nvPicPr>
        <p:blipFill>
          <a:blip r:embed="rId4">
            <a:alphaModFix/>
          </a:blip>
          <a:stretch>
            <a:fillRect/>
          </a:stretch>
        </p:blipFill>
        <p:spPr>
          <a:xfrm flipH="1">
            <a:off x="3124350" y="13200"/>
            <a:ext cx="707350" cy="707350"/>
          </a:xfrm>
          <a:prstGeom prst="rect">
            <a:avLst/>
          </a:prstGeom>
          <a:noFill/>
          <a:ln>
            <a:noFill/>
          </a:ln>
        </p:spPr>
      </p:pic>
      <p:sp>
        <p:nvSpPr>
          <p:cNvPr id="92" name="Google Shape;92;p15"/>
          <p:cNvSpPr/>
          <p:nvPr/>
        </p:nvSpPr>
        <p:spPr>
          <a:xfrm>
            <a:off x="7072300" y="640463"/>
            <a:ext cx="838800" cy="7734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3" name="Google Shape;93;p15"/>
          <p:cNvPicPr preferRelativeResize="0"/>
          <p:nvPr/>
        </p:nvPicPr>
        <p:blipFill>
          <a:blip r:embed="rId5">
            <a:alphaModFix/>
          </a:blip>
          <a:stretch>
            <a:fillRect/>
          </a:stretch>
        </p:blipFill>
        <p:spPr>
          <a:xfrm>
            <a:off x="7173288" y="708763"/>
            <a:ext cx="636825" cy="6368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6"/>
          <p:cNvSpPr/>
          <p:nvPr/>
        </p:nvSpPr>
        <p:spPr>
          <a:xfrm>
            <a:off x="0" y="16800"/>
            <a:ext cx="10800000" cy="7166400"/>
          </a:xfrm>
          <a:prstGeom prst="rect">
            <a:avLst/>
          </a:prstGeom>
          <a:noFill/>
          <a:ln cap="flat" cmpd="sng" w="95550">
            <a:solidFill>
              <a:schemeClr val="accent1"/>
            </a:solidFill>
            <a:prstDash val="solid"/>
            <a:round/>
            <a:headEnd len="sm" w="sm" type="none"/>
            <a:tailEnd len="sm" w="sm" type="none"/>
          </a:ln>
        </p:spPr>
        <p:txBody>
          <a:bodyPr anchorCtr="0" anchor="ctr" bIns="114650" lIns="114650" spcFirstLastPara="1" rIns="114650" wrap="square" tIns="114650">
            <a:noAutofit/>
          </a:bodyPr>
          <a:lstStyle/>
          <a:p>
            <a:pPr indent="0" lvl="0" marL="0" rtl="0" algn="ctr">
              <a:spcBef>
                <a:spcPts val="0"/>
              </a:spcBef>
              <a:spcAft>
                <a:spcPts val="0"/>
              </a:spcAft>
              <a:buNone/>
            </a:pPr>
            <a:r>
              <a:t/>
            </a:r>
            <a:endParaRPr sz="1800"/>
          </a:p>
        </p:txBody>
      </p:sp>
      <p:sp>
        <p:nvSpPr>
          <p:cNvPr id="99" name="Google Shape;99;p16"/>
          <p:cNvSpPr/>
          <p:nvPr/>
        </p:nvSpPr>
        <p:spPr>
          <a:xfrm>
            <a:off x="1678800" y="1152675"/>
            <a:ext cx="7442400" cy="5483400"/>
          </a:xfrm>
          <a:prstGeom prst="roundRect">
            <a:avLst>
              <a:gd fmla="val 16667" name="adj"/>
            </a:avLst>
          </a:prstGeom>
          <a:solidFill>
            <a:srgbClr val="C8DDFF">
              <a:alpha val="80390"/>
            </a:srgbClr>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6"/>
          <p:cNvSpPr/>
          <p:nvPr/>
        </p:nvSpPr>
        <p:spPr>
          <a:xfrm>
            <a:off x="0" y="-19825"/>
            <a:ext cx="10800000" cy="773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6"/>
          <p:cNvSpPr/>
          <p:nvPr/>
        </p:nvSpPr>
        <p:spPr>
          <a:xfrm>
            <a:off x="3488675" y="239875"/>
            <a:ext cx="3692700" cy="7734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6"/>
          <p:cNvSpPr txBox="1"/>
          <p:nvPr/>
        </p:nvSpPr>
        <p:spPr>
          <a:xfrm>
            <a:off x="3553650" y="239875"/>
            <a:ext cx="3692700" cy="773400"/>
          </a:xfrm>
          <a:prstGeom prst="rect">
            <a:avLst/>
          </a:prstGeom>
          <a:noFill/>
          <a:ln>
            <a:noFill/>
          </a:ln>
        </p:spPr>
        <p:txBody>
          <a:bodyPr anchorCtr="0" anchor="t" bIns="114650" lIns="114650" spcFirstLastPara="1" rIns="114650" wrap="square" tIns="114650">
            <a:noAutofit/>
          </a:bodyPr>
          <a:lstStyle/>
          <a:p>
            <a:pPr indent="0" lvl="0" marL="0" rtl="0" algn="ctr">
              <a:spcBef>
                <a:spcPts val="0"/>
              </a:spcBef>
              <a:spcAft>
                <a:spcPts val="0"/>
              </a:spcAft>
              <a:buNone/>
            </a:pPr>
            <a:r>
              <a:rPr b="1" lang="es-419" sz="3800">
                <a:solidFill>
                  <a:schemeClr val="dk1"/>
                </a:solidFill>
                <a:latin typeface="Oswald"/>
                <a:ea typeface="Oswald"/>
                <a:cs typeface="Oswald"/>
                <a:sym typeface="Oswald"/>
              </a:rPr>
              <a:t>Data Profiling</a:t>
            </a:r>
            <a:endParaRPr b="1" sz="3800">
              <a:solidFill>
                <a:schemeClr val="dk1"/>
              </a:solidFill>
              <a:latin typeface="Oswald"/>
              <a:ea typeface="Oswald"/>
              <a:cs typeface="Oswald"/>
              <a:sym typeface="Oswald"/>
            </a:endParaRPr>
          </a:p>
        </p:txBody>
      </p:sp>
      <p:sp>
        <p:nvSpPr>
          <p:cNvPr id="103" name="Google Shape;103;p16"/>
          <p:cNvSpPr txBox="1"/>
          <p:nvPr/>
        </p:nvSpPr>
        <p:spPr>
          <a:xfrm>
            <a:off x="3110825" y="6162650"/>
            <a:ext cx="4448400" cy="54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s-419" sz="1900">
                <a:latin typeface="Oswald"/>
                <a:ea typeface="Oswald"/>
                <a:cs typeface="Oswald"/>
                <a:sym typeface="Oswald"/>
              </a:rPr>
              <a:t>Dataset Primario (SNIES)</a:t>
            </a:r>
            <a:endParaRPr i="1" sz="2000">
              <a:latin typeface="Oswald"/>
              <a:ea typeface="Oswald"/>
              <a:cs typeface="Oswald"/>
              <a:sym typeface="Oswald"/>
            </a:endParaRPr>
          </a:p>
        </p:txBody>
      </p:sp>
      <p:cxnSp>
        <p:nvCxnSpPr>
          <p:cNvPr id="104" name="Google Shape;104;p16"/>
          <p:cNvCxnSpPr/>
          <p:nvPr/>
        </p:nvCxnSpPr>
        <p:spPr>
          <a:xfrm rot="10800000">
            <a:off x="-28525" y="625363"/>
            <a:ext cx="3517200" cy="1800"/>
          </a:xfrm>
          <a:prstGeom prst="straightConnector1">
            <a:avLst/>
          </a:prstGeom>
          <a:noFill/>
          <a:ln cap="flat" cmpd="sng" w="28575">
            <a:solidFill>
              <a:schemeClr val="accent1"/>
            </a:solidFill>
            <a:prstDash val="solid"/>
            <a:round/>
            <a:headEnd len="med" w="med" type="none"/>
            <a:tailEnd len="med" w="med" type="none"/>
          </a:ln>
        </p:spPr>
      </p:cxnSp>
      <p:cxnSp>
        <p:nvCxnSpPr>
          <p:cNvPr id="105" name="Google Shape;105;p16"/>
          <p:cNvCxnSpPr/>
          <p:nvPr/>
        </p:nvCxnSpPr>
        <p:spPr>
          <a:xfrm flipH="1">
            <a:off x="7181350" y="609275"/>
            <a:ext cx="3625200" cy="14400"/>
          </a:xfrm>
          <a:prstGeom prst="straightConnector1">
            <a:avLst/>
          </a:prstGeom>
          <a:noFill/>
          <a:ln cap="flat" cmpd="sng" w="28575">
            <a:solidFill>
              <a:schemeClr val="accent1"/>
            </a:solidFill>
            <a:prstDash val="solid"/>
            <a:round/>
            <a:headEnd len="med" w="med" type="none"/>
            <a:tailEnd len="med" w="med" type="none"/>
          </a:ln>
        </p:spPr>
      </p:cxnSp>
      <p:sp>
        <p:nvSpPr>
          <p:cNvPr id="106" name="Google Shape;106;p16"/>
          <p:cNvSpPr/>
          <p:nvPr/>
        </p:nvSpPr>
        <p:spPr>
          <a:xfrm>
            <a:off x="2253000" y="1723525"/>
            <a:ext cx="3033000" cy="2030400"/>
          </a:xfrm>
          <a:prstGeom prst="roundRect">
            <a:avLst>
              <a:gd fmla="val 16667" name="adj"/>
            </a:avLst>
          </a:prstGeom>
          <a:solidFill>
            <a:schemeClr val="lt1"/>
          </a:solidFill>
          <a:ln>
            <a:noFill/>
          </a:ln>
        </p:spPr>
        <p:txBody>
          <a:bodyPr anchorCtr="0" anchor="ctr" bIns="82400" lIns="82400" spcFirstLastPara="1" rIns="82400" wrap="square" tIns="82400">
            <a:noAutofit/>
          </a:bodyPr>
          <a:lstStyle/>
          <a:p>
            <a:pPr indent="0" lvl="0" marL="0" rtl="0" algn="ctr">
              <a:spcBef>
                <a:spcPts val="0"/>
              </a:spcBef>
              <a:spcAft>
                <a:spcPts val="0"/>
              </a:spcAft>
              <a:buNone/>
            </a:pPr>
            <a:r>
              <a:rPr b="1" i="1" lang="es-419" sz="1862">
                <a:solidFill>
                  <a:srgbClr val="204A87"/>
                </a:solidFill>
                <a:latin typeface="Oswald"/>
                <a:ea typeface="Oswald"/>
                <a:cs typeface="Oswald"/>
                <a:sym typeface="Oswald"/>
              </a:rPr>
              <a:t>Nulos</a:t>
            </a:r>
            <a:br>
              <a:rPr b="1" i="1" lang="es-419" sz="1862">
                <a:solidFill>
                  <a:srgbClr val="204A87"/>
                </a:solidFill>
                <a:latin typeface="Oswald"/>
                <a:ea typeface="Oswald"/>
                <a:cs typeface="Oswald"/>
                <a:sym typeface="Oswald"/>
              </a:rPr>
            </a:br>
            <a:r>
              <a:rPr i="1" lang="es-419" sz="1862">
                <a:solidFill>
                  <a:srgbClr val="204A87"/>
                </a:solidFill>
                <a:latin typeface="Oswald"/>
                <a:ea typeface="Oswald"/>
                <a:cs typeface="Oswald"/>
                <a:sym typeface="Oswald"/>
              </a:rPr>
              <a:t>t</a:t>
            </a:r>
            <a:r>
              <a:rPr i="1" lang="es-419" sz="1862">
                <a:solidFill>
                  <a:srgbClr val="204A87"/>
                </a:solidFill>
                <a:latin typeface="Courier New"/>
                <a:ea typeface="Courier New"/>
                <a:cs typeface="Courier New"/>
                <a:sym typeface="Courier New"/>
              </a:rPr>
              <a:t>otal_matriculados </a:t>
            </a:r>
            <a:r>
              <a:rPr i="1" lang="es-419" sz="1862">
                <a:solidFill>
                  <a:srgbClr val="204A87"/>
                </a:solidFill>
                <a:latin typeface="Oswald"/>
                <a:ea typeface="Oswald"/>
                <a:cs typeface="Oswald"/>
                <a:sym typeface="Oswald"/>
              </a:rPr>
              <a:t>~0.3% de nulos. Imputados, y se filtró </a:t>
            </a:r>
            <a:r>
              <a:rPr i="1" lang="es-419" sz="1862">
                <a:solidFill>
                  <a:srgbClr val="204A87"/>
                </a:solidFill>
                <a:latin typeface="Courier New"/>
                <a:ea typeface="Courier New"/>
                <a:cs typeface="Courier New"/>
                <a:sym typeface="Courier New"/>
              </a:rPr>
              <a:t>matriculas</a:t>
            </a:r>
            <a:r>
              <a:rPr i="1" lang="es-419" sz="1862">
                <a:solidFill>
                  <a:srgbClr val="204A87"/>
                </a:solidFill>
                <a:latin typeface="Oswald"/>
                <a:ea typeface="Oswald"/>
                <a:cs typeface="Oswald"/>
                <a:sym typeface="Oswald"/>
              </a:rPr>
              <a:t> ≤ 0</a:t>
            </a:r>
            <a:endParaRPr i="1" sz="1862">
              <a:solidFill>
                <a:srgbClr val="204A87"/>
              </a:solidFill>
              <a:latin typeface="Oswald"/>
              <a:ea typeface="Oswald"/>
              <a:cs typeface="Oswald"/>
              <a:sym typeface="Oswald"/>
            </a:endParaRPr>
          </a:p>
        </p:txBody>
      </p:sp>
      <p:sp>
        <p:nvSpPr>
          <p:cNvPr id="107" name="Google Shape;107;p16"/>
          <p:cNvSpPr/>
          <p:nvPr/>
        </p:nvSpPr>
        <p:spPr>
          <a:xfrm>
            <a:off x="5514000" y="3934475"/>
            <a:ext cx="3033000" cy="2030400"/>
          </a:xfrm>
          <a:prstGeom prst="roundRect">
            <a:avLst>
              <a:gd fmla="val 16667" name="adj"/>
            </a:avLst>
          </a:prstGeom>
          <a:solidFill>
            <a:schemeClr val="lt1"/>
          </a:solidFill>
          <a:ln>
            <a:noFill/>
          </a:ln>
        </p:spPr>
        <p:txBody>
          <a:bodyPr anchorCtr="0" anchor="ctr" bIns="82400" lIns="82400" spcFirstLastPara="1" rIns="82400" wrap="square" tIns="82400">
            <a:noAutofit/>
          </a:bodyPr>
          <a:lstStyle/>
          <a:p>
            <a:pPr indent="0" lvl="0" marL="0" rtl="0" algn="ctr">
              <a:spcBef>
                <a:spcPts val="0"/>
              </a:spcBef>
              <a:spcAft>
                <a:spcPts val="0"/>
              </a:spcAft>
              <a:buNone/>
            </a:pPr>
            <a:r>
              <a:rPr b="1" i="1" lang="es-419" sz="1862">
                <a:solidFill>
                  <a:srgbClr val="204A87"/>
                </a:solidFill>
                <a:latin typeface="Oswald"/>
                <a:ea typeface="Oswald"/>
                <a:cs typeface="Oswald"/>
                <a:sym typeface="Oswald"/>
              </a:rPr>
              <a:t>Niveles de Formación</a:t>
            </a:r>
            <a:endParaRPr b="1" i="1" sz="1862">
              <a:solidFill>
                <a:srgbClr val="204A87"/>
              </a:solidFill>
              <a:latin typeface="Oswald"/>
              <a:ea typeface="Oswald"/>
              <a:cs typeface="Oswald"/>
              <a:sym typeface="Oswald"/>
            </a:endParaRPr>
          </a:p>
          <a:p>
            <a:pPr indent="0" lvl="0" marL="0" rtl="0" algn="ctr">
              <a:spcBef>
                <a:spcPts val="0"/>
              </a:spcBef>
              <a:spcAft>
                <a:spcPts val="0"/>
              </a:spcAft>
              <a:buNone/>
            </a:pPr>
            <a:r>
              <a:rPr i="1" lang="es-419" sz="1862">
                <a:solidFill>
                  <a:srgbClr val="204A87"/>
                </a:solidFill>
                <a:latin typeface="Oswald"/>
                <a:ea typeface="Oswald"/>
                <a:cs typeface="Oswald"/>
                <a:sym typeface="Oswald"/>
              </a:rPr>
              <a:t>IDs 1-10.</a:t>
            </a:r>
            <a:endParaRPr i="1" sz="1862">
              <a:solidFill>
                <a:srgbClr val="204A87"/>
              </a:solidFill>
              <a:latin typeface="Oswald"/>
              <a:ea typeface="Oswald"/>
              <a:cs typeface="Oswald"/>
              <a:sym typeface="Oswald"/>
            </a:endParaRPr>
          </a:p>
          <a:p>
            <a:pPr indent="0" lvl="0" marL="0" rtl="0" algn="ctr">
              <a:spcBef>
                <a:spcPts val="0"/>
              </a:spcBef>
              <a:spcAft>
                <a:spcPts val="0"/>
              </a:spcAft>
              <a:buNone/>
            </a:pPr>
            <a:r>
              <a:rPr i="1" lang="es-419" sz="1862">
                <a:solidFill>
                  <a:srgbClr val="204A87"/>
                </a:solidFill>
                <a:latin typeface="Oswald"/>
                <a:ea typeface="Oswald"/>
                <a:cs typeface="Oswald"/>
                <a:sym typeface="Oswald"/>
              </a:rPr>
              <a:t>4/7/8/10 corresponden a variantes de </a:t>
            </a:r>
            <a:r>
              <a:rPr i="1" lang="es-419" sz="1862">
                <a:solidFill>
                  <a:srgbClr val="204A87"/>
                </a:solidFill>
                <a:latin typeface="Oswald"/>
                <a:ea typeface="Oswald"/>
                <a:cs typeface="Oswald"/>
                <a:sym typeface="Oswald"/>
              </a:rPr>
              <a:t>especialización</a:t>
            </a:r>
            <a:endParaRPr i="1" sz="1862">
              <a:solidFill>
                <a:srgbClr val="204A87"/>
              </a:solidFill>
              <a:latin typeface="Oswald"/>
              <a:ea typeface="Oswald"/>
              <a:cs typeface="Oswald"/>
              <a:sym typeface="Oswald"/>
            </a:endParaRPr>
          </a:p>
        </p:txBody>
      </p:sp>
      <p:sp>
        <p:nvSpPr>
          <p:cNvPr id="108" name="Google Shape;108;p16"/>
          <p:cNvSpPr/>
          <p:nvPr/>
        </p:nvSpPr>
        <p:spPr>
          <a:xfrm>
            <a:off x="2253000" y="3934475"/>
            <a:ext cx="3033000" cy="2030400"/>
          </a:xfrm>
          <a:prstGeom prst="roundRect">
            <a:avLst>
              <a:gd fmla="val 16667" name="adj"/>
            </a:avLst>
          </a:prstGeom>
          <a:solidFill>
            <a:schemeClr val="lt1"/>
          </a:solidFill>
          <a:ln>
            <a:noFill/>
          </a:ln>
        </p:spPr>
        <p:txBody>
          <a:bodyPr anchorCtr="0" anchor="ctr" bIns="82400" lIns="82400" spcFirstLastPara="1" rIns="82400" wrap="square" tIns="82400">
            <a:noAutofit/>
          </a:bodyPr>
          <a:lstStyle/>
          <a:p>
            <a:pPr indent="0" lvl="0" marL="0" rtl="0" algn="ctr">
              <a:spcBef>
                <a:spcPts val="0"/>
              </a:spcBef>
              <a:spcAft>
                <a:spcPts val="0"/>
              </a:spcAft>
              <a:buNone/>
            </a:pPr>
            <a:r>
              <a:rPr b="1" i="1" lang="es-419" sz="1862">
                <a:solidFill>
                  <a:srgbClr val="204A87"/>
                </a:solidFill>
                <a:latin typeface="Oswald"/>
                <a:ea typeface="Oswald"/>
                <a:cs typeface="Oswald"/>
                <a:sym typeface="Oswald"/>
              </a:rPr>
              <a:t>Tipos</a:t>
            </a:r>
            <a:endParaRPr b="1" i="1" sz="1862">
              <a:solidFill>
                <a:srgbClr val="204A87"/>
              </a:solidFill>
              <a:latin typeface="Oswald"/>
              <a:ea typeface="Oswald"/>
              <a:cs typeface="Oswald"/>
              <a:sym typeface="Oswald"/>
            </a:endParaRPr>
          </a:p>
          <a:p>
            <a:pPr indent="0" lvl="0" marL="0" rtl="0" algn="ctr">
              <a:spcBef>
                <a:spcPts val="0"/>
              </a:spcBef>
              <a:spcAft>
                <a:spcPts val="0"/>
              </a:spcAft>
              <a:buNone/>
            </a:pPr>
            <a:r>
              <a:rPr i="1" lang="es-419" sz="1862">
                <a:solidFill>
                  <a:srgbClr val="204A87"/>
                </a:solidFill>
                <a:latin typeface="Courier New"/>
                <a:ea typeface="Courier New"/>
                <a:cs typeface="Courier New"/>
                <a:sym typeface="Courier New"/>
              </a:rPr>
              <a:t>Id_Nivel_Formacion</a:t>
            </a:r>
            <a:r>
              <a:rPr i="1" lang="es-419" sz="1862">
                <a:solidFill>
                  <a:srgbClr val="204A87"/>
                </a:solidFill>
                <a:latin typeface="Oswald"/>
                <a:ea typeface="Oswald"/>
                <a:cs typeface="Oswald"/>
                <a:sym typeface="Oswald"/>
              </a:rPr>
              <a:t> e </a:t>
            </a:r>
            <a:r>
              <a:rPr i="1" lang="es-419" sz="1862">
                <a:solidFill>
                  <a:srgbClr val="204A87"/>
                </a:solidFill>
                <a:latin typeface="Courier New"/>
                <a:ea typeface="Courier New"/>
                <a:cs typeface="Courier New"/>
                <a:sym typeface="Courier New"/>
              </a:rPr>
              <a:t>Id_Sector</a:t>
            </a:r>
            <a:r>
              <a:rPr i="1" lang="es-419" sz="1862">
                <a:solidFill>
                  <a:srgbClr val="204A87"/>
                </a:solidFill>
                <a:latin typeface="Oswald"/>
                <a:ea typeface="Oswald"/>
                <a:cs typeface="Oswald"/>
                <a:sym typeface="Oswald"/>
              </a:rPr>
              <a:t> enteros </a:t>
            </a:r>
            <a:r>
              <a:rPr i="1" lang="es-419" sz="1862">
                <a:solidFill>
                  <a:srgbClr val="204A87"/>
                </a:solidFill>
                <a:latin typeface="Oswald"/>
                <a:ea typeface="Oswald"/>
                <a:cs typeface="Oswald"/>
                <a:sym typeface="Oswald"/>
              </a:rPr>
              <a:t>numéricos</a:t>
            </a:r>
            <a:r>
              <a:rPr i="1" lang="es-419" sz="1862">
                <a:solidFill>
                  <a:srgbClr val="204A87"/>
                </a:solidFill>
                <a:latin typeface="Oswald"/>
                <a:ea typeface="Oswald"/>
                <a:cs typeface="Oswald"/>
                <a:sym typeface="Oswald"/>
              </a:rPr>
              <a:t> que </a:t>
            </a:r>
            <a:r>
              <a:rPr i="1" lang="es-419" sz="1862">
                <a:solidFill>
                  <a:srgbClr val="204A87"/>
                </a:solidFill>
                <a:latin typeface="Oswald"/>
                <a:ea typeface="Oswald"/>
                <a:cs typeface="Oswald"/>
                <a:sym typeface="Oswald"/>
              </a:rPr>
              <a:t>requieren</a:t>
            </a:r>
            <a:r>
              <a:rPr i="1" lang="es-419" sz="1862">
                <a:solidFill>
                  <a:srgbClr val="204A87"/>
                </a:solidFill>
                <a:latin typeface="Oswald"/>
                <a:ea typeface="Oswald"/>
                <a:cs typeface="Oswald"/>
                <a:sym typeface="Oswald"/>
              </a:rPr>
              <a:t> mapeo a etiquetas de texto</a:t>
            </a:r>
            <a:endParaRPr i="1" sz="1862">
              <a:solidFill>
                <a:srgbClr val="204A87"/>
              </a:solidFill>
              <a:latin typeface="Oswald"/>
              <a:ea typeface="Oswald"/>
              <a:cs typeface="Oswald"/>
              <a:sym typeface="Oswald"/>
            </a:endParaRPr>
          </a:p>
        </p:txBody>
      </p:sp>
      <p:sp>
        <p:nvSpPr>
          <p:cNvPr id="109" name="Google Shape;109;p16"/>
          <p:cNvSpPr/>
          <p:nvPr/>
        </p:nvSpPr>
        <p:spPr>
          <a:xfrm>
            <a:off x="5514000" y="1723525"/>
            <a:ext cx="3033000" cy="2030400"/>
          </a:xfrm>
          <a:prstGeom prst="roundRect">
            <a:avLst>
              <a:gd fmla="val 16667" name="adj"/>
            </a:avLst>
          </a:prstGeom>
          <a:solidFill>
            <a:schemeClr val="lt1"/>
          </a:solidFill>
          <a:ln>
            <a:noFill/>
          </a:ln>
        </p:spPr>
        <p:txBody>
          <a:bodyPr anchorCtr="0" anchor="ctr" bIns="82400" lIns="82400" spcFirstLastPara="1" rIns="82400" wrap="square" tIns="82400">
            <a:noAutofit/>
          </a:bodyPr>
          <a:lstStyle/>
          <a:p>
            <a:pPr indent="0" lvl="0" marL="0" rtl="0" algn="ctr">
              <a:spcBef>
                <a:spcPts val="0"/>
              </a:spcBef>
              <a:spcAft>
                <a:spcPts val="0"/>
              </a:spcAft>
              <a:buNone/>
            </a:pPr>
            <a:r>
              <a:rPr b="1" i="1" lang="es-419" sz="1862">
                <a:solidFill>
                  <a:srgbClr val="204A87"/>
                </a:solidFill>
                <a:latin typeface="Oswald"/>
                <a:ea typeface="Oswald"/>
                <a:cs typeface="Oswald"/>
                <a:sym typeface="Oswald"/>
              </a:rPr>
              <a:t>Duplicados</a:t>
            </a:r>
            <a:endParaRPr b="1" i="1" sz="1862">
              <a:solidFill>
                <a:srgbClr val="204A87"/>
              </a:solidFill>
              <a:latin typeface="Oswald"/>
              <a:ea typeface="Oswald"/>
              <a:cs typeface="Oswald"/>
              <a:sym typeface="Oswald"/>
            </a:endParaRPr>
          </a:p>
          <a:p>
            <a:pPr indent="0" lvl="0" marL="0" rtl="0" algn="ctr">
              <a:spcBef>
                <a:spcPts val="0"/>
              </a:spcBef>
              <a:spcAft>
                <a:spcPts val="0"/>
              </a:spcAft>
              <a:buNone/>
            </a:pPr>
            <a:r>
              <a:rPr i="1" lang="es-419" sz="1862">
                <a:solidFill>
                  <a:srgbClr val="204A87"/>
                </a:solidFill>
                <a:latin typeface="Oswald"/>
                <a:ea typeface="Oswald"/>
                <a:cs typeface="Oswald"/>
                <a:sym typeface="Oswald"/>
              </a:rPr>
              <a:t>~2% duplicados exactos, eliminados con </a:t>
            </a:r>
            <a:r>
              <a:rPr i="1" lang="es-419" sz="1862">
                <a:solidFill>
                  <a:srgbClr val="204A87"/>
                </a:solidFill>
                <a:latin typeface="Courier New"/>
                <a:ea typeface="Courier New"/>
                <a:cs typeface="Courier New"/>
                <a:sym typeface="Courier New"/>
              </a:rPr>
              <a:t>drop_duplicates ()</a:t>
            </a:r>
            <a:endParaRPr i="1" sz="1862">
              <a:solidFill>
                <a:srgbClr val="204A87"/>
              </a:solidFill>
              <a:latin typeface="Courier New"/>
              <a:ea typeface="Courier New"/>
              <a:cs typeface="Courier New"/>
              <a:sym typeface="Courier New"/>
            </a:endParaRPr>
          </a:p>
        </p:txBody>
      </p:sp>
      <p:sp>
        <p:nvSpPr>
          <p:cNvPr id="110" name="Google Shape;110;p16"/>
          <p:cNvSpPr txBox="1"/>
          <p:nvPr/>
        </p:nvSpPr>
        <p:spPr>
          <a:xfrm>
            <a:off x="173975" y="6636000"/>
            <a:ext cx="10322100" cy="547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400"/>
              </a:spcBef>
              <a:spcAft>
                <a:spcPts val="400"/>
              </a:spcAft>
              <a:buNone/>
            </a:pPr>
            <a:r>
              <a:rPr i="1" lang="es-419" sz="1500">
                <a:solidFill>
                  <a:schemeClr val="dk1"/>
                </a:solidFill>
                <a:latin typeface="Oswald"/>
                <a:ea typeface="Oswald"/>
                <a:cs typeface="Oswald"/>
                <a:sym typeface="Oswald"/>
              </a:rPr>
              <a:t>Ruta de referencia </a:t>
            </a:r>
            <a:r>
              <a:rPr i="1" lang="es-419" sz="1500">
                <a:solidFill>
                  <a:schemeClr val="dk1"/>
                </a:solidFill>
                <a:latin typeface="Courier New"/>
                <a:ea typeface="Courier New"/>
                <a:cs typeface="Courier New"/>
                <a:sym typeface="Courier New"/>
              </a:rPr>
              <a:t>notebooks/eda.ipynb</a:t>
            </a:r>
            <a:endParaRPr i="1" sz="1500">
              <a:latin typeface="Courier New"/>
              <a:ea typeface="Courier New"/>
              <a:cs typeface="Courier New"/>
              <a:sym typeface="Courier New"/>
            </a:endParaRPr>
          </a:p>
        </p:txBody>
      </p:sp>
      <p:sp>
        <p:nvSpPr>
          <p:cNvPr id="111" name="Google Shape;111;p16"/>
          <p:cNvSpPr/>
          <p:nvPr/>
        </p:nvSpPr>
        <p:spPr>
          <a:xfrm>
            <a:off x="6815000" y="531913"/>
            <a:ext cx="838800" cy="7734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2" name="Google Shape;112;p16"/>
          <p:cNvPicPr preferRelativeResize="0"/>
          <p:nvPr/>
        </p:nvPicPr>
        <p:blipFill>
          <a:blip r:embed="rId3">
            <a:alphaModFix/>
          </a:blip>
          <a:stretch>
            <a:fillRect/>
          </a:stretch>
        </p:blipFill>
        <p:spPr>
          <a:xfrm>
            <a:off x="6898738" y="582963"/>
            <a:ext cx="671325" cy="671325"/>
          </a:xfrm>
          <a:prstGeom prst="rect">
            <a:avLst/>
          </a:prstGeom>
          <a:noFill/>
          <a:ln>
            <a:noFill/>
          </a:ln>
        </p:spPr>
      </p:pic>
      <p:pic>
        <p:nvPicPr>
          <p:cNvPr id="113" name="Google Shape;113;p16"/>
          <p:cNvPicPr preferRelativeResize="0"/>
          <p:nvPr/>
        </p:nvPicPr>
        <p:blipFill>
          <a:blip r:embed="rId4">
            <a:alphaModFix/>
          </a:blip>
          <a:stretch>
            <a:fillRect/>
          </a:stretch>
        </p:blipFill>
        <p:spPr>
          <a:xfrm flipH="1">
            <a:off x="3263975" y="13200"/>
            <a:ext cx="707350" cy="707350"/>
          </a:xfrm>
          <a:prstGeom prst="rect">
            <a:avLst/>
          </a:prstGeom>
          <a:noFill/>
          <a:ln>
            <a:noFill/>
          </a:ln>
        </p:spPr>
      </p:pic>
      <p:sp>
        <p:nvSpPr>
          <p:cNvPr id="114" name="Google Shape;114;p16"/>
          <p:cNvSpPr/>
          <p:nvPr/>
        </p:nvSpPr>
        <p:spPr>
          <a:xfrm>
            <a:off x="8340275" y="6313600"/>
            <a:ext cx="893700" cy="606300"/>
          </a:xfrm>
          <a:prstGeom prst="chevron">
            <a:avLst>
              <a:gd fmla="val 50000"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16"/>
          <p:cNvSpPr/>
          <p:nvPr/>
        </p:nvSpPr>
        <p:spPr>
          <a:xfrm>
            <a:off x="8073663" y="6313600"/>
            <a:ext cx="893700" cy="606300"/>
          </a:xfrm>
          <a:prstGeom prst="chevron">
            <a:avLst>
              <a:gd fmla="val 50000" name="adj"/>
            </a:avLst>
          </a:prstGeom>
          <a:solidFill>
            <a:schemeClr val="accen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6"/>
          <p:cNvSpPr/>
          <p:nvPr/>
        </p:nvSpPr>
        <p:spPr>
          <a:xfrm>
            <a:off x="8073675" y="6313600"/>
            <a:ext cx="574800" cy="606300"/>
          </a:xfrm>
          <a:prstGeom prst="chevron">
            <a:avLst>
              <a:gd fmla="val 50000"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7"/>
          <p:cNvSpPr/>
          <p:nvPr/>
        </p:nvSpPr>
        <p:spPr>
          <a:xfrm>
            <a:off x="0" y="16800"/>
            <a:ext cx="10800000" cy="7166400"/>
          </a:xfrm>
          <a:prstGeom prst="rect">
            <a:avLst/>
          </a:prstGeom>
          <a:noFill/>
          <a:ln cap="flat" cmpd="sng" w="95550">
            <a:solidFill>
              <a:schemeClr val="accent1"/>
            </a:solidFill>
            <a:prstDash val="solid"/>
            <a:round/>
            <a:headEnd len="sm" w="sm" type="none"/>
            <a:tailEnd len="sm" w="sm" type="none"/>
          </a:ln>
        </p:spPr>
        <p:txBody>
          <a:bodyPr anchorCtr="0" anchor="ctr" bIns="114650" lIns="114650" spcFirstLastPara="1" rIns="114650" wrap="square" tIns="114650">
            <a:noAutofit/>
          </a:bodyPr>
          <a:lstStyle/>
          <a:p>
            <a:pPr indent="0" lvl="0" marL="0" rtl="0" algn="ctr">
              <a:spcBef>
                <a:spcPts val="0"/>
              </a:spcBef>
              <a:spcAft>
                <a:spcPts val="0"/>
              </a:spcAft>
              <a:buNone/>
            </a:pPr>
            <a:r>
              <a:t/>
            </a:r>
            <a:endParaRPr sz="1800"/>
          </a:p>
        </p:txBody>
      </p:sp>
      <p:sp>
        <p:nvSpPr>
          <p:cNvPr id="122" name="Google Shape;122;p17"/>
          <p:cNvSpPr/>
          <p:nvPr/>
        </p:nvSpPr>
        <p:spPr>
          <a:xfrm>
            <a:off x="0" y="-19825"/>
            <a:ext cx="10800000" cy="773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17"/>
          <p:cNvSpPr/>
          <p:nvPr/>
        </p:nvSpPr>
        <p:spPr>
          <a:xfrm>
            <a:off x="3488675" y="239875"/>
            <a:ext cx="3692700" cy="7734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17"/>
          <p:cNvSpPr txBox="1"/>
          <p:nvPr/>
        </p:nvSpPr>
        <p:spPr>
          <a:xfrm>
            <a:off x="3553650" y="239875"/>
            <a:ext cx="3692700" cy="773400"/>
          </a:xfrm>
          <a:prstGeom prst="rect">
            <a:avLst/>
          </a:prstGeom>
          <a:noFill/>
          <a:ln>
            <a:noFill/>
          </a:ln>
        </p:spPr>
        <p:txBody>
          <a:bodyPr anchorCtr="0" anchor="t" bIns="114650" lIns="114650" spcFirstLastPara="1" rIns="114650" wrap="square" tIns="114650">
            <a:noAutofit/>
          </a:bodyPr>
          <a:lstStyle/>
          <a:p>
            <a:pPr indent="0" lvl="0" marL="0" rtl="0" algn="ctr">
              <a:spcBef>
                <a:spcPts val="0"/>
              </a:spcBef>
              <a:spcAft>
                <a:spcPts val="0"/>
              </a:spcAft>
              <a:buNone/>
            </a:pPr>
            <a:r>
              <a:rPr b="1" lang="es-419" sz="3800">
                <a:solidFill>
                  <a:schemeClr val="dk1"/>
                </a:solidFill>
                <a:latin typeface="Oswald"/>
                <a:ea typeface="Oswald"/>
                <a:cs typeface="Oswald"/>
                <a:sym typeface="Oswald"/>
              </a:rPr>
              <a:t>Data Profiling</a:t>
            </a:r>
            <a:endParaRPr b="1" sz="3800">
              <a:solidFill>
                <a:schemeClr val="dk1"/>
              </a:solidFill>
              <a:latin typeface="Oswald"/>
              <a:ea typeface="Oswald"/>
              <a:cs typeface="Oswald"/>
              <a:sym typeface="Oswald"/>
            </a:endParaRPr>
          </a:p>
        </p:txBody>
      </p:sp>
      <p:cxnSp>
        <p:nvCxnSpPr>
          <p:cNvPr id="125" name="Google Shape;125;p17"/>
          <p:cNvCxnSpPr/>
          <p:nvPr/>
        </p:nvCxnSpPr>
        <p:spPr>
          <a:xfrm rot="10800000">
            <a:off x="-28525" y="625363"/>
            <a:ext cx="3517200" cy="1800"/>
          </a:xfrm>
          <a:prstGeom prst="straightConnector1">
            <a:avLst/>
          </a:prstGeom>
          <a:noFill/>
          <a:ln cap="flat" cmpd="sng" w="28575">
            <a:solidFill>
              <a:schemeClr val="accent1"/>
            </a:solidFill>
            <a:prstDash val="solid"/>
            <a:round/>
            <a:headEnd len="med" w="med" type="none"/>
            <a:tailEnd len="med" w="med" type="none"/>
          </a:ln>
        </p:spPr>
      </p:cxnSp>
      <p:cxnSp>
        <p:nvCxnSpPr>
          <p:cNvPr id="126" name="Google Shape;126;p17"/>
          <p:cNvCxnSpPr/>
          <p:nvPr/>
        </p:nvCxnSpPr>
        <p:spPr>
          <a:xfrm flipH="1">
            <a:off x="7181350" y="609275"/>
            <a:ext cx="3625200" cy="14400"/>
          </a:xfrm>
          <a:prstGeom prst="straightConnector1">
            <a:avLst/>
          </a:prstGeom>
          <a:noFill/>
          <a:ln cap="flat" cmpd="sng" w="28575">
            <a:solidFill>
              <a:schemeClr val="accent1"/>
            </a:solidFill>
            <a:prstDash val="solid"/>
            <a:round/>
            <a:headEnd len="med" w="med" type="none"/>
            <a:tailEnd len="med" w="med" type="none"/>
          </a:ln>
        </p:spPr>
      </p:cxnSp>
      <p:sp>
        <p:nvSpPr>
          <p:cNvPr id="127" name="Google Shape;127;p17"/>
          <p:cNvSpPr txBox="1"/>
          <p:nvPr/>
        </p:nvSpPr>
        <p:spPr>
          <a:xfrm>
            <a:off x="6931075" y="6715650"/>
            <a:ext cx="3810000" cy="38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i="1" lang="es-419" sz="1500">
                <a:solidFill>
                  <a:schemeClr val="dk1"/>
                </a:solidFill>
                <a:latin typeface="Oswald"/>
                <a:ea typeface="Oswald"/>
                <a:cs typeface="Oswald"/>
                <a:sym typeface="Oswald"/>
              </a:rPr>
              <a:t>Ruta de referencia </a:t>
            </a:r>
            <a:r>
              <a:rPr i="1" lang="es-419" sz="1500">
                <a:solidFill>
                  <a:schemeClr val="dk1"/>
                </a:solidFill>
                <a:latin typeface="Courier New"/>
                <a:ea typeface="Courier New"/>
                <a:cs typeface="Courier New"/>
                <a:sym typeface="Courier New"/>
              </a:rPr>
              <a:t>notebooks/eda.ipynb</a:t>
            </a:r>
            <a:endParaRPr i="1" sz="1500">
              <a:latin typeface="Courier New"/>
              <a:ea typeface="Courier New"/>
              <a:cs typeface="Courier New"/>
              <a:sym typeface="Courier New"/>
            </a:endParaRPr>
          </a:p>
        </p:txBody>
      </p:sp>
      <p:graphicFrame>
        <p:nvGraphicFramePr>
          <p:cNvPr id="128" name="Google Shape;128;p17"/>
          <p:cNvGraphicFramePr/>
          <p:nvPr/>
        </p:nvGraphicFramePr>
        <p:xfrm>
          <a:off x="346125" y="1172275"/>
          <a:ext cx="3000000" cy="3000000"/>
        </p:xfrm>
        <a:graphic>
          <a:graphicData uri="http://schemas.openxmlformats.org/drawingml/2006/table">
            <a:tbl>
              <a:tblPr>
                <a:noFill/>
                <a:tableStyleId>{C556CFA1-8E2C-47EC-A9A8-5E49D9BD7B61}</a:tableStyleId>
              </a:tblPr>
              <a:tblGrid>
                <a:gridCol w="4131375"/>
                <a:gridCol w="2357125"/>
                <a:gridCol w="3619225"/>
              </a:tblGrid>
              <a:tr h="304625">
                <a:tc>
                  <a:txBody>
                    <a:bodyPr/>
                    <a:lstStyle/>
                    <a:p>
                      <a:pPr indent="0" lvl="0" marL="0" rtl="0" algn="l">
                        <a:lnSpc>
                          <a:spcPct val="115000"/>
                        </a:lnSpc>
                        <a:spcBef>
                          <a:spcPts val="0"/>
                        </a:spcBef>
                        <a:spcAft>
                          <a:spcPts val="0"/>
                        </a:spcAft>
                        <a:buNone/>
                      </a:pPr>
                      <a:r>
                        <a:rPr b="1" i="1" lang="es-419" sz="1600">
                          <a:solidFill>
                            <a:srgbClr val="1F1F1F"/>
                          </a:solidFill>
                          <a:latin typeface="Oswald"/>
                          <a:ea typeface="Oswald"/>
                          <a:cs typeface="Oswald"/>
                          <a:sym typeface="Oswald"/>
                        </a:rPr>
                        <a:t>Problema identificado</a:t>
                      </a:r>
                      <a:endParaRPr b="1" i="1" sz="1600">
                        <a:solidFill>
                          <a:srgbClr val="1F1F1F"/>
                        </a:solidFill>
                        <a:latin typeface="Oswald"/>
                        <a:ea typeface="Oswald"/>
                        <a:cs typeface="Oswald"/>
                        <a:sym typeface="Oswald"/>
                      </a:endParaRPr>
                    </a:p>
                  </a:txBody>
                  <a:tcPr marT="19050" marB="19050" marR="28575" marL="28575" anchor="ct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i="1" lang="es-419" sz="1600">
                          <a:solidFill>
                            <a:srgbClr val="1F1F1F"/>
                          </a:solidFill>
                          <a:latin typeface="Oswald"/>
                          <a:ea typeface="Oswald"/>
                          <a:cs typeface="Oswald"/>
                          <a:sym typeface="Oswald"/>
                        </a:rPr>
                        <a:t>Impacto</a:t>
                      </a:r>
                      <a:endParaRPr b="1" i="1" sz="1600">
                        <a:solidFill>
                          <a:srgbClr val="1F1F1F"/>
                        </a:solidFill>
                        <a:latin typeface="Oswald"/>
                        <a:ea typeface="Oswald"/>
                        <a:cs typeface="Oswald"/>
                        <a:sym typeface="Oswald"/>
                      </a:endParaRPr>
                    </a:p>
                  </a:txBody>
                  <a:tcPr marT="19050" marB="19050" marR="28575" marL="28575" anchor="ct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i="1" lang="es-419" sz="1600">
                          <a:solidFill>
                            <a:srgbClr val="1F1F1F"/>
                          </a:solidFill>
                          <a:latin typeface="Oswald"/>
                          <a:ea typeface="Oswald"/>
                          <a:cs typeface="Oswald"/>
                          <a:sym typeface="Oswald"/>
                        </a:rPr>
                        <a:t>Solución en clean_icetex</a:t>
                      </a:r>
                      <a:endParaRPr b="1" i="1" sz="1600">
                        <a:solidFill>
                          <a:srgbClr val="1F1F1F"/>
                        </a:solidFill>
                        <a:latin typeface="Oswald"/>
                        <a:ea typeface="Oswald"/>
                        <a:cs typeface="Oswald"/>
                        <a:sym typeface="Oswald"/>
                      </a:endParaRPr>
                    </a:p>
                  </a:txBody>
                  <a:tcPr marT="19050" marB="19050" marR="28575" marL="28575" anchor="ct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86325">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VIGENCIA como string limpio (sin coma de miles)</a:t>
                      </a:r>
                      <a:endParaRPr i="1" sz="1600">
                        <a:solidFill>
                          <a:srgbClr val="1F1F1F"/>
                        </a:solidFill>
                        <a:latin typeface="Oswald"/>
                        <a:ea typeface="Oswald"/>
                        <a:cs typeface="Oswald"/>
                        <a:sym typeface="Oswald"/>
                      </a:endParaRPr>
                    </a:p>
                  </a:txBody>
                  <a:tcPr marT="19050" marB="19050" marR="28575" marL="28575" anchor="ctr">
                    <a:lnT cap="flat" cmpd="sng" w="76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Casteo directo a int</a:t>
                      </a:r>
                      <a:endParaRPr sz="1600">
                        <a:solidFill>
                          <a:srgbClr val="1F1F1F"/>
                        </a:solidFill>
                        <a:latin typeface="Oswald"/>
                        <a:ea typeface="Oswald"/>
                        <a:cs typeface="Oswald"/>
                        <a:sym typeface="Oswald"/>
                      </a:endParaRPr>
                    </a:p>
                  </a:txBody>
                  <a:tcPr marT="19050" marB="19050" marR="28575" marL="28575" anchor="ctr">
                    <a:lnT cap="flat" cmpd="sng" w="76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i="1" lang="es-419" sz="1600">
                          <a:solidFill>
                            <a:srgbClr val="1F1F1F"/>
                          </a:solidFill>
                          <a:latin typeface="Courier New"/>
                          <a:ea typeface="Courier New"/>
                          <a:cs typeface="Courier New"/>
                          <a:sym typeface="Courier New"/>
                        </a:rPr>
                        <a:t>pd.to_numeric()</a:t>
                      </a:r>
                      <a:endParaRPr i="1" sz="1600">
                        <a:solidFill>
                          <a:srgbClr val="1F1F1F"/>
                        </a:solidFill>
                        <a:latin typeface="Courier New"/>
                        <a:ea typeface="Courier New"/>
                        <a:cs typeface="Courier New"/>
                        <a:sym typeface="Courier New"/>
                      </a:endParaRPr>
                    </a:p>
                  </a:txBody>
                  <a:tcPr marT="19050" marB="19050" marR="28575" marL="28575" anchor="ctr">
                    <a:lnT cap="flat" cmpd="sng" w="7625">
                      <a:solidFill>
                        <a:srgbClr val="000000"/>
                      </a:solidFill>
                      <a:prstDash val="solid"/>
                      <a:round/>
                      <a:headEnd len="sm" w="sm" type="none"/>
                      <a:tailEnd len="sm" w="sm" type="none"/>
                    </a:lnT>
                  </a:tcPr>
                </a:tc>
              </a:tr>
              <a:tr h="486325">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PERIODO OTORGAMIENTO formato "YYYY-[1|2]"</a:t>
                      </a:r>
                      <a:endParaRPr i="1"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Extraer semestre</a:t>
                      </a:r>
                      <a:endParaRPr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i="1" lang="es-419" sz="1600">
                          <a:solidFill>
                            <a:srgbClr val="1F1F1F"/>
                          </a:solidFill>
                          <a:latin typeface="Courier New"/>
                          <a:ea typeface="Courier New"/>
                          <a:cs typeface="Courier New"/>
                          <a:sym typeface="Courier New"/>
                        </a:rPr>
                        <a:t>str.split('-').str[1]</a:t>
                      </a:r>
                      <a:endParaRPr i="1" sz="1600">
                        <a:solidFill>
                          <a:srgbClr val="1F1F1F"/>
                        </a:solidFill>
                        <a:latin typeface="Courier New"/>
                        <a:ea typeface="Courier New"/>
                        <a:cs typeface="Courier New"/>
                        <a:sym typeface="Courier New"/>
                      </a:endParaRPr>
                    </a:p>
                  </a:txBody>
                  <a:tcPr marT="19050" marB="19050" marR="28575" marL="28575" anchor="ctr"/>
                </a:tc>
              </a:tr>
              <a:tr h="486325">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SEXO AL NACER incluye Intersexual (14 filas, 0.01%)</a:t>
                      </a:r>
                      <a:endParaRPr i="1"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Descartar para FK válida</a:t>
                      </a:r>
                      <a:endParaRPr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Filtro previo al mapeo</a:t>
                      </a:r>
                      <a:endParaRPr sz="1600">
                        <a:solidFill>
                          <a:srgbClr val="1F1F1F"/>
                        </a:solidFill>
                        <a:latin typeface="Oswald"/>
                        <a:ea typeface="Oswald"/>
                        <a:cs typeface="Oswald"/>
                        <a:sym typeface="Oswald"/>
                      </a:endParaRPr>
                    </a:p>
                  </a:txBody>
                  <a:tcPr marT="19050" marB="19050" marR="28575" marL="28575" anchor="ctr"/>
                </a:tc>
              </a:tr>
              <a:tr h="572350">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Bogotá, D.C. con coma y mayúsculas en depto</a:t>
                      </a:r>
                      <a:endParaRPr i="1"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Desalineación con SNIES</a:t>
                      </a:r>
                      <a:endParaRPr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Courier New"/>
                          <a:ea typeface="Courier New"/>
                          <a:cs typeface="Courier New"/>
                          <a:sym typeface="Courier New"/>
                        </a:rPr>
                        <a:t>clean_text()</a:t>
                      </a:r>
                      <a:r>
                        <a:rPr lang="es-419" sz="1600">
                          <a:solidFill>
                            <a:srgbClr val="1F1F1F"/>
                          </a:solidFill>
                          <a:latin typeface="Oswald"/>
                          <a:ea typeface="Oswald"/>
                          <a:cs typeface="Oswald"/>
                          <a:sym typeface="Oswald"/>
                        </a:rPr>
                        <a:t> + reemplazo 'bogota, d.c.' → 'bogota'</a:t>
                      </a:r>
                      <a:endParaRPr sz="1600">
                        <a:solidFill>
                          <a:srgbClr val="1F1F1F"/>
                        </a:solidFill>
                        <a:latin typeface="Oswald"/>
                        <a:ea typeface="Oswald"/>
                        <a:cs typeface="Oswald"/>
                        <a:sym typeface="Oswald"/>
                      </a:endParaRPr>
                    </a:p>
                  </a:txBody>
                  <a:tcPr marT="19050" marB="19050" marR="28575" marL="28575" anchor="ctr"/>
                </a:tc>
              </a:tr>
              <a:tr h="326175">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Archipiélago de San Andrés... nombre completo</a:t>
                      </a:r>
                      <a:endParaRPr i="1"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Mismo problema</a:t>
                      </a:r>
                      <a:endParaRPr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Reemplazo a 'san andres y providencia'</a:t>
                      </a:r>
                      <a:endParaRPr sz="1600">
                        <a:solidFill>
                          <a:srgbClr val="1F1F1F"/>
                        </a:solidFill>
                        <a:latin typeface="Oswald"/>
                        <a:ea typeface="Oswald"/>
                        <a:cs typeface="Oswald"/>
                        <a:sym typeface="Oswald"/>
                      </a:endParaRPr>
                    </a:p>
                  </a:txBody>
                  <a:tcPr marT="19050" marB="19050" marR="28575" marL="28575" anchor="ctr"/>
                </a:tc>
              </a:tr>
              <a:tr h="572350">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11 valores distintos de nivel de formación</a:t>
                      </a:r>
                      <a:endParaRPr i="1"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No coinciden con los 6 del primario</a:t>
                      </a:r>
                      <a:endParaRPr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Diccionario de 11→7 canónicos</a:t>
                      </a:r>
                      <a:endParaRPr sz="1600">
                        <a:solidFill>
                          <a:srgbClr val="1F1F1F"/>
                        </a:solidFill>
                        <a:latin typeface="Oswald"/>
                        <a:ea typeface="Oswald"/>
                        <a:cs typeface="Oswald"/>
                        <a:sym typeface="Oswald"/>
                      </a:endParaRPr>
                    </a:p>
                  </a:txBody>
                  <a:tcPr marT="19050" marB="19050" marR="28575" marL="28575" anchor="ctr"/>
                </a:tc>
              </a:tr>
              <a:tr h="572350">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NIVEL DE FORMACIÓN = 'Exterior' (9,154 filas, 8.6%)</a:t>
                      </a:r>
                      <a:endParaRPr i="1"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Nivel sin equivalente en SNIES</a:t>
                      </a:r>
                      <a:endParaRPr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Se conserva como valor 'exterior'; filas con solo beneficiarios</a:t>
                      </a:r>
                      <a:endParaRPr sz="1600">
                        <a:solidFill>
                          <a:srgbClr val="1F1F1F"/>
                        </a:solidFill>
                        <a:latin typeface="Oswald"/>
                        <a:ea typeface="Oswald"/>
                        <a:cs typeface="Oswald"/>
                        <a:sym typeface="Oswald"/>
                      </a:endParaRPr>
                    </a:p>
                  </a:txBody>
                  <a:tcPr marT="19050" marB="19050" marR="28575" marL="28575" anchor="ctr"/>
                </a:tc>
              </a:tr>
              <a:tr h="304625">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NIVEL = 'Normalista' (7 filas)</a:t>
                      </a:r>
                      <a:endParaRPr i="1"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Fuera del alcance del DW</a:t>
                      </a:r>
                      <a:endParaRPr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Descartado</a:t>
                      </a:r>
                      <a:endParaRPr sz="1600">
                        <a:solidFill>
                          <a:srgbClr val="1F1F1F"/>
                        </a:solidFill>
                        <a:latin typeface="Oswald"/>
                        <a:ea typeface="Oswald"/>
                        <a:cs typeface="Oswald"/>
                        <a:sym typeface="Oswald"/>
                      </a:endParaRPr>
                    </a:p>
                  </a:txBody>
                  <a:tcPr marT="19050" marB="19050" marR="28575" marL="28575" anchor="ctr"/>
                </a:tc>
              </a:tr>
              <a:tr h="304625">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SECTOR IES = 'N/A' (9,184 filas, 8.5%)</a:t>
                      </a:r>
                      <a:endParaRPr i="1"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FK no resolvible</a:t>
                      </a:r>
                      <a:endParaRPr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Mapeado a 'desconocido'</a:t>
                      </a:r>
                      <a:endParaRPr sz="1600">
                        <a:solidFill>
                          <a:srgbClr val="1F1F1F"/>
                        </a:solidFill>
                        <a:latin typeface="Oswald"/>
                        <a:ea typeface="Oswald"/>
                        <a:cs typeface="Oswald"/>
                        <a:sym typeface="Oswald"/>
                      </a:endParaRPr>
                    </a:p>
                  </a:txBody>
                  <a:tcPr marT="19050" marB="19050" marR="28575" marL="28575" anchor="ctr"/>
                </a:tc>
              </a:tr>
              <a:tr h="304625">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ESTRATO ∈ {1..6} sin outliers, sin nulos</a:t>
                      </a:r>
                      <a:endParaRPr i="1"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Puede integrarse directamente</a:t>
                      </a:r>
                      <a:endParaRPr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Cast a int, sin imputación</a:t>
                      </a:r>
                      <a:endParaRPr sz="1600">
                        <a:solidFill>
                          <a:srgbClr val="1F1F1F"/>
                        </a:solidFill>
                        <a:latin typeface="Oswald"/>
                        <a:ea typeface="Oswald"/>
                        <a:cs typeface="Oswald"/>
                        <a:sym typeface="Oswald"/>
                      </a:endParaRPr>
                    </a:p>
                  </a:txBody>
                  <a:tcPr marT="19050" marB="19050" marR="28575" marL="28575" anchor="ctr"/>
                </a:tc>
              </a:tr>
              <a:tr h="572350">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Rango de años: 2015–2025</a:t>
                      </a:r>
                      <a:endParaRPr i="1" sz="1600">
                        <a:solidFill>
                          <a:srgbClr val="1F1F1F"/>
                        </a:solidFill>
                        <a:latin typeface="Oswald"/>
                        <a:ea typeface="Oswald"/>
                        <a:cs typeface="Oswald"/>
                        <a:sym typeface="Oswald"/>
                      </a:endParaRPr>
                    </a:p>
                  </a:txBody>
                  <a:tcPr marT="19050" marB="19050" marR="28575" marL="28575" anchor="ctr">
                    <a:lnB cap="flat" cmpd="sng" w="228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4 años extra vs primario (2015–2021)</a:t>
                      </a:r>
                      <a:endParaRPr sz="1600">
                        <a:solidFill>
                          <a:srgbClr val="1F1F1F"/>
                        </a:solidFill>
                        <a:latin typeface="Oswald"/>
                        <a:ea typeface="Oswald"/>
                        <a:cs typeface="Oswald"/>
                        <a:sym typeface="Oswald"/>
                      </a:endParaRPr>
                    </a:p>
                  </a:txBody>
                  <a:tcPr marT="19050" marB="19050" marR="28575" marL="28575" anchor="ctr">
                    <a:lnB cap="flat" cmpd="sng" w="228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Expectation GX ajustada a 2015–2025</a:t>
                      </a:r>
                      <a:endParaRPr sz="1600">
                        <a:solidFill>
                          <a:srgbClr val="1F1F1F"/>
                        </a:solidFill>
                        <a:latin typeface="Oswald"/>
                        <a:ea typeface="Oswald"/>
                        <a:cs typeface="Oswald"/>
                        <a:sym typeface="Oswald"/>
                      </a:endParaRPr>
                    </a:p>
                  </a:txBody>
                  <a:tcPr marT="19050" marB="19050" marR="28575" marL="28575" anchor="ctr">
                    <a:lnB cap="flat" cmpd="sng" w="22850">
                      <a:solidFill>
                        <a:srgbClr val="000000"/>
                      </a:solidFill>
                      <a:prstDash val="solid"/>
                      <a:round/>
                      <a:headEnd len="sm" w="sm" type="none"/>
                      <a:tailEnd len="sm" w="sm" type="none"/>
                    </a:lnB>
                  </a:tcPr>
                </a:tc>
              </a:tr>
            </a:tbl>
          </a:graphicData>
        </a:graphic>
      </p:graphicFrame>
      <p:sp>
        <p:nvSpPr>
          <p:cNvPr id="129" name="Google Shape;129;p17"/>
          <p:cNvSpPr txBox="1"/>
          <p:nvPr/>
        </p:nvSpPr>
        <p:spPr>
          <a:xfrm>
            <a:off x="346125" y="6636000"/>
            <a:ext cx="2405700" cy="5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s-419" sz="1900">
                <a:latin typeface="Oswald"/>
                <a:ea typeface="Oswald"/>
                <a:cs typeface="Oswald"/>
                <a:sym typeface="Oswald"/>
              </a:rPr>
              <a:t>Dataset API (ICETEX)</a:t>
            </a:r>
            <a:endParaRPr i="1" sz="2000">
              <a:latin typeface="Oswald"/>
              <a:ea typeface="Oswald"/>
              <a:cs typeface="Oswald"/>
              <a:sym typeface="Oswald"/>
            </a:endParaRPr>
          </a:p>
        </p:txBody>
      </p:sp>
      <p:pic>
        <p:nvPicPr>
          <p:cNvPr id="130" name="Google Shape;130;p17"/>
          <p:cNvPicPr preferRelativeResize="0"/>
          <p:nvPr/>
        </p:nvPicPr>
        <p:blipFill>
          <a:blip r:embed="rId3">
            <a:alphaModFix/>
          </a:blip>
          <a:stretch>
            <a:fillRect/>
          </a:stretch>
        </p:blipFill>
        <p:spPr>
          <a:xfrm flipH="1">
            <a:off x="3263975" y="13200"/>
            <a:ext cx="707350" cy="707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8"/>
          <p:cNvSpPr/>
          <p:nvPr/>
        </p:nvSpPr>
        <p:spPr>
          <a:xfrm>
            <a:off x="0" y="16800"/>
            <a:ext cx="10800000" cy="7166400"/>
          </a:xfrm>
          <a:prstGeom prst="rect">
            <a:avLst/>
          </a:prstGeom>
          <a:noFill/>
          <a:ln cap="flat" cmpd="sng" w="95550">
            <a:solidFill>
              <a:schemeClr val="accent1"/>
            </a:solidFill>
            <a:prstDash val="solid"/>
            <a:round/>
            <a:headEnd len="sm" w="sm" type="none"/>
            <a:tailEnd len="sm" w="sm" type="none"/>
          </a:ln>
        </p:spPr>
        <p:txBody>
          <a:bodyPr anchorCtr="0" anchor="ctr" bIns="114650" lIns="114650" spcFirstLastPara="1" rIns="114650" wrap="square" tIns="114650">
            <a:noAutofit/>
          </a:bodyPr>
          <a:lstStyle/>
          <a:p>
            <a:pPr indent="0" lvl="0" marL="0" rtl="0" algn="ctr">
              <a:spcBef>
                <a:spcPts val="0"/>
              </a:spcBef>
              <a:spcAft>
                <a:spcPts val="0"/>
              </a:spcAft>
              <a:buNone/>
            </a:pPr>
            <a:r>
              <a:t/>
            </a:r>
            <a:endParaRPr sz="1800"/>
          </a:p>
        </p:txBody>
      </p:sp>
      <p:sp>
        <p:nvSpPr>
          <p:cNvPr id="136" name="Google Shape;136;p18"/>
          <p:cNvSpPr/>
          <p:nvPr/>
        </p:nvSpPr>
        <p:spPr>
          <a:xfrm>
            <a:off x="0" y="-19825"/>
            <a:ext cx="10800000" cy="773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18"/>
          <p:cNvSpPr/>
          <p:nvPr/>
        </p:nvSpPr>
        <p:spPr>
          <a:xfrm>
            <a:off x="3488675" y="239875"/>
            <a:ext cx="3692700" cy="7734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8"/>
          <p:cNvSpPr txBox="1"/>
          <p:nvPr/>
        </p:nvSpPr>
        <p:spPr>
          <a:xfrm>
            <a:off x="3553650" y="239875"/>
            <a:ext cx="3692700" cy="773400"/>
          </a:xfrm>
          <a:prstGeom prst="rect">
            <a:avLst/>
          </a:prstGeom>
          <a:noFill/>
          <a:ln>
            <a:noFill/>
          </a:ln>
        </p:spPr>
        <p:txBody>
          <a:bodyPr anchorCtr="0" anchor="t" bIns="114650" lIns="114650" spcFirstLastPara="1" rIns="114650" wrap="square" tIns="114650">
            <a:noAutofit/>
          </a:bodyPr>
          <a:lstStyle/>
          <a:p>
            <a:pPr indent="0" lvl="0" marL="0" rtl="0" algn="ctr">
              <a:spcBef>
                <a:spcPts val="0"/>
              </a:spcBef>
              <a:spcAft>
                <a:spcPts val="0"/>
              </a:spcAft>
              <a:buNone/>
            </a:pPr>
            <a:r>
              <a:rPr b="1" lang="es-419" sz="3800">
                <a:solidFill>
                  <a:schemeClr val="dk1"/>
                </a:solidFill>
                <a:latin typeface="Oswald"/>
                <a:ea typeface="Oswald"/>
                <a:cs typeface="Oswald"/>
                <a:sym typeface="Oswald"/>
              </a:rPr>
              <a:t>Data Profiling</a:t>
            </a:r>
            <a:endParaRPr b="1" sz="3800">
              <a:solidFill>
                <a:schemeClr val="dk1"/>
              </a:solidFill>
              <a:latin typeface="Oswald"/>
              <a:ea typeface="Oswald"/>
              <a:cs typeface="Oswald"/>
              <a:sym typeface="Oswald"/>
            </a:endParaRPr>
          </a:p>
        </p:txBody>
      </p:sp>
      <p:cxnSp>
        <p:nvCxnSpPr>
          <p:cNvPr id="139" name="Google Shape;139;p18"/>
          <p:cNvCxnSpPr/>
          <p:nvPr/>
        </p:nvCxnSpPr>
        <p:spPr>
          <a:xfrm rot="10800000">
            <a:off x="-28525" y="625363"/>
            <a:ext cx="3517200" cy="1800"/>
          </a:xfrm>
          <a:prstGeom prst="straightConnector1">
            <a:avLst/>
          </a:prstGeom>
          <a:noFill/>
          <a:ln cap="flat" cmpd="sng" w="28575">
            <a:solidFill>
              <a:schemeClr val="accent1"/>
            </a:solidFill>
            <a:prstDash val="solid"/>
            <a:round/>
            <a:headEnd len="med" w="med" type="none"/>
            <a:tailEnd len="med" w="med" type="none"/>
          </a:ln>
        </p:spPr>
      </p:cxnSp>
      <p:cxnSp>
        <p:nvCxnSpPr>
          <p:cNvPr id="140" name="Google Shape;140;p18"/>
          <p:cNvCxnSpPr/>
          <p:nvPr/>
        </p:nvCxnSpPr>
        <p:spPr>
          <a:xfrm flipH="1">
            <a:off x="7181350" y="609275"/>
            <a:ext cx="3625200" cy="14400"/>
          </a:xfrm>
          <a:prstGeom prst="straightConnector1">
            <a:avLst/>
          </a:prstGeom>
          <a:noFill/>
          <a:ln cap="flat" cmpd="sng" w="28575">
            <a:solidFill>
              <a:schemeClr val="accent1"/>
            </a:solidFill>
            <a:prstDash val="solid"/>
            <a:round/>
            <a:headEnd len="med" w="med" type="none"/>
            <a:tailEnd len="med" w="med" type="none"/>
          </a:ln>
        </p:spPr>
      </p:cxnSp>
      <p:sp>
        <p:nvSpPr>
          <p:cNvPr id="141" name="Google Shape;141;p18"/>
          <p:cNvSpPr txBox="1"/>
          <p:nvPr/>
        </p:nvSpPr>
        <p:spPr>
          <a:xfrm>
            <a:off x="6931075" y="6715650"/>
            <a:ext cx="3810000" cy="38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i="1" lang="es-419" sz="1500">
                <a:solidFill>
                  <a:schemeClr val="dk1"/>
                </a:solidFill>
                <a:latin typeface="Oswald"/>
                <a:ea typeface="Oswald"/>
                <a:cs typeface="Oswald"/>
                <a:sym typeface="Oswald"/>
              </a:rPr>
              <a:t>Ruta de referencia </a:t>
            </a:r>
            <a:r>
              <a:rPr i="1" lang="es-419" sz="1500">
                <a:solidFill>
                  <a:schemeClr val="dk1"/>
                </a:solidFill>
                <a:latin typeface="Courier New"/>
                <a:ea typeface="Courier New"/>
                <a:cs typeface="Courier New"/>
                <a:sym typeface="Courier New"/>
              </a:rPr>
              <a:t>notebooks/eda.ipynb</a:t>
            </a:r>
            <a:endParaRPr i="1" sz="1500">
              <a:latin typeface="Courier New"/>
              <a:ea typeface="Courier New"/>
              <a:cs typeface="Courier New"/>
              <a:sym typeface="Courier New"/>
            </a:endParaRPr>
          </a:p>
        </p:txBody>
      </p:sp>
      <p:sp>
        <p:nvSpPr>
          <p:cNvPr id="142" name="Google Shape;142;p18"/>
          <p:cNvSpPr txBox="1"/>
          <p:nvPr/>
        </p:nvSpPr>
        <p:spPr>
          <a:xfrm>
            <a:off x="346125" y="6636000"/>
            <a:ext cx="3625200" cy="5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s-419" sz="1900">
                <a:latin typeface="Oswald"/>
                <a:ea typeface="Oswald"/>
                <a:cs typeface="Oswald"/>
                <a:sym typeface="Oswald"/>
              </a:rPr>
              <a:t>Dataset API (ICETEX) | Re-</a:t>
            </a:r>
            <a:r>
              <a:rPr b="1" i="1" lang="es-419" sz="1900">
                <a:latin typeface="Oswald"/>
                <a:ea typeface="Oswald"/>
                <a:cs typeface="Oswald"/>
                <a:sym typeface="Oswald"/>
              </a:rPr>
              <a:t>perfilado</a:t>
            </a:r>
            <a:endParaRPr i="1" sz="2000">
              <a:latin typeface="Oswald"/>
              <a:ea typeface="Oswald"/>
              <a:cs typeface="Oswald"/>
              <a:sym typeface="Oswald"/>
            </a:endParaRPr>
          </a:p>
        </p:txBody>
      </p:sp>
      <p:graphicFrame>
        <p:nvGraphicFramePr>
          <p:cNvPr id="143" name="Google Shape;143;p18"/>
          <p:cNvGraphicFramePr/>
          <p:nvPr/>
        </p:nvGraphicFramePr>
        <p:xfrm>
          <a:off x="1820550" y="1300650"/>
          <a:ext cx="3000000" cy="3000000"/>
        </p:xfrm>
        <a:graphic>
          <a:graphicData uri="http://schemas.openxmlformats.org/drawingml/2006/table">
            <a:tbl>
              <a:tblPr>
                <a:noFill/>
                <a:tableStyleId>{C556CFA1-8E2C-47EC-A9A8-5E49D9BD7B61}</a:tableStyleId>
              </a:tblPr>
              <a:tblGrid>
                <a:gridCol w="1688775"/>
                <a:gridCol w="1643125"/>
                <a:gridCol w="1255175"/>
                <a:gridCol w="2441875"/>
              </a:tblGrid>
              <a:tr h="587675">
                <a:tc>
                  <a:txBody>
                    <a:bodyPr/>
                    <a:lstStyle/>
                    <a:p>
                      <a:pPr indent="0" lvl="0" marL="0" rtl="0" algn="l">
                        <a:lnSpc>
                          <a:spcPct val="115000"/>
                        </a:lnSpc>
                        <a:spcBef>
                          <a:spcPts val="0"/>
                        </a:spcBef>
                        <a:spcAft>
                          <a:spcPts val="0"/>
                        </a:spcAft>
                        <a:buNone/>
                      </a:pPr>
                      <a:r>
                        <a:rPr b="1" i="1" lang="es-419" sz="1600">
                          <a:solidFill>
                            <a:srgbClr val="1F1F1F"/>
                          </a:solidFill>
                          <a:latin typeface="Oswald"/>
                          <a:ea typeface="Oswald"/>
                          <a:cs typeface="Oswald"/>
                          <a:sym typeface="Oswald"/>
                        </a:rPr>
                        <a:t>Valor nuevo encontrado</a:t>
                      </a:r>
                      <a:endParaRPr b="1" i="1" sz="1600">
                        <a:solidFill>
                          <a:srgbClr val="1F1F1F"/>
                        </a:solidFill>
                        <a:latin typeface="Oswald"/>
                        <a:ea typeface="Oswald"/>
                        <a:cs typeface="Oswald"/>
                        <a:sym typeface="Oswald"/>
                      </a:endParaRPr>
                    </a:p>
                  </a:txBody>
                  <a:tcPr marT="19050" marB="19050" marR="28575" marL="28575" anchor="ct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i="1" lang="es-419" sz="1600">
                          <a:solidFill>
                            <a:srgbClr val="1F1F1F"/>
                          </a:solidFill>
                          <a:latin typeface="Oswald"/>
                          <a:ea typeface="Oswald"/>
                          <a:cs typeface="Oswald"/>
                          <a:sym typeface="Oswald"/>
                        </a:rPr>
                        <a:t>Causa</a:t>
                      </a:r>
                      <a:endParaRPr b="1" i="1" sz="1600">
                        <a:solidFill>
                          <a:srgbClr val="1F1F1F"/>
                        </a:solidFill>
                        <a:latin typeface="Oswald"/>
                        <a:ea typeface="Oswald"/>
                        <a:cs typeface="Oswald"/>
                        <a:sym typeface="Oswald"/>
                      </a:endParaRPr>
                    </a:p>
                  </a:txBody>
                  <a:tcPr marT="19050" marB="19050" marR="28575" marL="28575" anchor="ct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i="1" lang="es-419" sz="1600">
                          <a:solidFill>
                            <a:srgbClr val="1F1F1F"/>
                          </a:solidFill>
                          <a:latin typeface="Oswald"/>
                          <a:ea typeface="Oswald"/>
                          <a:cs typeface="Oswald"/>
                          <a:sym typeface="Oswald"/>
                        </a:rPr>
                        <a:t>Impacto</a:t>
                      </a:r>
                      <a:endParaRPr b="1" i="1" sz="1600">
                        <a:solidFill>
                          <a:srgbClr val="1F1F1F"/>
                        </a:solidFill>
                        <a:latin typeface="Oswald"/>
                        <a:ea typeface="Oswald"/>
                        <a:cs typeface="Oswald"/>
                        <a:sym typeface="Oswald"/>
                      </a:endParaRPr>
                    </a:p>
                  </a:txBody>
                  <a:tcPr marT="19050" marB="19050" marR="28575" marL="28575" anchor="ct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i="1" lang="es-419" sz="1600">
                          <a:solidFill>
                            <a:srgbClr val="1F1F1F"/>
                          </a:solidFill>
                          <a:latin typeface="Oswald"/>
                          <a:ea typeface="Oswald"/>
                          <a:cs typeface="Oswald"/>
                          <a:sym typeface="Oswald"/>
                        </a:rPr>
                        <a:t>Solución en </a:t>
                      </a:r>
                      <a:r>
                        <a:rPr b="1" i="1" lang="es-419" sz="1600">
                          <a:solidFill>
                            <a:srgbClr val="1F1F1F"/>
                          </a:solidFill>
                          <a:latin typeface="Courier New"/>
                          <a:ea typeface="Courier New"/>
                          <a:cs typeface="Courier New"/>
                          <a:sym typeface="Courier New"/>
                        </a:rPr>
                        <a:t>clean_icetex</a:t>
                      </a:r>
                      <a:endParaRPr b="1" i="1" sz="1600">
                        <a:solidFill>
                          <a:srgbClr val="1F1F1F"/>
                        </a:solidFill>
                        <a:latin typeface="Courier New"/>
                        <a:ea typeface="Courier New"/>
                        <a:cs typeface="Courier New"/>
                        <a:sym typeface="Courier New"/>
                      </a:endParaRPr>
                    </a:p>
                  </a:txBody>
                  <a:tcPr marT="19050" marB="19050" marR="28575" marL="28575" anchor="ct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1764275">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Especialización médico quirurgica (~2,063 filas)</a:t>
                      </a:r>
                      <a:endParaRPr i="1" sz="1600">
                        <a:solidFill>
                          <a:srgbClr val="1F1F1F"/>
                        </a:solidFill>
                        <a:latin typeface="Oswald"/>
                        <a:ea typeface="Oswald"/>
                        <a:cs typeface="Oswald"/>
                        <a:sym typeface="Oswald"/>
                      </a:endParaRPr>
                    </a:p>
                  </a:txBody>
                  <a:tcPr marT="19050" marB="19050" marR="28575" marL="28575" anchor="ctr">
                    <a:lnT cap="flat" cmpd="sng" w="76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La API escribe quirurgica sin tilde; la clave del mapa la tenía con tilde → no coincidía</a:t>
                      </a:r>
                      <a:endParaRPr sz="1600">
                        <a:solidFill>
                          <a:srgbClr val="1F1F1F"/>
                        </a:solidFill>
                        <a:latin typeface="Oswald"/>
                        <a:ea typeface="Oswald"/>
                        <a:cs typeface="Oswald"/>
                        <a:sym typeface="Oswald"/>
                      </a:endParaRPr>
                    </a:p>
                  </a:txBody>
                  <a:tcPr marT="19050" marB="19050" marR="28575" marL="28575" anchor="ctr">
                    <a:lnT cap="flat" cmpd="sng" w="76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Quedaba sin homologar → fuera del set canónico</a:t>
                      </a:r>
                      <a:endParaRPr sz="1600">
                        <a:solidFill>
                          <a:srgbClr val="1F1F1F"/>
                        </a:solidFill>
                        <a:latin typeface="Oswald"/>
                        <a:ea typeface="Oswald"/>
                        <a:cs typeface="Oswald"/>
                        <a:sym typeface="Oswald"/>
                      </a:endParaRPr>
                    </a:p>
                  </a:txBody>
                  <a:tcPr marT="19050" marB="19050" marR="28575" marL="28575" anchor="ctr">
                    <a:lnT cap="flat" cmpd="sng" w="76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Se normaliza con clean_text antes de mapear (las tildes dejan de importar) → </a:t>
                      </a:r>
                      <a:r>
                        <a:rPr lang="es-419" sz="1600">
                          <a:solidFill>
                            <a:srgbClr val="1F1F1F"/>
                          </a:solidFill>
                          <a:latin typeface="Oswald"/>
                          <a:ea typeface="Oswald"/>
                          <a:cs typeface="Oswald"/>
                          <a:sym typeface="Oswald"/>
                        </a:rPr>
                        <a:t>especialización</a:t>
                      </a:r>
                      <a:endParaRPr sz="1600">
                        <a:solidFill>
                          <a:srgbClr val="1F1F1F"/>
                        </a:solidFill>
                        <a:latin typeface="Oswald"/>
                        <a:ea typeface="Oswald"/>
                        <a:cs typeface="Oswald"/>
                        <a:sym typeface="Oswald"/>
                      </a:endParaRPr>
                    </a:p>
                  </a:txBody>
                  <a:tcPr marT="19050" marB="19050" marR="28575" marL="28575" anchor="ctr">
                    <a:lnT cap="flat" cmpd="sng" w="7625">
                      <a:solidFill>
                        <a:srgbClr val="000000"/>
                      </a:solidFill>
                      <a:prstDash val="solid"/>
                      <a:round/>
                      <a:headEnd len="sm" w="sm" type="none"/>
                      <a:tailEnd len="sm" w="sm" type="none"/>
                    </a:lnT>
                  </a:tcPr>
                </a:tc>
              </a:tr>
              <a:tr h="1246200">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Formació técnica profesional (1 fila)</a:t>
                      </a:r>
                      <a:endParaRPr i="1"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Nombre truncado por la API (falta la n de "Formación")</a:t>
                      </a:r>
                      <a:endParaRPr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No coincidía con la clave exacta</a:t>
                      </a:r>
                      <a:endParaRPr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Clave explícita para la variante truncada → </a:t>
                      </a:r>
                      <a:r>
                        <a:rPr lang="es-419" sz="1600">
                          <a:solidFill>
                            <a:srgbClr val="1F1F1F"/>
                          </a:solidFill>
                          <a:latin typeface="Oswald"/>
                          <a:ea typeface="Oswald"/>
                          <a:cs typeface="Oswald"/>
                          <a:sym typeface="Oswald"/>
                        </a:rPr>
                        <a:t>técnica</a:t>
                      </a:r>
                      <a:r>
                        <a:rPr lang="es-419" sz="1600">
                          <a:solidFill>
                            <a:srgbClr val="1F1F1F"/>
                          </a:solidFill>
                          <a:latin typeface="Oswald"/>
                          <a:ea typeface="Oswald"/>
                          <a:cs typeface="Oswald"/>
                          <a:sym typeface="Oswald"/>
                        </a:rPr>
                        <a:t> profesional</a:t>
                      </a:r>
                      <a:endParaRPr sz="1600">
                        <a:solidFill>
                          <a:srgbClr val="1F1F1F"/>
                        </a:solidFill>
                        <a:latin typeface="Oswald"/>
                        <a:ea typeface="Oswald"/>
                        <a:cs typeface="Oswald"/>
                        <a:sym typeface="Oswald"/>
                      </a:endParaRPr>
                    </a:p>
                  </a:txBody>
                  <a:tcPr marT="19050" marB="19050" marR="28575" marL="28575" anchor="ctr"/>
                </a:tc>
              </a:tr>
              <a:tr h="1435225">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Educación continuada (~143 filas)</a:t>
                      </a:r>
                      <a:endParaRPr i="1" sz="1600">
                        <a:solidFill>
                          <a:srgbClr val="1F1F1F"/>
                        </a:solidFill>
                        <a:latin typeface="Oswald"/>
                        <a:ea typeface="Oswald"/>
                        <a:cs typeface="Oswald"/>
                        <a:sym typeface="Oswald"/>
                      </a:endParaRPr>
                    </a:p>
                  </a:txBody>
                  <a:tcPr marT="19050" marB="19050" marR="28575" marL="28575" anchor="ctr">
                    <a:lnB cap="flat" cmpd="sng" w="228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Modalidad de formación continua, no es un nivel académico del DW</a:t>
                      </a:r>
                      <a:endParaRPr sz="1600">
                        <a:solidFill>
                          <a:srgbClr val="1F1F1F"/>
                        </a:solidFill>
                        <a:latin typeface="Oswald"/>
                        <a:ea typeface="Oswald"/>
                        <a:cs typeface="Oswald"/>
                        <a:sym typeface="Oswald"/>
                      </a:endParaRPr>
                    </a:p>
                  </a:txBody>
                  <a:tcPr marT="19050" marB="19050" marR="28575" marL="28575" anchor="ctr">
                    <a:lnB cap="flat" cmpd="sng" w="228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Sin equivalente canónico</a:t>
                      </a:r>
                      <a:endParaRPr sz="1600">
                        <a:solidFill>
                          <a:srgbClr val="1F1F1F"/>
                        </a:solidFill>
                        <a:latin typeface="Oswald"/>
                        <a:ea typeface="Oswald"/>
                        <a:cs typeface="Oswald"/>
                        <a:sym typeface="Oswald"/>
                      </a:endParaRPr>
                    </a:p>
                  </a:txBody>
                  <a:tcPr marT="19050" marB="19050" marR="28575" marL="28575" anchor="ctr">
                    <a:lnB cap="flat" cmpd="sng" w="228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Descartado (mismo criterio que Normalista); se reporta el conteo en logs</a:t>
                      </a:r>
                      <a:endParaRPr sz="1600">
                        <a:solidFill>
                          <a:srgbClr val="1F1F1F"/>
                        </a:solidFill>
                        <a:latin typeface="Oswald"/>
                        <a:ea typeface="Oswald"/>
                        <a:cs typeface="Oswald"/>
                        <a:sym typeface="Oswald"/>
                      </a:endParaRPr>
                    </a:p>
                  </a:txBody>
                  <a:tcPr marT="19050" marB="19050" marR="28575" marL="28575" anchor="ctr">
                    <a:lnB cap="flat" cmpd="sng" w="22850">
                      <a:solidFill>
                        <a:srgbClr val="000000"/>
                      </a:solidFill>
                      <a:prstDash val="solid"/>
                      <a:round/>
                      <a:headEnd len="sm" w="sm" type="none"/>
                      <a:tailEnd len="sm" w="sm" type="none"/>
                    </a:lnB>
                  </a:tcPr>
                </a:tc>
              </a:tr>
            </a:tbl>
          </a:graphicData>
        </a:graphic>
      </p:graphicFrame>
      <p:pic>
        <p:nvPicPr>
          <p:cNvPr id="144" name="Google Shape;144;p18"/>
          <p:cNvPicPr preferRelativeResize="0"/>
          <p:nvPr/>
        </p:nvPicPr>
        <p:blipFill>
          <a:blip r:embed="rId3">
            <a:alphaModFix/>
          </a:blip>
          <a:stretch>
            <a:fillRect/>
          </a:stretch>
        </p:blipFill>
        <p:spPr>
          <a:xfrm flipH="1">
            <a:off x="3263975" y="13200"/>
            <a:ext cx="707350" cy="707350"/>
          </a:xfrm>
          <a:prstGeom prst="rect">
            <a:avLst/>
          </a:prstGeom>
          <a:noFill/>
          <a:ln>
            <a:noFill/>
          </a:ln>
        </p:spPr>
      </p:pic>
      <p:sp>
        <p:nvSpPr>
          <p:cNvPr id="145" name="Google Shape;145;p18"/>
          <p:cNvSpPr/>
          <p:nvPr/>
        </p:nvSpPr>
        <p:spPr>
          <a:xfrm>
            <a:off x="8250313" y="6055300"/>
            <a:ext cx="893700" cy="606300"/>
          </a:xfrm>
          <a:prstGeom prst="chevron">
            <a:avLst>
              <a:gd fmla="val 50000"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18"/>
          <p:cNvSpPr/>
          <p:nvPr/>
        </p:nvSpPr>
        <p:spPr>
          <a:xfrm>
            <a:off x="7983700" y="6055300"/>
            <a:ext cx="893700" cy="606300"/>
          </a:xfrm>
          <a:prstGeom prst="chevron">
            <a:avLst>
              <a:gd fmla="val 50000" name="adj"/>
            </a:avLst>
          </a:prstGeom>
          <a:solidFill>
            <a:schemeClr val="accen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18"/>
          <p:cNvSpPr/>
          <p:nvPr/>
        </p:nvSpPr>
        <p:spPr>
          <a:xfrm>
            <a:off x="7983712" y="6055300"/>
            <a:ext cx="574800" cy="606300"/>
          </a:xfrm>
          <a:prstGeom prst="chevron">
            <a:avLst>
              <a:gd fmla="val 50000"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9"/>
          <p:cNvSpPr/>
          <p:nvPr/>
        </p:nvSpPr>
        <p:spPr>
          <a:xfrm>
            <a:off x="0" y="0"/>
            <a:ext cx="10800000" cy="7200000"/>
          </a:xfrm>
          <a:prstGeom prst="rect">
            <a:avLst/>
          </a:prstGeom>
          <a:noFill/>
          <a:ln cap="flat" cmpd="sng" w="1143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19"/>
          <p:cNvSpPr/>
          <p:nvPr/>
        </p:nvSpPr>
        <p:spPr>
          <a:xfrm>
            <a:off x="0" y="-19825"/>
            <a:ext cx="10800000" cy="773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9"/>
          <p:cNvSpPr/>
          <p:nvPr/>
        </p:nvSpPr>
        <p:spPr>
          <a:xfrm>
            <a:off x="3553650" y="366875"/>
            <a:ext cx="3692700" cy="773400"/>
          </a:xfrm>
          <a:prstGeom prst="roundRect">
            <a:avLst>
              <a:gd fmla="val 16667" name="adj"/>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19"/>
          <p:cNvSpPr txBox="1"/>
          <p:nvPr/>
        </p:nvSpPr>
        <p:spPr>
          <a:xfrm>
            <a:off x="3553650" y="366863"/>
            <a:ext cx="3692700" cy="773400"/>
          </a:xfrm>
          <a:prstGeom prst="rect">
            <a:avLst/>
          </a:prstGeom>
          <a:noFill/>
          <a:ln>
            <a:noFill/>
          </a:ln>
        </p:spPr>
        <p:txBody>
          <a:bodyPr anchorCtr="0" anchor="t" bIns="114650" lIns="114650" spcFirstLastPara="1" rIns="114650" wrap="square" tIns="114650">
            <a:noAutofit/>
          </a:bodyPr>
          <a:lstStyle/>
          <a:p>
            <a:pPr indent="0" lvl="0" marL="0" rtl="0" algn="ctr">
              <a:spcBef>
                <a:spcPts val="0"/>
              </a:spcBef>
              <a:spcAft>
                <a:spcPts val="0"/>
              </a:spcAft>
              <a:buNone/>
            </a:pPr>
            <a:r>
              <a:rPr b="1" lang="es-419" sz="3800">
                <a:solidFill>
                  <a:schemeClr val="dk1"/>
                </a:solidFill>
                <a:latin typeface="Oswald"/>
                <a:ea typeface="Oswald"/>
                <a:cs typeface="Oswald"/>
                <a:sym typeface="Oswald"/>
              </a:rPr>
              <a:t>Star schema</a:t>
            </a:r>
            <a:endParaRPr b="1" sz="3800">
              <a:solidFill>
                <a:schemeClr val="dk1"/>
              </a:solidFill>
              <a:latin typeface="Oswald"/>
              <a:ea typeface="Oswald"/>
              <a:cs typeface="Oswald"/>
              <a:sym typeface="Oswald"/>
            </a:endParaRPr>
          </a:p>
        </p:txBody>
      </p:sp>
      <p:sp>
        <p:nvSpPr>
          <p:cNvPr id="156" name="Google Shape;156;p19"/>
          <p:cNvSpPr txBox="1"/>
          <p:nvPr/>
        </p:nvSpPr>
        <p:spPr>
          <a:xfrm>
            <a:off x="6815000" y="1925525"/>
            <a:ext cx="3984900" cy="379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419" sz="1800">
                <a:solidFill>
                  <a:schemeClr val="dk1"/>
                </a:solidFill>
                <a:latin typeface="Oswald"/>
                <a:ea typeface="Oswald"/>
                <a:cs typeface="Oswald"/>
                <a:sym typeface="Oswald"/>
              </a:rPr>
              <a:t>El grano de la primera entrega (IES × Programa × Municipio) es incompatible con ICETEX (que solo provee departamento, no municipio ni programa). Para integrar ambas fuentes se redujo el grano al </a:t>
            </a:r>
            <a:r>
              <a:rPr b="1" lang="es-419" sz="1800">
                <a:solidFill>
                  <a:schemeClr val="dk1"/>
                </a:solidFill>
                <a:latin typeface="Oswald"/>
                <a:ea typeface="Oswald"/>
                <a:cs typeface="Oswald"/>
                <a:sym typeface="Oswald"/>
              </a:rPr>
              <a:t>denominador común</a:t>
            </a:r>
            <a:r>
              <a:rPr lang="es-419" sz="1800">
                <a:solidFill>
                  <a:schemeClr val="dk1"/>
                </a:solidFill>
                <a:latin typeface="Oswald"/>
                <a:ea typeface="Oswald"/>
                <a:cs typeface="Oswald"/>
                <a:sym typeface="Oswald"/>
              </a:rPr>
              <a:t>:</a:t>
            </a:r>
            <a:endParaRPr sz="1800">
              <a:solidFill>
                <a:schemeClr val="dk1"/>
              </a:solidFill>
              <a:latin typeface="Oswald"/>
              <a:ea typeface="Oswald"/>
              <a:cs typeface="Oswald"/>
              <a:sym typeface="Oswald"/>
            </a:endParaRPr>
          </a:p>
          <a:p>
            <a:pPr indent="0" lvl="0" marL="0" marR="381000" rtl="0" algn="l">
              <a:lnSpc>
                <a:spcPct val="115000"/>
              </a:lnSpc>
              <a:spcBef>
                <a:spcPts val="1200"/>
              </a:spcBef>
              <a:spcAft>
                <a:spcPts val="1200"/>
              </a:spcAft>
              <a:buClr>
                <a:schemeClr val="dk1"/>
              </a:buClr>
              <a:buSzPts val="1100"/>
              <a:buFont typeface="Arial"/>
              <a:buNone/>
            </a:pPr>
            <a:r>
              <a:rPr lang="es-419" sz="1800">
                <a:solidFill>
                  <a:schemeClr val="dk1"/>
                </a:solidFill>
                <a:latin typeface="Oswald"/>
                <a:ea typeface="Oswald"/>
                <a:cs typeface="Oswald"/>
                <a:sym typeface="Oswald"/>
              </a:rPr>
              <a:t>Un registro por </a:t>
            </a:r>
            <a:r>
              <a:rPr i="1" lang="es-419" sz="1800">
                <a:solidFill>
                  <a:schemeClr val="dk1"/>
                </a:solidFill>
                <a:latin typeface="Courier New"/>
                <a:ea typeface="Courier New"/>
                <a:cs typeface="Courier New"/>
                <a:sym typeface="Courier New"/>
              </a:rPr>
              <a:t>anio, semestre, departamento, nivel_formacion, </a:t>
            </a:r>
            <a:r>
              <a:rPr i="1" lang="es-419" sz="1800">
                <a:solidFill>
                  <a:schemeClr val="dk1"/>
                </a:solidFill>
                <a:latin typeface="Courier New"/>
                <a:ea typeface="Courier New"/>
                <a:cs typeface="Courier New"/>
                <a:sym typeface="Courier New"/>
              </a:rPr>
              <a:t>sector_ies</a:t>
            </a:r>
            <a:r>
              <a:rPr i="1" lang="es-419" sz="1800">
                <a:solidFill>
                  <a:schemeClr val="dk1"/>
                </a:solidFill>
                <a:latin typeface="Courier New"/>
                <a:ea typeface="Courier New"/>
                <a:cs typeface="Courier New"/>
                <a:sym typeface="Courier New"/>
              </a:rPr>
              <a:t>, </a:t>
            </a:r>
            <a:r>
              <a:rPr i="1" lang="es-419" sz="1800">
                <a:solidFill>
                  <a:schemeClr val="dk1"/>
                </a:solidFill>
                <a:latin typeface="Courier New"/>
                <a:ea typeface="Courier New"/>
                <a:cs typeface="Courier New"/>
                <a:sym typeface="Courier New"/>
              </a:rPr>
              <a:t>género</a:t>
            </a:r>
            <a:r>
              <a:rPr i="1" lang="es-419" sz="1800">
                <a:solidFill>
                  <a:schemeClr val="dk1"/>
                </a:solidFill>
                <a:latin typeface="Courier New"/>
                <a:ea typeface="Courier New"/>
                <a:cs typeface="Courier New"/>
                <a:sym typeface="Courier New"/>
              </a:rPr>
              <a:t>, estrat</a:t>
            </a:r>
            <a:r>
              <a:rPr i="1" lang="es-419" sz="1800">
                <a:solidFill>
                  <a:schemeClr val="dk1"/>
                </a:solidFill>
                <a:latin typeface="Courier New"/>
                <a:ea typeface="Courier New"/>
                <a:cs typeface="Courier New"/>
                <a:sym typeface="Courier New"/>
              </a:rPr>
              <a:t>o</a:t>
            </a:r>
            <a:endParaRPr i="1" sz="1900">
              <a:latin typeface="Oswald"/>
              <a:ea typeface="Oswald"/>
              <a:cs typeface="Oswald"/>
              <a:sym typeface="Oswald"/>
            </a:endParaRPr>
          </a:p>
        </p:txBody>
      </p:sp>
      <p:pic>
        <p:nvPicPr>
          <p:cNvPr id="157" name="Google Shape;157;p19"/>
          <p:cNvPicPr preferRelativeResize="0"/>
          <p:nvPr/>
        </p:nvPicPr>
        <p:blipFill>
          <a:blip r:embed="rId3">
            <a:alphaModFix/>
          </a:blip>
          <a:stretch>
            <a:fillRect/>
          </a:stretch>
        </p:blipFill>
        <p:spPr>
          <a:xfrm>
            <a:off x="304800" y="1467300"/>
            <a:ext cx="6318301" cy="5042913"/>
          </a:xfrm>
          <a:prstGeom prst="rect">
            <a:avLst/>
          </a:prstGeom>
          <a:noFill/>
          <a:ln cap="flat" cmpd="sng" w="19050">
            <a:solidFill>
              <a:schemeClr val="accent1"/>
            </a:solidFill>
            <a:prstDash val="solid"/>
            <a:round/>
            <a:headEnd len="sm" w="sm" type="none"/>
            <a:tailEnd len="sm" w="sm" type="none"/>
          </a:ln>
        </p:spPr>
      </p:pic>
      <p:cxnSp>
        <p:nvCxnSpPr>
          <p:cNvPr id="158" name="Google Shape;158;p19"/>
          <p:cNvCxnSpPr>
            <a:stCxn id="155" idx="1"/>
          </p:cNvCxnSpPr>
          <p:nvPr/>
        </p:nvCxnSpPr>
        <p:spPr>
          <a:xfrm rot="10800000">
            <a:off x="-12750" y="752363"/>
            <a:ext cx="3566400" cy="1200"/>
          </a:xfrm>
          <a:prstGeom prst="straightConnector1">
            <a:avLst/>
          </a:prstGeom>
          <a:noFill/>
          <a:ln cap="flat" cmpd="sng" w="28575">
            <a:solidFill>
              <a:schemeClr val="accent1"/>
            </a:solidFill>
            <a:prstDash val="solid"/>
            <a:round/>
            <a:headEnd len="med" w="med" type="none"/>
            <a:tailEnd len="med" w="med" type="none"/>
          </a:ln>
        </p:spPr>
      </p:cxnSp>
      <p:cxnSp>
        <p:nvCxnSpPr>
          <p:cNvPr id="159" name="Google Shape;159;p19"/>
          <p:cNvCxnSpPr/>
          <p:nvPr/>
        </p:nvCxnSpPr>
        <p:spPr>
          <a:xfrm rot="10800000">
            <a:off x="7233600" y="752975"/>
            <a:ext cx="3566400" cy="1200"/>
          </a:xfrm>
          <a:prstGeom prst="straightConnector1">
            <a:avLst/>
          </a:prstGeom>
          <a:noFill/>
          <a:ln cap="flat" cmpd="sng" w="28575">
            <a:solidFill>
              <a:schemeClr val="accent1"/>
            </a:solidFill>
            <a:prstDash val="solid"/>
            <a:round/>
            <a:headEnd len="med" w="med" type="none"/>
            <a:tailEnd len="med" w="med" type="none"/>
          </a:ln>
        </p:spPr>
      </p:cxnSp>
      <p:sp>
        <p:nvSpPr>
          <p:cNvPr id="160" name="Google Shape;160;p19"/>
          <p:cNvSpPr/>
          <p:nvPr/>
        </p:nvSpPr>
        <p:spPr>
          <a:xfrm>
            <a:off x="6815000" y="752363"/>
            <a:ext cx="838800" cy="7734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1" name="Google Shape;161;p19"/>
          <p:cNvPicPr preferRelativeResize="0"/>
          <p:nvPr/>
        </p:nvPicPr>
        <p:blipFill>
          <a:blip r:embed="rId4">
            <a:alphaModFix/>
          </a:blip>
          <a:stretch>
            <a:fillRect/>
          </a:stretch>
        </p:blipFill>
        <p:spPr>
          <a:xfrm>
            <a:off x="6931253" y="835925"/>
            <a:ext cx="606300" cy="606300"/>
          </a:xfrm>
          <a:prstGeom prst="rect">
            <a:avLst/>
          </a:prstGeom>
          <a:noFill/>
          <a:ln>
            <a:noFill/>
          </a:ln>
        </p:spPr>
      </p:pic>
      <p:pic>
        <p:nvPicPr>
          <p:cNvPr id="162" name="Google Shape;162;p19"/>
          <p:cNvPicPr preferRelativeResize="0"/>
          <p:nvPr/>
        </p:nvPicPr>
        <p:blipFill>
          <a:blip r:embed="rId5">
            <a:alphaModFix/>
          </a:blip>
          <a:stretch>
            <a:fillRect/>
          </a:stretch>
        </p:blipFill>
        <p:spPr>
          <a:xfrm flipH="1">
            <a:off x="3360275" y="128575"/>
            <a:ext cx="707350" cy="707350"/>
          </a:xfrm>
          <a:prstGeom prst="rect">
            <a:avLst/>
          </a:prstGeom>
          <a:noFill/>
          <a:ln>
            <a:noFill/>
          </a:ln>
        </p:spPr>
      </p:pic>
      <p:sp>
        <p:nvSpPr>
          <p:cNvPr id="163" name="Google Shape;163;p19"/>
          <p:cNvSpPr txBox="1"/>
          <p:nvPr/>
        </p:nvSpPr>
        <p:spPr>
          <a:xfrm>
            <a:off x="912100" y="6725375"/>
            <a:ext cx="5603700" cy="54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i="1" lang="es-419" sz="1500">
                <a:solidFill>
                  <a:schemeClr val="dk1"/>
                </a:solidFill>
                <a:latin typeface="Oswald"/>
                <a:ea typeface="Oswald"/>
                <a:cs typeface="Oswald"/>
                <a:sym typeface="Oswald"/>
              </a:rPr>
              <a:t>Ruta de referencia  </a:t>
            </a:r>
            <a:r>
              <a:rPr i="1" lang="es-419" sz="1500">
                <a:solidFill>
                  <a:schemeClr val="dk1"/>
                </a:solidFill>
                <a:latin typeface="Courier New"/>
                <a:ea typeface="Courier New"/>
                <a:cs typeface="Courier New"/>
                <a:sym typeface="Courier New"/>
              </a:rPr>
              <a:t>sql/* | </a:t>
            </a:r>
            <a:r>
              <a:rPr i="1" lang="es-419" sz="1500">
                <a:solidFill>
                  <a:schemeClr val="dk1"/>
                </a:solidFill>
                <a:latin typeface="Courier New"/>
                <a:ea typeface="Courier New"/>
                <a:cs typeface="Courier New"/>
                <a:sym typeface="Courier New"/>
              </a:rPr>
              <a:t>diagrams/star_schemmaV3.png</a:t>
            </a:r>
            <a:endParaRPr i="1" sz="1500">
              <a:latin typeface="Courier New"/>
              <a:ea typeface="Courier New"/>
              <a:cs typeface="Courier New"/>
              <a:sym typeface="Courier New"/>
            </a:endParaRPr>
          </a:p>
        </p:txBody>
      </p:sp>
      <p:sp>
        <p:nvSpPr>
          <p:cNvPr id="164" name="Google Shape;164;p19"/>
          <p:cNvSpPr/>
          <p:nvPr/>
        </p:nvSpPr>
        <p:spPr>
          <a:xfrm>
            <a:off x="6085563" y="6119075"/>
            <a:ext cx="893700" cy="606300"/>
          </a:xfrm>
          <a:prstGeom prst="chevron">
            <a:avLst>
              <a:gd fmla="val 50000" name="adj"/>
            </a:avLst>
          </a:prstGeom>
          <a:solidFill>
            <a:schemeClr val="accen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19"/>
          <p:cNvSpPr/>
          <p:nvPr/>
        </p:nvSpPr>
        <p:spPr>
          <a:xfrm>
            <a:off x="5818950" y="6119075"/>
            <a:ext cx="893700" cy="606300"/>
          </a:xfrm>
          <a:prstGeom prst="chevron">
            <a:avLst>
              <a:gd fmla="val 50000"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19"/>
          <p:cNvSpPr/>
          <p:nvPr/>
        </p:nvSpPr>
        <p:spPr>
          <a:xfrm>
            <a:off x="5818962" y="6119075"/>
            <a:ext cx="574800" cy="606300"/>
          </a:xfrm>
          <a:prstGeom prst="chevron">
            <a:avLst>
              <a:gd fmla="val 50000"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0"/>
          <p:cNvSpPr/>
          <p:nvPr/>
        </p:nvSpPr>
        <p:spPr>
          <a:xfrm>
            <a:off x="-14836" y="21471"/>
            <a:ext cx="4057800" cy="393000"/>
          </a:xfrm>
          <a:prstGeom prst="roundRect">
            <a:avLst>
              <a:gd fmla="val 16667" name="adj"/>
            </a:avLst>
          </a:prstGeom>
          <a:solidFill>
            <a:schemeClr val="lt2"/>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419" sz="2600">
                <a:solidFill>
                  <a:schemeClr val="dk2"/>
                </a:solidFill>
                <a:latin typeface="Oswald"/>
                <a:ea typeface="Oswald"/>
                <a:cs typeface="Oswald"/>
                <a:sym typeface="Oswald"/>
              </a:rPr>
              <a:t>Diagrama de Arquitectura</a:t>
            </a:r>
            <a:endParaRPr/>
          </a:p>
        </p:txBody>
      </p:sp>
      <p:sp>
        <p:nvSpPr>
          <p:cNvPr id="172" name="Google Shape;172;p20"/>
          <p:cNvSpPr/>
          <p:nvPr/>
        </p:nvSpPr>
        <p:spPr>
          <a:xfrm>
            <a:off x="0" y="9600"/>
            <a:ext cx="10800000" cy="7180800"/>
          </a:xfrm>
          <a:prstGeom prst="rect">
            <a:avLst/>
          </a:prstGeom>
          <a:no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4C4C4C"/>
              </a:solidFill>
              <a:latin typeface="Oswald"/>
              <a:ea typeface="Oswald"/>
              <a:cs typeface="Oswald"/>
              <a:sym typeface="Oswald"/>
            </a:endParaRPr>
          </a:p>
        </p:txBody>
      </p:sp>
      <p:sp>
        <p:nvSpPr>
          <p:cNvPr id="173" name="Google Shape;173;p20"/>
          <p:cNvSpPr/>
          <p:nvPr/>
        </p:nvSpPr>
        <p:spPr>
          <a:xfrm>
            <a:off x="213850" y="3600000"/>
            <a:ext cx="9100200" cy="3441900"/>
          </a:xfrm>
          <a:prstGeom prst="roundRect">
            <a:avLst>
              <a:gd fmla="val 16667" name="adj"/>
            </a:avLst>
          </a:prstGeom>
          <a:noFill/>
          <a:ln cap="flat" cmpd="sng" w="25750">
            <a:solidFill>
              <a:srgbClr val="105982"/>
            </a:solidFill>
            <a:prstDash val="solid"/>
            <a:round/>
            <a:headEnd len="sm" w="sm" type="none"/>
            <a:tailEnd len="sm" w="sm" type="none"/>
          </a:ln>
        </p:spPr>
        <p:txBody>
          <a:bodyPr anchorCtr="0" anchor="ctr" bIns="82400" lIns="82400" spcFirstLastPara="1" rIns="82400" wrap="square" tIns="82400">
            <a:noAutofit/>
          </a:bodyPr>
          <a:lstStyle/>
          <a:p>
            <a:pPr indent="0" lvl="0" marL="0" rtl="0" algn="ctr">
              <a:spcBef>
                <a:spcPts val="0"/>
              </a:spcBef>
              <a:spcAft>
                <a:spcPts val="0"/>
              </a:spcAft>
              <a:buNone/>
            </a:pPr>
            <a:r>
              <a:t/>
            </a:r>
            <a:endParaRPr sz="1262"/>
          </a:p>
        </p:txBody>
      </p:sp>
      <p:sp>
        <p:nvSpPr>
          <p:cNvPr id="174" name="Google Shape;174;p20"/>
          <p:cNvSpPr/>
          <p:nvPr/>
        </p:nvSpPr>
        <p:spPr>
          <a:xfrm>
            <a:off x="6239325" y="4206925"/>
            <a:ext cx="2938800" cy="2021400"/>
          </a:xfrm>
          <a:prstGeom prst="roundRect">
            <a:avLst>
              <a:gd fmla="val 16667" name="adj"/>
            </a:avLst>
          </a:prstGeom>
          <a:noFill/>
          <a:ln cap="flat" cmpd="sng" w="25750">
            <a:solidFill>
              <a:srgbClr val="204A87"/>
            </a:solidFill>
            <a:prstDash val="solid"/>
            <a:round/>
            <a:headEnd len="sm" w="sm" type="none"/>
            <a:tailEnd len="sm" w="sm" type="none"/>
          </a:ln>
        </p:spPr>
        <p:txBody>
          <a:bodyPr anchorCtr="0" anchor="ctr" bIns="82400" lIns="82400" spcFirstLastPara="1" rIns="82400" wrap="square" tIns="82400">
            <a:noAutofit/>
          </a:bodyPr>
          <a:lstStyle/>
          <a:p>
            <a:pPr indent="0" lvl="0" marL="0" rtl="0" algn="ctr">
              <a:spcBef>
                <a:spcPts val="0"/>
              </a:spcBef>
              <a:spcAft>
                <a:spcPts val="0"/>
              </a:spcAft>
              <a:buNone/>
            </a:pPr>
            <a:r>
              <a:t/>
            </a:r>
            <a:endParaRPr sz="1262"/>
          </a:p>
        </p:txBody>
      </p:sp>
      <p:sp>
        <p:nvSpPr>
          <p:cNvPr id="175" name="Google Shape;175;p20"/>
          <p:cNvSpPr/>
          <p:nvPr/>
        </p:nvSpPr>
        <p:spPr>
          <a:xfrm>
            <a:off x="7391450" y="5357675"/>
            <a:ext cx="1453800" cy="393000"/>
          </a:xfrm>
          <a:prstGeom prst="roundRect">
            <a:avLst>
              <a:gd fmla="val 16667" name="adj"/>
            </a:avLst>
          </a:prstGeom>
          <a:solidFill>
            <a:srgbClr val="C8D0D4"/>
          </a:solidFill>
          <a:ln cap="flat" cmpd="sng" w="17175">
            <a:solidFill>
              <a:srgbClr val="0B5394"/>
            </a:solidFill>
            <a:prstDash val="solid"/>
            <a:round/>
            <a:headEnd len="sm" w="sm" type="none"/>
            <a:tailEnd len="sm" w="sm" type="none"/>
          </a:ln>
        </p:spPr>
        <p:txBody>
          <a:bodyPr anchorCtr="0" anchor="ctr" bIns="82400" lIns="82400" spcFirstLastPara="1" rIns="82400" wrap="square" tIns="82400">
            <a:noAutofit/>
          </a:bodyPr>
          <a:lstStyle/>
          <a:p>
            <a:pPr indent="0" lvl="0" marL="0" rtl="0" algn="ctr">
              <a:spcBef>
                <a:spcPts val="0"/>
              </a:spcBef>
              <a:spcAft>
                <a:spcPts val="0"/>
              </a:spcAft>
              <a:buNone/>
            </a:pPr>
            <a:r>
              <a:rPr b="1" i="1" lang="es-419" sz="1262">
                <a:solidFill>
                  <a:srgbClr val="204A87"/>
                </a:solidFill>
                <a:latin typeface="Oswald"/>
                <a:ea typeface="Oswald"/>
                <a:cs typeface="Oswald"/>
                <a:sym typeface="Oswald"/>
              </a:rPr>
              <a:t>DW</a:t>
            </a:r>
            <a:r>
              <a:rPr b="1" i="1" lang="es-419" sz="1262">
                <a:latin typeface="Oswald"/>
                <a:ea typeface="Oswald"/>
                <a:cs typeface="Oswald"/>
                <a:sym typeface="Oswald"/>
              </a:rPr>
              <a:t> </a:t>
            </a:r>
            <a:r>
              <a:rPr b="1" i="1" lang="es-419" sz="1262">
                <a:solidFill>
                  <a:srgbClr val="F57900"/>
                </a:solidFill>
                <a:latin typeface="Oswald"/>
                <a:ea typeface="Oswald"/>
                <a:cs typeface="Oswald"/>
                <a:sym typeface="Oswald"/>
              </a:rPr>
              <a:t>Matrículas</a:t>
            </a:r>
            <a:r>
              <a:rPr b="1" i="1" lang="es-419" sz="1262">
                <a:solidFill>
                  <a:srgbClr val="F57900"/>
                </a:solidFill>
                <a:latin typeface="Oswald"/>
                <a:ea typeface="Oswald"/>
                <a:cs typeface="Oswald"/>
                <a:sym typeface="Oswald"/>
              </a:rPr>
              <a:t> Colombia</a:t>
            </a:r>
            <a:endParaRPr b="1" i="1" sz="1262">
              <a:solidFill>
                <a:srgbClr val="F57900"/>
              </a:solidFill>
              <a:latin typeface="Oswald"/>
              <a:ea typeface="Oswald"/>
              <a:cs typeface="Oswald"/>
              <a:sym typeface="Oswald"/>
            </a:endParaRPr>
          </a:p>
        </p:txBody>
      </p:sp>
      <p:pic>
        <p:nvPicPr>
          <p:cNvPr id="176" name="Google Shape;176;p20"/>
          <p:cNvPicPr preferRelativeResize="0"/>
          <p:nvPr/>
        </p:nvPicPr>
        <p:blipFill rotWithShape="1">
          <a:blip r:embed="rId3">
            <a:alphaModFix/>
          </a:blip>
          <a:srcRect b="17125" l="0" r="0" t="10279"/>
          <a:stretch/>
        </p:blipFill>
        <p:spPr>
          <a:xfrm>
            <a:off x="6402803" y="5247300"/>
            <a:ext cx="674162" cy="692276"/>
          </a:xfrm>
          <a:prstGeom prst="rect">
            <a:avLst/>
          </a:prstGeom>
          <a:noFill/>
          <a:ln>
            <a:noFill/>
          </a:ln>
        </p:spPr>
      </p:pic>
      <p:sp>
        <p:nvSpPr>
          <p:cNvPr id="177" name="Google Shape;177;p20"/>
          <p:cNvSpPr/>
          <p:nvPr/>
        </p:nvSpPr>
        <p:spPr>
          <a:xfrm>
            <a:off x="364700" y="3750450"/>
            <a:ext cx="5490900" cy="3140700"/>
          </a:xfrm>
          <a:prstGeom prst="roundRect">
            <a:avLst>
              <a:gd fmla="val 16667" name="adj"/>
            </a:avLst>
          </a:prstGeom>
          <a:noFill/>
          <a:ln cap="flat" cmpd="sng" w="28575">
            <a:solidFill>
              <a:srgbClr val="CC0000"/>
            </a:solidFill>
            <a:prstDash val="solid"/>
            <a:round/>
            <a:headEnd len="sm" w="sm" type="none"/>
            <a:tailEnd len="sm" w="sm" type="none"/>
          </a:ln>
        </p:spPr>
        <p:txBody>
          <a:bodyPr anchorCtr="0" anchor="ctr" bIns="82400" lIns="82400" spcFirstLastPara="1" rIns="82400" wrap="square" tIns="82400">
            <a:noAutofit/>
          </a:bodyPr>
          <a:lstStyle/>
          <a:p>
            <a:pPr indent="0" lvl="0" marL="0" rtl="0" algn="ctr">
              <a:spcBef>
                <a:spcPts val="0"/>
              </a:spcBef>
              <a:spcAft>
                <a:spcPts val="0"/>
              </a:spcAft>
              <a:buNone/>
            </a:pPr>
            <a:r>
              <a:t/>
            </a:r>
            <a:endParaRPr sz="1262"/>
          </a:p>
        </p:txBody>
      </p:sp>
      <p:sp>
        <p:nvSpPr>
          <p:cNvPr id="178" name="Google Shape;178;p20"/>
          <p:cNvSpPr/>
          <p:nvPr/>
        </p:nvSpPr>
        <p:spPr>
          <a:xfrm>
            <a:off x="679993" y="3965852"/>
            <a:ext cx="1010700" cy="393000"/>
          </a:xfrm>
          <a:prstGeom prst="roundRect">
            <a:avLst>
              <a:gd fmla="val 16667" name="adj"/>
            </a:avLst>
          </a:prstGeom>
          <a:solidFill>
            <a:srgbClr val="3775A8"/>
          </a:solidFill>
          <a:ln cap="flat" cmpd="sng" w="17175">
            <a:solidFill>
              <a:srgbClr val="FBBD05"/>
            </a:solidFill>
            <a:prstDash val="solid"/>
            <a:round/>
            <a:headEnd len="sm" w="sm" type="none"/>
            <a:tailEnd len="sm" w="sm" type="none"/>
          </a:ln>
        </p:spPr>
        <p:txBody>
          <a:bodyPr anchorCtr="0" anchor="ctr" bIns="82400" lIns="82400" spcFirstLastPara="1" rIns="82400" wrap="square" tIns="82400">
            <a:noAutofit/>
          </a:bodyPr>
          <a:lstStyle/>
          <a:p>
            <a:pPr indent="0" lvl="0" marL="0" marR="0" rtl="0" algn="ctr">
              <a:lnSpc>
                <a:spcPct val="100000"/>
              </a:lnSpc>
              <a:spcBef>
                <a:spcPts val="0"/>
              </a:spcBef>
              <a:spcAft>
                <a:spcPts val="0"/>
              </a:spcAft>
              <a:buNone/>
            </a:pPr>
            <a:r>
              <a:rPr b="1" lang="es-419" sz="1262">
                <a:solidFill>
                  <a:schemeClr val="lt1"/>
                </a:solidFill>
                <a:latin typeface="Oswald"/>
                <a:ea typeface="Oswald"/>
                <a:cs typeface="Oswald"/>
                <a:sym typeface="Oswald"/>
              </a:rPr>
              <a:t>Extract CSV</a:t>
            </a:r>
            <a:endParaRPr b="1" sz="1262">
              <a:solidFill>
                <a:schemeClr val="lt1"/>
              </a:solidFill>
              <a:latin typeface="Oswald"/>
              <a:ea typeface="Oswald"/>
              <a:cs typeface="Oswald"/>
              <a:sym typeface="Oswald"/>
            </a:endParaRPr>
          </a:p>
        </p:txBody>
      </p:sp>
      <p:sp>
        <p:nvSpPr>
          <p:cNvPr id="179" name="Google Shape;179;p20"/>
          <p:cNvSpPr/>
          <p:nvPr/>
        </p:nvSpPr>
        <p:spPr>
          <a:xfrm>
            <a:off x="1926354" y="3965852"/>
            <a:ext cx="1010700" cy="393000"/>
          </a:xfrm>
          <a:prstGeom prst="roundRect">
            <a:avLst>
              <a:gd fmla="val 16667" name="adj"/>
            </a:avLst>
          </a:prstGeom>
          <a:solidFill>
            <a:srgbClr val="3775A8"/>
          </a:solidFill>
          <a:ln cap="flat" cmpd="sng" w="17175">
            <a:solidFill>
              <a:srgbClr val="FBBD05"/>
            </a:solidFill>
            <a:prstDash val="solid"/>
            <a:round/>
            <a:headEnd len="sm" w="sm" type="none"/>
            <a:tailEnd len="sm" w="sm" type="none"/>
          </a:ln>
        </p:spPr>
        <p:txBody>
          <a:bodyPr anchorCtr="0" anchor="ctr" bIns="82400" lIns="82400" spcFirstLastPara="1" rIns="82400" wrap="square" tIns="82400">
            <a:noAutofit/>
          </a:bodyPr>
          <a:lstStyle/>
          <a:p>
            <a:pPr indent="0" lvl="0" marL="0" marR="0" rtl="0" algn="ctr">
              <a:lnSpc>
                <a:spcPct val="100000"/>
              </a:lnSpc>
              <a:spcBef>
                <a:spcPts val="0"/>
              </a:spcBef>
              <a:spcAft>
                <a:spcPts val="0"/>
              </a:spcAft>
              <a:buNone/>
            </a:pPr>
            <a:r>
              <a:rPr b="1" lang="es-419" sz="1262">
                <a:solidFill>
                  <a:schemeClr val="lt1"/>
                </a:solidFill>
                <a:latin typeface="Oswald"/>
                <a:ea typeface="Oswald"/>
                <a:cs typeface="Oswald"/>
                <a:sym typeface="Oswald"/>
              </a:rPr>
              <a:t>Clean</a:t>
            </a:r>
            <a:endParaRPr b="1" sz="1262">
              <a:latin typeface="Oswald"/>
              <a:ea typeface="Oswald"/>
              <a:cs typeface="Oswald"/>
              <a:sym typeface="Oswald"/>
            </a:endParaRPr>
          </a:p>
        </p:txBody>
      </p:sp>
      <p:sp>
        <p:nvSpPr>
          <p:cNvPr id="180" name="Google Shape;180;p20"/>
          <p:cNvSpPr/>
          <p:nvPr/>
        </p:nvSpPr>
        <p:spPr>
          <a:xfrm>
            <a:off x="680143" y="5917889"/>
            <a:ext cx="1010700" cy="393000"/>
          </a:xfrm>
          <a:prstGeom prst="roundRect">
            <a:avLst>
              <a:gd fmla="val 16667" name="adj"/>
            </a:avLst>
          </a:prstGeom>
          <a:solidFill>
            <a:srgbClr val="3775A8"/>
          </a:solidFill>
          <a:ln cap="flat" cmpd="sng" w="17175">
            <a:solidFill>
              <a:srgbClr val="FBBD05"/>
            </a:solidFill>
            <a:prstDash val="solid"/>
            <a:round/>
            <a:headEnd len="sm" w="sm" type="none"/>
            <a:tailEnd len="sm" w="sm" type="none"/>
          </a:ln>
        </p:spPr>
        <p:txBody>
          <a:bodyPr anchorCtr="0" anchor="ctr" bIns="82400" lIns="82400" spcFirstLastPara="1" rIns="82400" wrap="square" tIns="82400">
            <a:noAutofit/>
          </a:bodyPr>
          <a:lstStyle/>
          <a:p>
            <a:pPr indent="0" lvl="0" marL="0" marR="0" rtl="0" algn="ctr">
              <a:lnSpc>
                <a:spcPct val="100000"/>
              </a:lnSpc>
              <a:spcBef>
                <a:spcPts val="0"/>
              </a:spcBef>
              <a:spcAft>
                <a:spcPts val="0"/>
              </a:spcAft>
              <a:buNone/>
            </a:pPr>
            <a:r>
              <a:rPr b="1" lang="es-419" sz="1262">
                <a:solidFill>
                  <a:schemeClr val="lt1"/>
                </a:solidFill>
                <a:latin typeface="Oswald"/>
                <a:ea typeface="Oswald"/>
                <a:cs typeface="Oswald"/>
                <a:sym typeface="Oswald"/>
              </a:rPr>
              <a:t>Extract API</a:t>
            </a:r>
            <a:endParaRPr b="1" sz="1262">
              <a:solidFill>
                <a:schemeClr val="lt1"/>
              </a:solidFill>
              <a:latin typeface="Oswald"/>
              <a:ea typeface="Oswald"/>
              <a:cs typeface="Oswald"/>
              <a:sym typeface="Oswald"/>
            </a:endParaRPr>
          </a:p>
        </p:txBody>
      </p:sp>
      <p:sp>
        <p:nvSpPr>
          <p:cNvPr id="181" name="Google Shape;181;p20"/>
          <p:cNvSpPr/>
          <p:nvPr/>
        </p:nvSpPr>
        <p:spPr>
          <a:xfrm>
            <a:off x="1926506" y="5917889"/>
            <a:ext cx="1010700" cy="393000"/>
          </a:xfrm>
          <a:prstGeom prst="roundRect">
            <a:avLst>
              <a:gd fmla="val 16667" name="adj"/>
            </a:avLst>
          </a:prstGeom>
          <a:solidFill>
            <a:srgbClr val="3775A8"/>
          </a:solidFill>
          <a:ln cap="flat" cmpd="sng" w="17175">
            <a:solidFill>
              <a:srgbClr val="FBBD05"/>
            </a:solidFill>
            <a:prstDash val="solid"/>
            <a:round/>
            <a:headEnd len="sm" w="sm" type="none"/>
            <a:tailEnd len="sm" w="sm" type="none"/>
          </a:ln>
        </p:spPr>
        <p:txBody>
          <a:bodyPr anchorCtr="0" anchor="ctr" bIns="82400" lIns="82400" spcFirstLastPara="1" rIns="82400" wrap="square" tIns="82400">
            <a:noAutofit/>
          </a:bodyPr>
          <a:lstStyle/>
          <a:p>
            <a:pPr indent="0" lvl="0" marL="0" marR="0" rtl="0" algn="ctr">
              <a:lnSpc>
                <a:spcPct val="100000"/>
              </a:lnSpc>
              <a:spcBef>
                <a:spcPts val="0"/>
              </a:spcBef>
              <a:spcAft>
                <a:spcPts val="0"/>
              </a:spcAft>
              <a:buNone/>
            </a:pPr>
            <a:r>
              <a:rPr b="1" lang="es-419" sz="1262">
                <a:solidFill>
                  <a:schemeClr val="lt1"/>
                </a:solidFill>
                <a:latin typeface="Oswald"/>
                <a:ea typeface="Oswald"/>
                <a:cs typeface="Oswald"/>
                <a:sym typeface="Oswald"/>
              </a:rPr>
              <a:t>Clean</a:t>
            </a:r>
            <a:endParaRPr b="1" sz="1262">
              <a:solidFill>
                <a:schemeClr val="lt1"/>
              </a:solidFill>
              <a:latin typeface="Oswald"/>
              <a:ea typeface="Oswald"/>
              <a:cs typeface="Oswald"/>
              <a:sym typeface="Oswald"/>
            </a:endParaRPr>
          </a:p>
        </p:txBody>
      </p:sp>
      <p:sp>
        <p:nvSpPr>
          <p:cNvPr id="182" name="Google Shape;182;p20"/>
          <p:cNvSpPr/>
          <p:nvPr/>
        </p:nvSpPr>
        <p:spPr>
          <a:xfrm>
            <a:off x="2639412" y="4755109"/>
            <a:ext cx="1010700" cy="393000"/>
          </a:xfrm>
          <a:prstGeom prst="roundRect">
            <a:avLst>
              <a:gd fmla="val 16667" name="adj"/>
            </a:avLst>
          </a:prstGeom>
          <a:solidFill>
            <a:srgbClr val="3775A8"/>
          </a:solidFill>
          <a:ln cap="flat" cmpd="sng" w="17175">
            <a:solidFill>
              <a:srgbClr val="FBBD05"/>
            </a:solidFill>
            <a:prstDash val="solid"/>
            <a:round/>
            <a:headEnd len="sm" w="sm" type="none"/>
            <a:tailEnd len="sm" w="sm" type="none"/>
          </a:ln>
        </p:spPr>
        <p:txBody>
          <a:bodyPr anchorCtr="0" anchor="ctr" bIns="82400" lIns="82400" spcFirstLastPara="1" rIns="82400" wrap="square" tIns="82400">
            <a:noAutofit/>
          </a:bodyPr>
          <a:lstStyle/>
          <a:p>
            <a:pPr indent="0" lvl="0" marL="0" marR="0" rtl="0" algn="ctr">
              <a:lnSpc>
                <a:spcPct val="100000"/>
              </a:lnSpc>
              <a:spcBef>
                <a:spcPts val="0"/>
              </a:spcBef>
              <a:spcAft>
                <a:spcPts val="0"/>
              </a:spcAft>
              <a:buNone/>
            </a:pPr>
            <a:r>
              <a:rPr b="1" lang="es-419" sz="1262">
                <a:solidFill>
                  <a:schemeClr val="lt1"/>
                </a:solidFill>
                <a:latin typeface="Oswald"/>
                <a:ea typeface="Oswald"/>
                <a:cs typeface="Oswald"/>
                <a:sym typeface="Oswald"/>
              </a:rPr>
              <a:t>Merge</a:t>
            </a:r>
            <a:endParaRPr b="1" sz="1262">
              <a:solidFill>
                <a:schemeClr val="lt1"/>
              </a:solidFill>
              <a:latin typeface="Oswald"/>
              <a:ea typeface="Oswald"/>
              <a:cs typeface="Oswald"/>
              <a:sym typeface="Oswald"/>
            </a:endParaRPr>
          </a:p>
        </p:txBody>
      </p:sp>
      <p:sp>
        <p:nvSpPr>
          <p:cNvPr id="183" name="Google Shape;183;p20"/>
          <p:cNvSpPr/>
          <p:nvPr/>
        </p:nvSpPr>
        <p:spPr>
          <a:xfrm>
            <a:off x="3621093" y="6274512"/>
            <a:ext cx="1010700" cy="393000"/>
          </a:xfrm>
          <a:prstGeom prst="roundRect">
            <a:avLst>
              <a:gd fmla="val 16667" name="adj"/>
            </a:avLst>
          </a:prstGeom>
          <a:solidFill>
            <a:srgbClr val="FF6310"/>
          </a:solidFill>
          <a:ln cap="flat" cmpd="sng" w="17175">
            <a:solidFill>
              <a:srgbClr val="FBBD05"/>
            </a:solidFill>
            <a:prstDash val="solid"/>
            <a:round/>
            <a:headEnd len="sm" w="sm" type="none"/>
            <a:tailEnd len="sm" w="sm" type="none"/>
          </a:ln>
        </p:spPr>
        <p:txBody>
          <a:bodyPr anchorCtr="0" anchor="ctr" bIns="82400" lIns="82400" spcFirstLastPara="1" rIns="82400" wrap="square" tIns="82400">
            <a:noAutofit/>
          </a:bodyPr>
          <a:lstStyle/>
          <a:p>
            <a:pPr indent="0" lvl="0" marL="0" marR="0" rtl="0" algn="ctr">
              <a:lnSpc>
                <a:spcPct val="100000"/>
              </a:lnSpc>
              <a:spcBef>
                <a:spcPts val="0"/>
              </a:spcBef>
              <a:spcAft>
                <a:spcPts val="0"/>
              </a:spcAft>
              <a:buNone/>
            </a:pPr>
            <a:r>
              <a:rPr b="1" lang="es-419" sz="1262">
                <a:solidFill>
                  <a:schemeClr val="lt1"/>
                </a:solidFill>
                <a:latin typeface="Oswald"/>
                <a:ea typeface="Oswald"/>
                <a:cs typeface="Oswald"/>
                <a:sym typeface="Oswald"/>
              </a:rPr>
              <a:t>Validation</a:t>
            </a:r>
            <a:endParaRPr b="1" sz="1262">
              <a:solidFill>
                <a:schemeClr val="lt1"/>
              </a:solidFill>
              <a:latin typeface="Oswald"/>
              <a:ea typeface="Oswald"/>
              <a:cs typeface="Oswald"/>
              <a:sym typeface="Oswald"/>
            </a:endParaRPr>
          </a:p>
        </p:txBody>
      </p:sp>
      <p:sp>
        <p:nvSpPr>
          <p:cNvPr id="184" name="Google Shape;184;p20"/>
          <p:cNvSpPr/>
          <p:nvPr/>
        </p:nvSpPr>
        <p:spPr>
          <a:xfrm>
            <a:off x="4525363" y="4755109"/>
            <a:ext cx="1010700" cy="393000"/>
          </a:xfrm>
          <a:prstGeom prst="roundRect">
            <a:avLst>
              <a:gd fmla="val 16667" name="adj"/>
            </a:avLst>
          </a:prstGeom>
          <a:solidFill>
            <a:srgbClr val="3775A8"/>
          </a:solidFill>
          <a:ln cap="flat" cmpd="sng" w="17175">
            <a:solidFill>
              <a:srgbClr val="FBBD05"/>
            </a:solidFill>
            <a:prstDash val="solid"/>
            <a:round/>
            <a:headEnd len="sm" w="sm" type="none"/>
            <a:tailEnd len="sm" w="sm" type="none"/>
          </a:ln>
        </p:spPr>
        <p:txBody>
          <a:bodyPr anchorCtr="0" anchor="ctr" bIns="82400" lIns="82400" spcFirstLastPara="1" rIns="82400" wrap="square" tIns="82400">
            <a:noAutofit/>
          </a:bodyPr>
          <a:lstStyle/>
          <a:p>
            <a:pPr indent="0" lvl="0" marL="0" marR="0" rtl="0" algn="ctr">
              <a:lnSpc>
                <a:spcPct val="100000"/>
              </a:lnSpc>
              <a:spcBef>
                <a:spcPts val="0"/>
              </a:spcBef>
              <a:spcAft>
                <a:spcPts val="0"/>
              </a:spcAft>
              <a:buNone/>
            </a:pPr>
            <a:r>
              <a:rPr b="1" lang="es-419" sz="1262">
                <a:solidFill>
                  <a:schemeClr val="lt1"/>
                </a:solidFill>
                <a:latin typeface="Oswald"/>
                <a:ea typeface="Oswald"/>
                <a:cs typeface="Oswald"/>
                <a:sym typeface="Oswald"/>
              </a:rPr>
              <a:t>Transform</a:t>
            </a:r>
            <a:endParaRPr b="1" sz="1262">
              <a:solidFill>
                <a:schemeClr val="lt1"/>
              </a:solidFill>
              <a:latin typeface="Oswald"/>
              <a:ea typeface="Oswald"/>
              <a:cs typeface="Oswald"/>
              <a:sym typeface="Oswald"/>
            </a:endParaRPr>
          </a:p>
        </p:txBody>
      </p:sp>
      <p:sp>
        <p:nvSpPr>
          <p:cNvPr id="185" name="Google Shape;185;p20"/>
          <p:cNvSpPr/>
          <p:nvPr/>
        </p:nvSpPr>
        <p:spPr>
          <a:xfrm>
            <a:off x="4527513" y="5396927"/>
            <a:ext cx="1010700" cy="393000"/>
          </a:xfrm>
          <a:prstGeom prst="roundRect">
            <a:avLst>
              <a:gd fmla="val 16667" name="adj"/>
            </a:avLst>
          </a:prstGeom>
          <a:solidFill>
            <a:srgbClr val="3775A8"/>
          </a:solidFill>
          <a:ln cap="flat" cmpd="sng" w="17175">
            <a:solidFill>
              <a:srgbClr val="FBBD05"/>
            </a:solidFill>
            <a:prstDash val="solid"/>
            <a:round/>
            <a:headEnd len="sm" w="sm" type="none"/>
            <a:tailEnd len="sm" w="sm" type="none"/>
          </a:ln>
        </p:spPr>
        <p:txBody>
          <a:bodyPr anchorCtr="0" anchor="ctr" bIns="82400" lIns="82400" spcFirstLastPara="1" rIns="82400" wrap="square" tIns="82400">
            <a:noAutofit/>
          </a:bodyPr>
          <a:lstStyle/>
          <a:p>
            <a:pPr indent="0" lvl="0" marL="0" marR="0" rtl="0" algn="ctr">
              <a:lnSpc>
                <a:spcPct val="100000"/>
              </a:lnSpc>
              <a:spcBef>
                <a:spcPts val="0"/>
              </a:spcBef>
              <a:spcAft>
                <a:spcPts val="0"/>
              </a:spcAft>
              <a:buNone/>
            </a:pPr>
            <a:r>
              <a:rPr b="1" lang="es-419" sz="1262">
                <a:solidFill>
                  <a:schemeClr val="lt1"/>
                </a:solidFill>
                <a:latin typeface="Oswald"/>
                <a:ea typeface="Oswald"/>
                <a:cs typeface="Oswald"/>
                <a:sym typeface="Oswald"/>
              </a:rPr>
              <a:t>Load</a:t>
            </a:r>
            <a:endParaRPr b="1" sz="1262">
              <a:solidFill>
                <a:schemeClr val="lt1"/>
              </a:solidFill>
              <a:latin typeface="Oswald"/>
              <a:ea typeface="Oswald"/>
              <a:cs typeface="Oswald"/>
              <a:sym typeface="Oswald"/>
            </a:endParaRPr>
          </a:p>
        </p:txBody>
      </p:sp>
      <p:pic>
        <p:nvPicPr>
          <p:cNvPr id="186" name="Google Shape;186;p20"/>
          <p:cNvPicPr preferRelativeResize="0"/>
          <p:nvPr/>
        </p:nvPicPr>
        <p:blipFill>
          <a:blip r:embed="rId4">
            <a:alphaModFix/>
          </a:blip>
          <a:stretch>
            <a:fillRect/>
          </a:stretch>
        </p:blipFill>
        <p:spPr>
          <a:xfrm>
            <a:off x="823572" y="2221209"/>
            <a:ext cx="605569" cy="605546"/>
          </a:xfrm>
          <a:prstGeom prst="rect">
            <a:avLst/>
          </a:prstGeom>
          <a:noFill/>
          <a:ln>
            <a:noFill/>
          </a:ln>
        </p:spPr>
      </p:pic>
      <p:pic>
        <p:nvPicPr>
          <p:cNvPr id="187" name="Google Shape;187;p20"/>
          <p:cNvPicPr preferRelativeResize="0"/>
          <p:nvPr/>
        </p:nvPicPr>
        <p:blipFill>
          <a:blip r:embed="rId5">
            <a:alphaModFix/>
          </a:blip>
          <a:stretch>
            <a:fillRect/>
          </a:stretch>
        </p:blipFill>
        <p:spPr>
          <a:xfrm>
            <a:off x="3861597" y="2238587"/>
            <a:ext cx="605569" cy="585385"/>
          </a:xfrm>
          <a:prstGeom prst="rect">
            <a:avLst/>
          </a:prstGeom>
          <a:noFill/>
          <a:ln>
            <a:noFill/>
          </a:ln>
        </p:spPr>
      </p:pic>
      <p:sp>
        <p:nvSpPr>
          <p:cNvPr id="188" name="Google Shape;188;p20"/>
          <p:cNvSpPr/>
          <p:nvPr/>
        </p:nvSpPr>
        <p:spPr>
          <a:xfrm>
            <a:off x="446235" y="2896238"/>
            <a:ext cx="1481100" cy="393000"/>
          </a:xfrm>
          <a:prstGeom prst="roundRect">
            <a:avLst>
              <a:gd fmla="val 16667" name="adj"/>
            </a:avLst>
          </a:prstGeom>
          <a:solidFill>
            <a:srgbClr val="3775A8"/>
          </a:solidFill>
          <a:ln cap="flat" cmpd="sng" w="17175">
            <a:solidFill>
              <a:srgbClr val="6FA8DC"/>
            </a:solidFill>
            <a:prstDash val="solid"/>
            <a:round/>
            <a:headEnd len="sm" w="sm" type="none"/>
            <a:tailEnd len="sm" w="sm" type="none"/>
          </a:ln>
        </p:spPr>
        <p:txBody>
          <a:bodyPr anchorCtr="0" anchor="ctr" bIns="82400" lIns="82400" spcFirstLastPara="1" rIns="82400" wrap="square" tIns="82400">
            <a:noAutofit/>
          </a:bodyPr>
          <a:lstStyle/>
          <a:p>
            <a:pPr indent="0" lvl="0" marL="0" rtl="0" algn="ctr">
              <a:spcBef>
                <a:spcPts val="0"/>
              </a:spcBef>
              <a:spcAft>
                <a:spcPts val="0"/>
              </a:spcAft>
              <a:buNone/>
            </a:pPr>
            <a:r>
              <a:rPr b="1" lang="es-419" sz="1262">
                <a:solidFill>
                  <a:schemeClr val="lt1"/>
                </a:solidFill>
                <a:latin typeface="Oswald"/>
                <a:ea typeface="Oswald"/>
                <a:cs typeface="Oswald"/>
                <a:sym typeface="Oswald"/>
              </a:rPr>
              <a:t>educacionCol.csv</a:t>
            </a:r>
            <a:endParaRPr b="1" sz="1262">
              <a:solidFill>
                <a:schemeClr val="lt1"/>
              </a:solidFill>
              <a:latin typeface="Oswald"/>
              <a:ea typeface="Oswald"/>
              <a:cs typeface="Oswald"/>
              <a:sym typeface="Oswald"/>
            </a:endParaRPr>
          </a:p>
        </p:txBody>
      </p:sp>
      <p:sp>
        <p:nvSpPr>
          <p:cNvPr id="189" name="Google Shape;189;p20"/>
          <p:cNvSpPr/>
          <p:nvPr/>
        </p:nvSpPr>
        <p:spPr>
          <a:xfrm>
            <a:off x="3529697" y="2903538"/>
            <a:ext cx="1269300" cy="393000"/>
          </a:xfrm>
          <a:prstGeom prst="roundRect">
            <a:avLst>
              <a:gd fmla="val 16667" name="adj"/>
            </a:avLst>
          </a:prstGeom>
          <a:solidFill>
            <a:srgbClr val="4C4C4C"/>
          </a:solidFill>
          <a:ln cap="flat" cmpd="sng" w="17175">
            <a:solidFill>
              <a:srgbClr val="B8B8B8"/>
            </a:solidFill>
            <a:prstDash val="solid"/>
            <a:round/>
            <a:headEnd len="sm" w="sm" type="none"/>
            <a:tailEnd len="sm" w="sm" type="none"/>
          </a:ln>
        </p:spPr>
        <p:txBody>
          <a:bodyPr anchorCtr="0" anchor="ctr" bIns="82400" lIns="82400" spcFirstLastPara="1" rIns="82400" wrap="square" tIns="82400">
            <a:noAutofit/>
          </a:bodyPr>
          <a:lstStyle/>
          <a:p>
            <a:pPr indent="0" lvl="0" marL="0" rtl="0" algn="ctr">
              <a:spcBef>
                <a:spcPts val="0"/>
              </a:spcBef>
              <a:spcAft>
                <a:spcPts val="0"/>
              </a:spcAft>
              <a:buNone/>
            </a:pPr>
            <a:r>
              <a:rPr b="1" lang="es-419" sz="1262">
                <a:solidFill>
                  <a:srgbClr val="F37726"/>
                </a:solidFill>
                <a:latin typeface="Oswald"/>
                <a:ea typeface="Oswald"/>
                <a:cs typeface="Oswald"/>
                <a:sym typeface="Oswald"/>
              </a:rPr>
              <a:t>Data Profiling</a:t>
            </a:r>
            <a:r>
              <a:rPr b="1" lang="es-419" sz="1262">
                <a:latin typeface="Oswald"/>
                <a:ea typeface="Oswald"/>
                <a:cs typeface="Oswald"/>
                <a:sym typeface="Oswald"/>
              </a:rPr>
              <a:t> </a:t>
            </a:r>
            <a:r>
              <a:rPr b="1" lang="es-419" sz="1262">
                <a:solidFill>
                  <a:srgbClr val="B8B8B8"/>
                </a:solidFill>
                <a:latin typeface="Oswald"/>
                <a:ea typeface="Oswald"/>
                <a:cs typeface="Oswald"/>
                <a:sym typeface="Oswald"/>
              </a:rPr>
              <a:t>-</a:t>
            </a:r>
            <a:r>
              <a:rPr b="1" lang="es-419" sz="1262">
                <a:latin typeface="Oswald"/>
                <a:ea typeface="Oswald"/>
                <a:cs typeface="Oswald"/>
                <a:sym typeface="Oswald"/>
              </a:rPr>
              <a:t> </a:t>
            </a:r>
            <a:r>
              <a:rPr b="1" lang="es-419" sz="1262">
                <a:solidFill>
                  <a:srgbClr val="F37726"/>
                </a:solidFill>
                <a:latin typeface="Oswald"/>
                <a:ea typeface="Oswald"/>
                <a:cs typeface="Oswald"/>
                <a:sym typeface="Oswald"/>
              </a:rPr>
              <a:t>EDA</a:t>
            </a:r>
            <a:endParaRPr b="1" sz="1262">
              <a:solidFill>
                <a:srgbClr val="B8B8B8"/>
              </a:solidFill>
              <a:latin typeface="Oswald"/>
              <a:ea typeface="Oswald"/>
              <a:cs typeface="Oswald"/>
              <a:sym typeface="Oswald"/>
            </a:endParaRPr>
          </a:p>
        </p:txBody>
      </p:sp>
      <p:sp>
        <p:nvSpPr>
          <p:cNvPr id="190" name="Google Shape;190;p20"/>
          <p:cNvSpPr/>
          <p:nvPr/>
        </p:nvSpPr>
        <p:spPr>
          <a:xfrm>
            <a:off x="9643573" y="2903538"/>
            <a:ext cx="932100" cy="393000"/>
          </a:xfrm>
          <a:prstGeom prst="roundRect">
            <a:avLst>
              <a:gd fmla="val 16667" name="adj"/>
            </a:avLst>
          </a:prstGeom>
          <a:solidFill>
            <a:schemeClr val="lt1"/>
          </a:solidFill>
          <a:ln cap="flat" cmpd="sng" w="17175">
            <a:solidFill>
              <a:srgbClr val="3D85C6"/>
            </a:solidFill>
            <a:prstDash val="solid"/>
            <a:round/>
            <a:headEnd len="sm" w="sm" type="none"/>
            <a:tailEnd len="sm" w="sm" type="none"/>
          </a:ln>
        </p:spPr>
        <p:txBody>
          <a:bodyPr anchorCtr="0" anchor="ctr" bIns="82400" lIns="82400" spcFirstLastPara="1" rIns="82400" wrap="square" tIns="82400">
            <a:noAutofit/>
          </a:bodyPr>
          <a:lstStyle/>
          <a:p>
            <a:pPr indent="0" lvl="0" marL="0" marR="0" rtl="0" algn="ctr">
              <a:lnSpc>
                <a:spcPct val="100000"/>
              </a:lnSpc>
              <a:spcBef>
                <a:spcPts val="0"/>
              </a:spcBef>
              <a:spcAft>
                <a:spcPts val="0"/>
              </a:spcAft>
              <a:buNone/>
            </a:pPr>
            <a:r>
              <a:rPr b="1" lang="es-419" sz="1262">
                <a:solidFill>
                  <a:srgbClr val="031952"/>
                </a:solidFill>
                <a:latin typeface="Oswald"/>
                <a:ea typeface="Oswald"/>
                <a:cs typeface="Oswald"/>
                <a:sym typeface="Oswald"/>
              </a:rPr>
              <a:t>Read API</a:t>
            </a:r>
            <a:endParaRPr b="1" sz="1262">
              <a:solidFill>
                <a:srgbClr val="031952"/>
              </a:solidFill>
              <a:latin typeface="Oswald"/>
              <a:ea typeface="Oswald"/>
              <a:cs typeface="Oswald"/>
              <a:sym typeface="Oswald"/>
            </a:endParaRPr>
          </a:p>
        </p:txBody>
      </p:sp>
      <p:pic>
        <p:nvPicPr>
          <p:cNvPr id="191" name="Google Shape;191;p20"/>
          <p:cNvPicPr preferRelativeResize="0"/>
          <p:nvPr/>
        </p:nvPicPr>
        <p:blipFill>
          <a:blip r:embed="rId6">
            <a:alphaModFix/>
          </a:blip>
          <a:stretch>
            <a:fillRect/>
          </a:stretch>
        </p:blipFill>
        <p:spPr>
          <a:xfrm>
            <a:off x="9734307" y="4945475"/>
            <a:ext cx="750652" cy="750652"/>
          </a:xfrm>
          <a:prstGeom prst="rect">
            <a:avLst/>
          </a:prstGeom>
          <a:noFill/>
          <a:ln>
            <a:noFill/>
          </a:ln>
        </p:spPr>
      </p:pic>
      <p:sp>
        <p:nvSpPr>
          <p:cNvPr id="192" name="Google Shape;192;p20"/>
          <p:cNvSpPr/>
          <p:nvPr/>
        </p:nvSpPr>
        <p:spPr>
          <a:xfrm>
            <a:off x="9525542" y="5962836"/>
            <a:ext cx="1168200" cy="329100"/>
          </a:xfrm>
          <a:prstGeom prst="roundRect">
            <a:avLst>
              <a:gd fmla="val 16667" name="adj"/>
            </a:avLst>
          </a:prstGeom>
          <a:solidFill>
            <a:schemeClr val="lt1"/>
          </a:solidFill>
          <a:ln cap="flat" cmpd="sng" w="17175">
            <a:solidFill>
              <a:srgbClr val="3D85C6"/>
            </a:solidFill>
            <a:prstDash val="solid"/>
            <a:round/>
            <a:headEnd len="sm" w="sm" type="none"/>
            <a:tailEnd len="sm" w="sm" type="none"/>
          </a:ln>
        </p:spPr>
        <p:txBody>
          <a:bodyPr anchorCtr="0" anchor="ctr" bIns="82400" lIns="82400" spcFirstLastPara="1" rIns="82400" wrap="square" tIns="82400">
            <a:noAutofit/>
          </a:bodyPr>
          <a:lstStyle/>
          <a:p>
            <a:pPr indent="0" lvl="0" marL="0" rtl="0" algn="ctr">
              <a:spcBef>
                <a:spcPts val="0"/>
              </a:spcBef>
              <a:spcAft>
                <a:spcPts val="0"/>
              </a:spcAft>
              <a:buNone/>
            </a:pPr>
            <a:r>
              <a:rPr b="1" lang="es-419" sz="1262">
                <a:solidFill>
                  <a:srgbClr val="031952"/>
                </a:solidFill>
                <a:latin typeface="Oswald"/>
                <a:ea typeface="Oswald"/>
                <a:cs typeface="Oswald"/>
                <a:sym typeface="Oswald"/>
              </a:rPr>
              <a:t>ICETEX API</a:t>
            </a:r>
            <a:endParaRPr b="1" sz="1262">
              <a:solidFill>
                <a:srgbClr val="031952"/>
              </a:solidFill>
              <a:latin typeface="Oswald"/>
              <a:ea typeface="Oswald"/>
              <a:cs typeface="Oswald"/>
              <a:sym typeface="Oswald"/>
            </a:endParaRPr>
          </a:p>
        </p:txBody>
      </p:sp>
      <p:pic>
        <p:nvPicPr>
          <p:cNvPr id="193" name="Google Shape;193;p20"/>
          <p:cNvPicPr preferRelativeResize="0"/>
          <p:nvPr/>
        </p:nvPicPr>
        <p:blipFill>
          <a:blip r:embed="rId7">
            <a:alphaModFix/>
          </a:blip>
          <a:stretch>
            <a:fillRect/>
          </a:stretch>
        </p:blipFill>
        <p:spPr>
          <a:xfrm>
            <a:off x="572665" y="4914871"/>
            <a:ext cx="605569" cy="605569"/>
          </a:xfrm>
          <a:prstGeom prst="rect">
            <a:avLst/>
          </a:prstGeom>
          <a:noFill/>
          <a:ln>
            <a:noFill/>
          </a:ln>
        </p:spPr>
      </p:pic>
      <p:pic>
        <p:nvPicPr>
          <p:cNvPr id="194" name="Google Shape;194;p20"/>
          <p:cNvPicPr preferRelativeResize="0"/>
          <p:nvPr/>
        </p:nvPicPr>
        <p:blipFill>
          <a:blip r:embed="rId8">
            <a:alphaModFix/>
          </a:blip>
          <a:stretch>
            <a:fillRect/>
          </a:stretch>
        </p:blipFill>
        <p:spPr>
          <a:xfrm>
            <a:off x="1270122" y="4914850"/>
            <a:ext cx="605569" cy="605569"/>
          </a:xfrm>
          <a:prstGeom prst="rect">
            <a:avLst/>
          </a:prstGeom>
          <a:noFill/>
          <a:ln>
            <a:noFill/>
          </a:ln>
        </p:spPr>
      </p:pic>
      <p:pic>
        <p:nvPicPr>
          <p:cNvPr id="195" name="Google Shape;195;p20"/>
          <p:cNvPicPr preferRelativeResize="0"/>
          <p:nvPr/>
        </p:nvPicPr>
        <p:blipFill>
          <a:blip r:embed="rId9">
            <a:alphaModFix/>
          </a:blip>
          <a:stretch>
            <a:fillRect/>
          </a:stretch>
        </p:blipFill>
        <p:spPr>
          <a:xfrm>
            <a:off x="1967594" y="4923177"/>
            <a:ext cx="605568" cy="574724"/>
          </a:xfrm>
          <a:prstGeom prst="rect">
            <a:avLst/>
          </a:prstGeom>
          <a:noFill/>
          <a:ln>
            <a:noFill/>
          </a:ln>
        </p:spPr>
      </p:pic>
      <p:pic>
        <p:nvPicPr>
          <p:cNvPr id="196" name="Google Shape;196;p20"/>
          <p:cNvPicPr preferRelativeResize="0"/>
          <p:nvPr/>
        </p:nvPicPr>
        <p:blipFill>
          <a:blip r:embed="rId10">
            <a:alphaModFix/>
          </a:blip>
          <a:stretch>
            <a:fillRect/>
          </a:stretch>
        </p:blipFill>
        <p:spPr>
          <a:xfrm>
            <a:off x="1105800" y="1266418"/>
            <a:ext cx="605569" cy="605569"/>
          </a:xfrm>
          <a:prstGeom prst="rect">
            <a:avLst/>
          </a:prstGeom>
          <a:noFill/>
          <a:ln>
            <a:noFill/>
          </a:ln>
        </p:spPr>
      </p:pic>
      <p:sp>
        <p:nvSpPr>
          <p:cNvPr id="197" name="Google Shape;197;p20"/>
          <p:cNvSpPr/>
          <p:nvPr/>
        </p:nvSpPr>
        <p:spPr>
          <a:xfrm>
            <a:off x="1690700" y="1372702"/>
            <a:ext cx="1635300" cy="393000"/>
          </a:xfrm>
          <a:prstGeom prst="roundRect">
            <a:avLst>
              <a:gd fmla="val 16667" name="adj"/>
            </a:avLst>
          </a:prstGeom>
          <a:noFill/>
          <a:ln cap="flat" cmpd="sng" w="17175">
            <a:solidFill>
              <a:srgbClr val="980000"/>
            </a:solidFill>
            <a:prstDash val="solid"/>
            <a:round/>
            <a:headEnd len="sm" w="sm" type="none"/>
            <a:tailEnd len="sm" w="sm" type="none"/>
          </a:ln>
        </p:spPr>
        <p:txBody>
          <a:bodyPr anchorCtr="0" anchor="ctr" bIns="82400" lIns="82400" spcFirstLastPara="1" rIns="82400" wrap="square" tIns="82400">
            <a:noAutofit/>
          </a:bodyPr>
          <a:lstStyle/>
          <a:p>
            <a:pPr indent="0" lvl="0" marL="0" rtl="0" algn="ctr">
              <a:spcBef>
                <a:spcPts val="0"/>
              </a:spcBef>
              <a:spcAft>
                <a:spcPts val="0"/>
              </a:spcAft>
              <a:buNone/>
            </a:pPr>
            <a:r>
              <a:rPr b="1" lang="es-419" sz="1262">
                <a:solidFill>
                  <a:srgbClr val="EA4335"/>
                </a:solidFill>
                <a:latin typeface="Oswald"/>
                <a:ea typeface="Oswald"/>
                <a:cs typeface="Oswald"/>
                <a:sym typeface="Oswald"/>
              </a:rPr>
              <a:t>Google</a:t>
            </a:r>
            <a:r>
              <a:rPr b="1" lang="es-419" sz="1262">
                <a:latin typeface="Oswald"/>
                <a:ea typeface="Oswald"/>
                <a:cs typeface="Oswald"/>
                <a:sym typeface="Oswald"/>
              </a:rPr>
              <a:t> </a:t>
            </a:r>
            <a:r>
              <a:rPr b="1" lang="es-419" sz="1262">
                <a:solidFill>
                  <a:srgbClr val="FBBD05"/>
                </a:solidFill>
                <a:latin typeface="Oswald"/>
                <a:ea typeface="Oswald"/>
                <a:cs typeface="Oswald"/>
                <a:sym typeface="Oswald"/>
              </a:rPr>
              <a:t>Data</a:t>
            </a:r>
            <a:r>
              <a:rPr b="1" lang="es-419" sz="1262">
                <a:latin typeface="Oswald"/>
                <a:ea typeface="Oswald"/>
                <a:cs typeface="Oswald"/>
                <a:sym typeface="Oswald"/>
              </a:rPr>
              <a:t> </a:t>
            </a:r>
            <a:r>
              <a:rPr b="1" lang="es-419" sz="1262">
                <a:solidFill>
                  <a:srgbClr val="34A853"/>
                </a:solidFill>
                <a:latin typeface="Oswald"/>
                <a:ea typeface="Oswald"/>
                <a:cs typeface="Oswald"/>
                <a:sym typeface="Oswald"/>
              </a:rPr>
              <a:t>Studio</a:t>
            </a:r>
            <a:r>
              <a:rPr b="1" lang="es-419" sz="1262">
                <a:latin typeface="Oswald"/>
                <a:ea typeface="Oswald"/>
                <a:cs typeface="Oswald"/>
                <a:sym typeface="Oswald"/>
              </a:rPr>
              <a:t> </a:t>
            </a:r>
            <a:r>
              <a:rPr b="1" lang="es-419" sz="1262">
                <a:solidFill>
                  <a:srgbClr val="4285F4"/>
                </a:solidFill>
                <a:latin typeface="Oswald"/>
                <a:ea typeface="Oswald"/>
                <a:cs typeface="Oswald"/>
                <a:sym typeface="Oswald"/>
              </a:rPr>
              <a:t>Dashboard</a:t>
            </a:r>
            <a:endParaRPr b="1" sz="1262">
              <a:solidFill>
                <a:srgbClr val="4285F4"/>
              </a:solidFill>
              <a:latin typeface="Oswald"/>
              <a:ea typeface="Oswald"/>
              <a:cs typeface="Oswald"/>
              <a:sym typeface="Oswald"/>
            </a:endParaRPr>
          </a:p>
        </p:txBody>
      </p:sp>
      <p:sp>
        <p:nvSpPr>
          <p:cNvPr id="198" name="Google Shape;198;p20"/>
          <p:cNvSpPr/>
          <p:nvPr/>
        </p:nvSpPr>
        <p:spPr>
          <a:xfrm>
            <a:off x="7135190" y="159550"/>
            <a:ext cx="3506400" cy="1479600"/>
          </a:xfrm>
          <a:prstGeom prst="roundRect">
            <a:avLst>
              <a:gd fmla="val 16667" name="adj"/>
            </a:avLst>
          </a:prstGeom>
          <a:noFill/>
          <a:ln cap="flat" cmpd="sng" w="25750">
            <a:solidFill>
              <a:srgbClr val="0B5394"/>
            </a:solidFill>
            <a:prstDash val="solid"/>
            <a:round/>
            <a:headEnd len="sm" w="sm" type="none"/>
            <a:tailEnd len="sm" w="sm" type="none"/>
          </a:ln>
        </p:spPr>
        <p:txBody>
          <a:bodyPr anchorCtr="0" anchor="ctr" bIns="82400" lIns="82400" spcFirstLastPara="1" rIns="82400" wrap="square" tIns="82400">
            <a:noAutofit/>
          </a:bodyPr>
          <a:lstStyle/>
          <a:p>
            <a:pPr indent="0" lvl="0" marL="0" rtl="0" algn="ctr">
              <a:spcBef>
                <a:spcPts val="0"/>
              </a:spcBef>
              <a:spcAft>
                <a:spcPts val="0"/>
              </a:spcAft>
              <a:buNone/>
            </a:pPr>
            <a:r>
              <a:t/>
            </a:r>
            <a:endParaRPr sz="1262"/>
          </a:p>
        </p:txBody>
      </p:sp>
      <p:cxnSp>
        <p:nvCxnSpPr>
          <p:cNvPr id="199" name="Google Shape;199;p20"/>
          <p:cNvCxnSpPr>
            <a:stCxn id="178" idx="3"/>
            <a:endCxn id="179" idx="1"/>
          </p:cNvCxnSpPr>
          <p:nvPr/>
        </p:nvCxnSpPr>
        <p:spPr>
          <a:xfrm>
            <a:off x="1690693" y="4162352"/>
            <a:ext cx="235800" cy="0"/>
          </a:xfrm>
          <a:prstGeom prst="straightConnector1">
            <a:avLst/>
          </a:prstGeom>
          <a:noFill/>
          <a:ln cap="flat" cmpd="sng" w="9525">
            <a:solidFill>
              <a:srgbClr val="F1C232"/>
            </a:solidFill>
            <a:prstDash val="solid"/>
            <a:round/>
            <a:headEnd len="med" w="med" type="none"/>
            <a:tailEnd len="med" w="med" type="triangle"/>
          </a:ln>
        </p:spPr>
      </p:cxnSp>
      <p:cxnSp>
        <p:nvCxnSpPr>
          <p:cNvPr id="200" name="Google Shape;200;p20"/>
          <p:cNvCxnSpPr>
            <a:stCxn id="180" idx="3"/>
            <a:endCxn id="181" idx="1"/>
          </p:cNvCxnSpPr>
          <p:nvPr/>
        </p:nvCxnSpPr>
        <p:spPr>
          <a:xfrm>
            <a:off x="1690843" y="6114389"/>
            <a:ext cx="235800" cy="0"/>
          </a:xfrm>
          <a:prstGeom prst="straightConnector1">
            <a:avLst/>
          </a:prstGeom>
          <a:noFill/>
          <a:ln cap="flat" cmpd="sng" w="9525">
            <a:solidFill>
              <a:srgbClr val="F1C232"/>
            </a:solidFill>
            <a:prstDash val="solid"/>
            <a:round/>
            <a:headEnd len="med" w="med" type="none"/>
            <a:tailEnd len="med" w="med" type="triangle"/>
          </a:ln>
        </p:spPr>
      </p:cxnSp>
      <p:cxnSp>
        <p:nvCxnSpPr>
          <p:cNvPr id="201" name="Google Shape;201;p20"/>
          <p:cNvCxnSpPr>
            <a:stCxn id="179" idx="3"/>
            <a:endCxn id="182" idx="0"/>
          </p:cNvCxnSpPr>
          <p:nvPr/>
        </p:nvCxnSpPr>
        <p:spPr>
          <a:xfrm>
            <a:off x="2937054" y="4162352"/>
            <a:ext cx="207600" cy="592800"/>
          </a:xfrm>
          <a:prstGeom prst="bentConnector2">
            <a:avLst/>
          </a:prstGeom>
          <a:noFill/>
          <a:ln cap="flat" cmpd="sng" w="9525">
            <a:solidFill>
              <a:srgbClr val="F1C232"/>
            </a:solidFill>
            <a:prstDash val="solid"/>
            <a:round/>
            <a:headEnd len="med" w="med" type="none"/>
            <a:tailEnd len="med" w="med" type="triangle"/>
          </a:ln>
        </p:spPr>
      </p:cxnSp>
      <p:cxnSp>
        <p:nvCxnSpPr>
          <p:cNvPr id="202" name="Google Shape;202;p20"/>
          <p:cNvCxnSpPr>
            <a:stCxn id="181" idx="3"/>
            <a:endCxn id="182" idx="2"/>
          </p:cNvCxnSpPr>
          <p:nvPr/>
        </p:nvCxnSpPr>
        <p:spPr>
          <a:xfrm flipH="1" rot="10800000">
            <a:off x="2937206" y="5148089"/>
            <a:ext cx="207600" cy="966300"/>
          </a:xfrm>
          <a:prstGeom prst="bentConnector2">
            <a:avLst/>
          </a:prstGeom>
          <a:noFill/>
          <a:ln cap="flat" cmpd="sng" w="9525">
            <a:solidFill>
              <a:srgbClr val="F1C232"/>
            </a:solidFill>
            <a:prstDash val="solid"/>
            <a:round/>
            <a:headEnd len="med" w="med" type="none"/>
            <a:tailEnd len="med" w="med" type="triangle"/>
          </a:ln>
        </p:spPr>
      </p:cxnSp>
      <p:pic>
        <p:nvPicPr>
          <p:cNvPr id="203" name="Google Shape;203;p20"/>
          <p:cNvPicPr preferRelativeResize="0"/>
          <p:nvPr/>
        </p:nvPicPr>
        <p:blipFill>
          <a:blip r:embed="rId11">
            <a:alphaModFix/>
          </a:blip>
          <a:stretch>
            <a:fillRect/>
          </a:stretch>
        </p:blipFill>
        <p:spPr>
          <a:xfrm>
            <a:off x="3839089" y="5655188"/>
            <a:ext cx="574725" cy="574725"/>
          </a:xfrm>
          <a:prstGeom prst="rect">
            <a:avLst/>
          </a:prstGeom>
          <a:noFill/>
          <a:ln>
            <a:noFill/>
          </a:ln>
        </p:spPr>
      </p:pic>
      <p:cxnSp>
        <p:nvCxnSpPr>
          <p:cNvPr id="204" name="Google Shape;204;p20"/>
          <p:cNvCxnSpPr>
            <a:stCxn id="203" idx="0"/>
            <a:endCxn id="182" idx="3"/>
          </p:cNvCxnSpPr>
          <p:nvPr/>
        </p:nvCxnSpPr>
        <p:spPr>
          <a:xfrm flipH="1" rot="5400000">
            <a:off x="3536501" y="5065238"/>
            <a:ext cx="703500" cy="476400"/>
          </a:xfrm>
          <a:prstGeom prst="bentConnector2">
            <a:avLst/>
          </a:prstGeom>
          <a:noFill/>
          <a:ln cap="flat" cmpd="sng" w="9525">
            <a:solidFill>
              <a:srgbClr val="FF6310"/>
            </a:solidFill>
            <a:prstDash val="dash"/>
            <a:round/>
            <a:headEnd len="med" w="med" type="none"/>
            <a:tailEnd len="med" w="med" type="none"/>
          </a:ln>
        </p:spPr>
      </p:cxnSp>
      <p:pic>
        <p:nvPicPr>
          <p:cNvPr id="205" name="Google Shape;205;p20"/>
          <p:cNvPicPr preferRelativeResize="0"/>
          <p:nvPr/>
        </p:nvPicPr>
        <p:blipFill>
          <a:blip r:embed="rId9">
            <a:alphaModFix/>
          </a:blip>
          <a:stretch>
            <a:fillRect/>
          </a:stretch>
        </p:blipFill>
        <p:spPr>
          <a:xfrm>
            <a:off x="6815107" y="5782691"/>
            <a:ext cx="505498" cy="402849"/>
          </a:xfrm>
          <a:prstGeom prst="rect">
            <a:avLst/>
          </a:prstGeom>
          <a:noFill/>
          <a:ln>
            <a:noFill/>
          </a:ln>
        </p:spPr>
      </p:pic>
      <p:pic>
        <p:nvPicPr>
          <p:cNvPr id="206" name="Google Shape;206;p20"/>
          <p:cNvPicPr preferRelativeResize="0"/>
          <p:nvPr/>
        </p:nvPicPr>
        <p:blipFill>
          <a:blip r:embed="rId12">
            <a:alphaModFix/>
          </a:blip>
          <a:stretch>
            <a:fillRect/>
          </a:stretch>
        </p:blipFill>
        <p:spPr>
          <a:xfrm>
            <a:off x="6927241" y="6199850"/>
            <a:ext cx="1562957" cy="750649"/>
          </a:xfrm>
          <a:prstGeom prst="rect">
            <a:avLst/>
          </a:prstGeom>
          <a:noFill/>
          <a:ln>
            <a:noFill/>
          </a:ln>
        </p:spPr>
      </p:pic>
      <p:cxnSp>
        <p:nvCxnSpPr>
          <p:cNvPr id="207" name="Google Shape;207;p20"/>
          <p:cNvCxnSpPr>
            <a:stCxn id="176" idx="0"/>
            <a:endCxn id="197" idx="3"/>
          </p:cNvCxnSpPr>
          <p:nvPr/>
        </p:nvCxnSpPr>
        <p:spPr>
          <a:xfrm flipH="1" rot="5400000">
            <a:off x="3193883" y="1701300"/>
            <a:ext cx="3678000" cy="3414000"/>
          </a:xfrm>
          <a:prstGeom prst="bentConnector2">
            <a:avLst/>
          </a:prstGeom>
          <a:noFill/>
          <a:ln cap="flat" cmpd="sng" w="9525">
            <a:solidFill>
              <a:srgbClr val="DD4814"/>
            </a:solidFill>
            <a:prstDash val="dash"/>
            <a:round/>
            <a:headEnd len="med" w="med" type="none"/>
            <a:tailEnd len="med" w="med" type="triangle"/>
          </a:ln>
        </p:spPr>
      </p:cxnSp>
      <p:cxnSp>
        <p:nvCxnSpPr>
          <p:cNvPr id="208" name="Google Shape;208;p20"/>
          <p:cNvCxnSpPr>
            <a:stCxn id="192" idx="2"/>
            <a:endCxn id="180" idx="2"/>
          </p:cNvCxnSpPr>
          <p:nvPr/>
        </p:nvCxnSpPr>
        <p:spPr>
          <a:xfrm rot="5400000">
            <a:off x="5638142" y="1839336"/>
            <a:ext cx="18900" cy="8924100"/>
          </a:xfrm>
          <a:prstGeom prst="bentConnector3">
            <a:avLst>
              <a:gd fmla="val 4290949" name="adj1"/>
            </a:avLst>
          </a:prstGeom>
          <a:noFill/>
          <a:ln cap="flat" cmpd="sng" w="19050">
            <a:solidFill>
              <a:srgbClr val="980000"/>
            </a:solidFill>
            <a:prstDash val="dash"/>
            <a:round/>
            <a:headEnd len="med" w="med" type="none"/>
            <a:tailEnd len="med" w="med" type="triangle"/>
          </a:ln>
        </p:spPr>
      </p:cxnSp>
      <p:cxnSp>
        <p:nvCxnSpPr>
          <p:cNvPr id="209" name="Google Shape;209;p20"/>
          <p:cNvCxnSpPr>
            <a:stCxn id="189" idx="3"/>
            <a:endCxn id="190" idx="1"/>
          </p:cNvCxnSpPr>
          <p:nvPr/>
        </p:nvCxnSpPr>
        <p:spPr>
          <a:xfrm>
            <a:off x="4798997" y="3100038"/>
            <a:ext cx="4844700" cy="600"/>
          </a:xfrm>
          <a:prstGeom prst="bentConnector3">
            <a:avLst>
              <a:gd fmla="val 49999" name="adj1"/>
            </a:avLst>
          </a:prstGeom>
          <a:noFill/>
          <a:ln cap="flat" cmpd="sng" w="19050">
            <a:solidFill>
              <a:srgbClr val="980000"/>
            </a:solidFill>
            <a:prstDash val="dash"/>
            <a:round/>
            <a:headEnd len="med" w="med" type="triangle"/>
            <a:tailEnd len="med" w="med" type="none"/>
          </a:ln>
        </p:spPr>
      </p:cxnSp>
      <p:cxnSp>
        <p:nvCxnSpPr>
          <p:cNvPr id="210" name="Google Shape;210;p20"/>
          <p:cNvCxnSpPr>
            <a:stCxn id="190" idx="2"/>
            <a:endCxn id="191" idx="0"/>
          </p:cNvCxnSpPr>
          <p:nvPr/>
        </p:nvCxnSpPr>
        <p:spPr>
          <a:xfrm flipH="1" rot="-5400000">
            <a:off x="9285523" y="4120638"/>
            <a:ext cx="1648800" cy="600"/>
          </a:xfrm>
          <a:prstGeom prst="bentConnector3">
            <a:avLst>
              <a:gd fmla="val 50004" name="adj1"/>
            </a:avLst>
          </a:prstGeom>
          <a:noFill/>
          <a:ln cap="flat" cmpd="sng" w="19050">
            <a:solidFill>
              <a:srgbClr val="980000"/>
            </a:solidFill>
            <a:prstDash val="dash"/>
            <a:round/>
            <a:headEnd len="med" w="med" type="triangle"/>
            <a:tailEnd len="med" w="med" type="none"/>
          </a:ln>
        </p:spPr>
      </p:cxnSp>
      <p:cxnSp>
        <p:nvCxnSpPr>
          <p:cNvPr id="211" name="Google Shape;211;p20"/>
          <p:cNvCxnSpPr>
            <a:stCxn id="188" idx="2"/>
            <a:endCxn id="178" idx="0"/>
          </p:cNvCxnSpPr>
          <p:nvPr/>
        </p:nvCxnSpPr>
        <p:spPr>
          <a:xfrm flipH="1">
            <a:off x="1185285" y="3289238"/>
            <a:ext cx="1500" cy="676500"/>
          </a:xfrm>
          <a:prstGeom prst="straightConnector1">
            <a:avLst/>
          </a:prstGeom>
          <a:noFill/>
          <a:ln cap="flat" cmpd="sng" w="19050">
            <a:solidFill>
              <a:srgbClr val="980000"/>
            </a:solidFill>
            <a:prstDash val="dash"/>
            <a:round/>
            <a:headEnd len="med" w="med" type="none"/>
            <a:tailEnd len="med" w="med" type="triangle"/>
          </a:ln>
        </p:spPr>
      </p:cxnSp>
      <p:sp>
        <p:nvSpPr>
          <p:cNvPr id="212" name="Google Shape;212;p20"/>
          <p:cNvSpPr/>
          <p:nvPr/>
        </p:nvSpPr>
        <p:spPr>
          <a:xfrm>
            <a:off x="7214365" y="209927"/>
            <a:ext cx="2521500" cy="1375200"/>
          </a:xfrm>
          <a:prstGeom prst="roundRect">
            <a:avLst>
              <a:gd fmla="val 16667" name="adj"/>
            </a:avLst>
          </a:prstGeom>
          <a:noFill/>
          <a:ln cap="flat" cmpd="sng" w="19050">
            <a:solidFill>
              <a:srgbClr val="980000"/>
            </a:solidFill>
            <a:prstDash val="solid"/>
            <a:round/>
            <a:headEnd len="sm" w="sm" type="none"/>
            <a:tailEnd len="sm" w="sm" type="none"/>
          </a:ln>
        </p:spPr>
        <p:txBody>
          <a:bodyPr anchorCtr="0" anchor="ctr" bIns="82400" lIns="82400" spcFirstLastPara="1" rIns="82400" wrap="square" tIns="82400">
            <a:noAutofit/>
          </a:bodyPr>
          <a:lstStyle/>
          <a:p>
            <a:pPr indent="0" lvl="0" marL="0" rtl="0" algn="ctr">
              <a:spcBef>
                <a:spcPts val="0"/>
              </a:spcBef>
              <a:spcAft>
                <a:spcPts val="0"/>
              </a:spcAft>
              <a:buNone/>
            </a:pPr>
            <a:r>
              <a:t/>
            </a:r>
            <a:endParaRPr sz="1262"/>
          </a:p>
        </p:txBody>
      </p:sp>
      <p:sp>
        <p:nvSpPr>
          <p:cNvPr id="213" name="Google Shape;213;p20"/>
          <p:cNvSpPr/>
          <p:nvPr/>
        </p:nvSpPr>
        <p:spPr>
          <a:xfrm>
            <a:off x="2140018" y="2606589"/>
            <a:ext cx="1010700" cy="393000"/>
          </a:xfrm>
          <a:prstGeom prst="roundRect">
            <a:avLst>
              <a:gd fmla="val 16667" name="adj"/>
            </a:avLst>
          </a:prstGeom>
          <a:solidFill>
            <a:srgbClr val="98DB7C"/>
          </a:solidFill>
          <a:ln cap="flat" cmpd="sng" w="17175">
            <a:solidFill>
              <a:srgbClr val="38761D"/>
            </a:solidFill>
            <a:prstDash val="solid"/>
            <a:round/>
            <a:headEnd len="sm" w="sm" type="none"/>
            <a:tailEnd len="sm" w="sm" type="none"/>
          </a:ln>
        </p:spPr>
        <p:txBody>
          <a:bodyPr anchorCtr="0" anchor="ctr" bIns="82400" lIns="82400" spcFirstLastPara="1" rIns="82400" wrap="square" tIns="82400">
            <a:noAutofit/>
          </a:bodyPr>
          <a:lstStyle/>
          <a:p>
            <a:pPr indent="0" lvl="0" marL="0" rtl="0" algn="ctr">
              <a:spcBef>
                <a:spcPts val="0"/>
              </a:spcBef>
              <a:spcAft>
                <a:spcPts val="0"/>
              </a:spcAft>
              <a:buNone/>
            </a:pPr>
            <a:r>
              <a:rPr b="1" lang="es-419" sz="1262">
                <a:latin typeface="Oswald"/>
                <a:ea typeface="Oswald"/>
                <a:cs typeface="Oswald"/>
                <a:sym typeface="Oswald"/>
              </a:rPr>
              <a:t>Read</a:t>
            </a:r>
            <a:r>
              <a:rPr b="1" lang="es-419" sz="1262">
                <a:latin typeface="Oswald"/>
                <a:ea typeface="Oswald"/>
                <a:cs typeface="Oswald"/>
                <a:sym typeface="Oswald"/>
              </a:rPr>
              <a:t> CSV</a:t>
            </a:r>
            <a:endParaRPr b="1" sz="1262">
              <a:latin typeface="Oswald"/>
              <a:ea typeface="Oswald"/>
              <a:cs typeface="Oswald"/>
              <a:sym typeface="Oswald"/>
            </a:endParaRPr>
          </a:p>
        </p:txBody>
      </p:sp>
      <p:pic>
        <p:nvPicPr>
          <p:cNvPr id="214" name="Google Shape;214;p20"/>
          <p:cNvPicPr preferRelativeResize="0"/>
          <p:nvPr/>
        </p:nvPicPr>
        <p:blipFill>
          <a:blip r:embed="rId13">
            <a:alphaModFix/>
          </a:blip>
          <a:stretch>
            <a:fillRect/>
          </a:stretch>
        </p:blipFill>
        <p:spPr>
          <a:xfrm>
            <a:off x="9165080" y="471187"/>
            <a:ext cx="424500" cy="462466"/>
          </a:xfrm>
          <a:prstGeom prst="rect">
            <a:avLst/>
          </a:prstGeom>
          <a:noFill/>
          <a:ln>
            <a:noFill/>
          </a:ln>
        </p:spPr>
      </p:pic>
      <p:sp>
        <p:nvSpPr>
          <p:cNvPr id="215" name="Google Shape;215;p20"/>
          <p:cNvSpPr/>
          <p:nvPr/>
        </p:nvSpPr>
        <p:spPr>
          <a:xfrm>
            <a:off x="7530749" y="2387415"/>
            <a:ext cx="1269300" cy="393000"/>
          </a:xfrm>
          <a:prstGeom prst="roundRect">
            <a:avLst>
              <a:gd fmla="val 16667" name="adj"/>
            </a:avLst>
          </a:prstGeom>
          <a:solidFill>
            <a:srgbClr val="BBF0CD"/>
          </a:solidFill>
          <a:ln cap="flat" cmpd="sng" w="17175">
            <a:solidFill>
              <a:srgbClr val="5BC3B2"/>
            </a:solidFill>
            <a:prstDash val="solid"/>
            <a:round/>
            <a:headEnd len="sm" w="sm" type="none"/>
            <a:tailEnd len="sm" w="sm" type="none"/>
          </a:ln>
        </p:spPr>
        <p:txBody>
          <a:bodyPr anchorCtr="0" anchor="ctr" bIns="82400" lIns="82400" spcFirstLastPara="1" rIns="82400" wrap="square" tIns="82400">
            <a:noAutofit/>
          </a:bodyPr>
          <a:lstStyle/>
          <a:p>
            <a:pPr indent="0" lvl="0" marL="0" rtl="0" algn="ctr">
              <a:spcBef>
                <a:spcPts val="0"/>
              </a:spcBef>
              <a:spcAft>
                <a:spcPts val="0"/>
              </a:spcAft>
              <a:buNone/>
            </a:pPr>
            <a:r>
              <a:rPr b="1" lang="es-419">
                <a:solidFill>
                  <a:srgbClr val="4C4C4C"/>
                </a:solidFill>
                <a:latin typeface="Oswald"/>
                <a:ea typeface="Oswald"/>
                <a:cs typeface="Oswald"/>
                <a:sym typeface="Oswald"/>
              </a:rPr>
              <a:t>Producer</a:t>
            </a:r>
            <a:endParaRPr b="1">
              <a:solidFill>
                <a:srgbClr val="4C4C4C"/>
              </a:solidFill>
              <a:latin typeface="Oswald"/>
              <a:ea typeface="Oswald"/>
              <a:cs typeface="Oswald"/>
              <a:sym typeface="Oswald"/>
            </a:endParaRPr>
          </a:p>
        </p:txBody>
      </p:sp>
      <p:cxnSp>
        <p:nvCxnSpPr>
          <p:cNvPr id="216" name="Google Shape;216;p20"/>
          <p:cNvCxnSpPr>
            <a:stCxn id="188" idx="3"/>
            <a:endCxn id="189" idx="1"/>
          </p:cNvCxnSpPr>
          <p:nvPr/>
        </p:nvCxnSpPr>
        <p:spPr>
          <a:xfrm>
            <a:off x="1927335" y="3092738"/>
            <a:ext cx="1602300" cy="7200"/>
          </a:xfrm>
          <a:prstGeom prst="straightConnector1">
            <a:avLst/>
          </a:prstGeom>
          <a:noFill/>
          <a:ln cap="flat" cmpd="sng" w="19050">
            <a:solidFill>
              <a:srgbClr val="980000"/>
            </a:solidFill>
            <a:prstDash val="dash"/>
            <a:round/>
            <a:headEnd len="med" w="med" type="none"/>
            <a:tailEnd len="med" w="med" type="triangle"/>
          </a:ln>
        </p:spPr>
      </p:cxnSp>
      <p:pic>
        <p:nvPicPr>
          <p:cNvPr id="217" name="Google Shape;217;p20"/>
          <p:cNvPicPr preferRelativeResize="0"/>
          <p:nvPr/>
        </p:nvPicPr>
        <p:blipFill>
          <a:blip r:embed="rId14">
            <a:alphaModFix/>
          </a:blip>
          <a:stretch>
            <a:fillRect/>
          </a:stretch>
        </p:blipFill>
        <p:spPr>
          <a:xfrm>
            <a:off x="6597100" y="1404650"/>
            <a:ext cx="329100" cy="329100"/>
          </a:xfrm>
          <a:prstGeom prst="rect">
            <a:avLst/>
          </a:prstGeom>
          <a:noFill/>
          <a:ln>
            <a:noFill/>
          </a:ln>
        </p:spPr>
      </p:pic>
      <p:pic>
        <p:nvPicPr>
          <p:cNvPr id="218" name="Google Shape;218;p20"/>
          <p:cNvPicPr preferRelativeResize="0"/>
          <p:nvPr/>
        </p:nvPicPr>
        <p:blipFill>
          <a:blip r:embed="rId15">
            <a:alphaModFix/>
          </a:blip>
          <a:stretch>
            <a:fillRect/>
          </a:stretch>
        </p:blipFill>
        <p:spPr>
          <a:xfrm>
            <a:off x="647146" y="1366471"/>
            <a:ext cx="505500" cy="505500"/>
          </a:xfrm>
          <a:prstGeom prst="rect">
            <a:avLst/>
          </a:prstGeom>
          <a:noFill/>
          <a:ln>
            <a:noFill/>
          </a:ln>
        </p:spPr>
      </p:pic>
      <p:pic>
        <p:nvPicPr>
          <p:cNvPr id="219" name="Google Shape;219;p20"/>
          <p:cNvPicPr preferRelativeResize="0"/>
          <p:nvPr/>
        </p:nvPicPr>
        <p:blipFill>
          <a:blip r:embed="rId9">
            <a:alphaModFix/>
          </a:blip>
          <a:stretch>
            <a:fillRect/>
          </a:stretch>
        </p:blipFill>
        <p:spPr>
          <a:xfrm>
            <a:off x="9165089" y="956597"/>
            <a:ext cx="424499" cy="402892"/>
          </a:xfrm>
          <a:prstGeom prst="rect">
            <a:avLst/>
          </a:prstGeom>
          <a:noFill/>
          <a:ln>
            <a:noFill/>
          </a:ln>
        </p:spPr>
      </p:pic>
      <p:sp>
        <p:nvSpPr>
          <p:cNvPr id="220" name="Google Shape;220;p20"/>
          <p:cNvSpPr/>
          <p:nvPr/>
        </p:nvSpPr>
        <p:spPr>
          <a:xfrm>
            <a:off x="7309990" y="533492"/>
            <a:ext cx="1707300" cy="605700"/>
          </a:xfrm>
          <a:prstGeom prst="snip2DiagRect">
            <a:avLst>
              <a:gd fmla="val 0" name="adj1"/>
              <a:gd fmla="val 16667" name="adj2"/>
            </a:avLst>
          </a:prstGeom>
          <a:solidFill>
            <a:srgbClr val="5BC3B2"/>
          </a:solidFill>
          <a:ln cap="flat" cmpd="sng" w="17175">
            <a:solidFill>
              <a:srgbClr val="BBF0C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419">
                <a:solidFill>
                  <a:srgbClr val="4C4C4C"/>
                </a:solidFill>
                <a:latin typeface="Oswald"/>
                <a:ea typeface="Oswald"/>
                <a:cs typeface="Oswald"/>
                <a:sym typeface="Oswald"/>
              </a:rPr>
              <a:t>Topic </a:t>
            </a:r>
            <a:r>
              <a:rPr i="1" lang="es-419">
                <a:solidFill>
                  <a:srgbClr val="4C4C4C"/>
                </a:solidFill>
                <a:latin typeface="Oswald"/>
                <a:ea typeface="Oswald"/>
                <a:cs typeface="Oswald"/>
                <a:sym typeface="Oswald"/>
              </a:rPr>
              <a:t>“dw-metrics-stream”</a:t>
            </a:r>
            <a:endParaRPr i="1">
              <a:solidFill>
                <a:srgbClr val="4C4C4C"/>
              </a:solidFill>
              <a:latin typeface="Oswald"/>
              <a:ea typeface="Oswald"/>
              <a:cs typeface="Oswald"/>
              <a:sym typeface="Oswald"/>
            </a:endParaRPr>
          </a:p>
        </p:txBody>
      </p:sp>
      <p:sp>
        <p:nvSpPr>
          <p:cNvPr id="221" name="Google Shape;221;p20"/>
          <p:cNvSpPr/>
          <p:nvPr/>
        </p:nvSpPr>
        <p:spPr>
          <a:xfrm>
            <a:off x="7488301" y="4958200"/>
            <a:ext cx="1354200" cy="257700"/>
          </a:xfrm>
          <a:prstGeom prst="roundRect">
            <a:avLst>
              <a:gd fmla="val 16667" name="adj"/>
            </a:avLst>
          </a:prstGeom>
          <a:solidFill>
            <a:srgbClr val="C7CFD3"/>
          </a:solidFill>
          <a:ln cap="flat" cmpd="sng" w="17175">
            <a:solidFill>
              <a:srgbClr val="204A87"/>
            </a:solidFill>
            <a:prstDash val="solid"/>
            <a:round/>
            <a:headEnd len="sm" w="sm" type="none"/>
            <a:tailEnd len="sm" w="sm" type="none"/>
          </a:ln>
        </p:spPr>
        <p:txBody>
          <a:bodyPr anchorCtr="0" anchor="ctr" bIns="82400" lIns="82400" spcFirstLastPara="1" rIns="82400" wrap="square" tIns="82400">
            <a:noAutofit/>
          </a:bodyPr>
          <a:lstStyle/>
          <a:p>
            <a:pPr indent="0" lvl="0" marL="0" rtl="0" algn="ctr">
              <a:spcBef>
                <a:spcPts val="0"/>
              </a:spcBef>
              <a:spcAft>
                <a:spcPts val="0"/>
              </a:spcAft>
              <a:buNone/>
            </a:pPr>
            <a:r>
              <a:rPr b="1" i="1" lang="es-419" sz="862">
                <a:latin typeface="Oswald"/>
                <a:ea typeface="Oswald"/>
                <a:cs typeface="Oswald"/>
                <a:sym typeface="Oswald"/>
              </a:rPr>
              <a:t>stream_metrics_log</a:t>
            </a:r>
            <a:endParaRPr b="1" i="1" sz="862">
              <a:latin typeface="Oswald"/>
              <a:ea typeface="Oswald"/>
              <a:cs typeface="Oswald"/>
              <a:sym typeface="Oswald"/>
            </a:endParaRPr>
          </a:p>
        </p:txBody>
      </p:sp>
      <p:sp>
        <p:nvSpPr>
          <p:cNvPr id="222" name="Google Shape;222;p20"/>
          <p:cNvSpPr/>
          <p:nvPr/>
        </p:nvSpPr>
        <p:spPr>
          <a:xfrm>
            <a:off x="7486550" y="4558725"/>
            <a:ext cx="1354200" cy="257700"/>
          </a:xfrm>
          <a:prstGeom prst="roundRect">
            <a:avLst>
              <a:gd fmla="val 16667" name="adj"/>
            </a:avLst>
          </a:prstGeom>
          <a:solidFill>
            <a:srgbClr val="C7CFD3"/>
          </a:solidFill>
          <a:ln cap="flat" cmpd="sng" w="17175">
            <a:solidFill>
              <a:srgbClr val="204A87"/>
            </a:solidFill>
            <a:prstDash val="solid"/>
            <a:round/>
            <a:headEnd len="sm" w="sm" type="none"/>
            <a:tailEnd len="sm" w="sm" type="none"/>
          </a:ln>
        </p:spPr>
        <p:txBody>
          <a:bodyPr anchorCtr="0" anchor="ctr" bIns="82400" lIns="82400" spcFirstLastPara="1" rIns="82400" wrap="square" tIns="82400">
            <a:noAutofit/>
          </a:bodyPr>
          <a:lstStyle/>
          <a:p>
            <a:pPr indent="0" lvl="0" marL="0" marR="0" rtl="0" algn="ctr">
              <a:lnSpc>
                <a:spcPct val="100000"/>
              </a:lnSpc>
              <a:spcBef>
                <a:spcPts val="0"/>
              </a:spcBef>
              <a:spcAft>
                <a:spcPts val="0"/>
              </a:spcAft>
              <a:buNone/>
            </a:pPr>
            <a:r>
              <a:rPr b="1" i="1" lang="es-419" sz="862">
                <a:latin typeface="Oswald"/>
                <a:ea typeface="Oswald"/>
                <a:cs typeface="Oswald"/>
                <a:sym typeface="Oswald"/>
              </a:rPr>
              <a:t>fact_educacion_superior</a:t>
            </a:r>
            <a:endParaRPr b="1" i="1" sz="862">
              <a:latin typeface="Oswald"/>
              <a:ea typeface="Oswald"/>
              <a:cs typeface="Oswald"/>
              <a:sym typeface="Oswald"/>
            </a:endParaRPr>
          </a:p>
        </p:txBody>
      </p:sp>
      <p:sp>
        <p:nvSpPr>
          <p:cNvPr id="223" name="Google Shape;223;p20"/>
          <p:cNvSpPr/>
          <p:nvPr/>
        </p:nvSpPr>
        <p:spPr>
          <a:xfrm>
            <a:off x="5399999" y="643940"/>
            <a:ext cx="1269300" cy="393000"/>
          </a:xfrm>
          <a:prstGeom prst="roundRect">
            <a:avLst>
              <a:gd fmla="val 16667" name="adj"/>
            </a:avLst>
          </a:prstGeom>
          <a:solidFill>
            <a:srgbClr val="BBF0CD"/>
          </a:solidFill>
          <a:ln cap="flat" cmpd="sng" w="17175">
            <a:solidFill>
              <a:srgbClr val="5BC3B2"/>
            </a:solidFill>
            <a:prstDash val="solid"/>
            <a:round/>
            <a:headEnd len="sm" w="sm" type="none"/>
            <a:tailEnd len="sm" w="sm" type="none"/>
          </a:ln>
        </p:spPr>
        <p:txBody>
          <a:bodyPr anchorCtr="0" anchor="ctr" bIns="82400" lIns="82400" spcFirstLastPara="1" rIns="82400" wrap="square" tIns="82400">
            <a:noAutofit/>
          </a:bodyPr>
          <a:lstStyle/>
          <a:p>
            <a:pPr indent="0" lvl="0" marL="0" marR="0" rtl="0" algn="ctr">
              <a:lnSpc>
                <a:spcPct val="100000"/>
              </a:lnSpc>
              <a:spcBef>
                <a:spcPts val="0"/>
              </a:spcBef>
              <a:spcAft>
                <a:spcPts val="0"/>
              </a:spcAft>
              <a:buNone/>
            </a:pPr>
            <a:r>
              <a:rPr b="1" lang="es-419">
                <a:solidFill>
                  <a:srgbClr val="4C4C4C"/>
                </a:solidFill>
                <a:latin typeface="Oswald"/>
                <a:ea typeface="Oswald"/>
                <a:cs typeface="Oswald"/>
                <a:sym typeface="Oswald"/>
              </a:rPr>
              <a:t>Consumer</a:t>
            </a:r>
            <a:endParaRPr b="1" sz="1262">
              <a:latin typeface="Oswald"/>
              <a:ea typeface="Oswald"/>
              <a:cs typeface="Oswald"/>
              <a:sym typeface="Oswald"/>
            </a:endParaRPr>
          </a:p>
        </p:txBody>
      </p:sp>
      <p:pic>
        <p:nvPicPr>
          <p:cNvPr id="224" name="Google Shape;224;p20"/>
          <p:cNvPicPr preferRelativeResize="0"/>
          <p:nvPr/>
        </p:nvPicPr>
        <p:blipFill>
          <a:blip r:embed="rId16">
            <a:alphaModFix/>
          </a:blip>
          <a:stretch>
            <a:fillRect/>
          </a:stretch>
        </p:blipFill>
        <p:spPr>
          <a:xfrm>
            <a:off x="1014534" y="598800"/>
            <a:ext cx="483300" cy="483300"/>
          </a:xfrm>
          <a:prstGeom prst="rect">
            <a:avLst/>
          </a:prstGeom>
          <a:noFill/>
          <a:ln>
            <a:noFill/>
          </a:ln>
        </p:spPr>
      </p:pic>
      <p:sp>
        <p:nvSpPr>
          <p:cNvPr id="225" name="Google Shape;225;p20"/>
          <p:cNvSpPr/>
          <p:nvPr/>
        </p:nvSpPr>
        <p:spPr>
          <a:xfrm>
            <a:off x="1674200" y="643950"/>
            <a:ext cx="1635300" cy="393000"/>
          </a:xfrm>
          <a:prstGeom prst="roundRect">
            <a:avLst>
              <a:gd fmla="val 16667" name="adj"/>
            </a:avLst>
          </a:prstGeom>
          <a:solidFill>
            <a:srgbClr val="4C1130"/>
          </a:solidFill>
          <a:ln cap="flat" cmpd="sng" w="17175">
            <a:solidFill>
              <a:srgbClr val="A64D79"/>
            </a:solidFill>
            <a:prstDash val="solid"/>
            <a:round/>
            <a:headEnd len="sm" w="sm" type="none"/>
            <a:tailEnd len="sm" w="sm" type="none"/>
          </a:ln>
        </p:spPr>
        <p:txBody>
          <a:bodyPr anchorCtr="0" anchor="ctr" bIns="82400" lIns="82400" spcFirstLastPara="1" rIns="82400" wrap="square" tIns="82400">
            <a:noAutofit/>
          </a:bodyPr>
          <a:lstStyle/>
          <a:p>
            <a:pPr indent="0" lvl="0" marL="0" rtl="0" algn="ctr">
              <a:spcBef>
                <a:spcPts val="0"/>
              </a:spcBef>
              <a:spcAft>
                <a:spcPts val="0"/>
              </a:spcAft>
              <a:buNone/>
            </a:pPr>
            <a:r>
              <a:rPr b="1" lang="es-419" sz="1262">
                <a:solidFill>
                  <a:schemeClr val="lt1"/>
                </a:solidFill>
                <a:latin typeface="Oswald"/>
                <a:ea typeface="Oswald"/>
                <a:cs typeface="Oswald"/>
                <a:sym typeface="Oswald"/>
              </a:rPr>
              <a:t>Console Real-time monitoring</a:t>
            </a:r>
            <a:endParaRPr b="1" sz="1262">
              <a:solidFill>
                <a:schemeClr val="lt1"/>
              </a:solidFill>
              <a:latin typeface="Oswald"/>
              <a:ea typeface="Oswald"/>
              <a:cs typeface="Oswald"/>
              <a:sym typeface="Oswald"/>
            </a:endParaRPr>
          </a:p>
        </p:txBody>
      </p:sp>
      <p:cxnSp>
        <p:nvCxnSpPr>
          <p:cNvPr id="226" name="Google Shape;226;p20"/>
          <p:cNvCxnSpPr>
            <a:stCxn id="223" idx="1"/>
            <a:endCxn id="225" idx="3"/>
          </p:cNvCxnSpPr>
          <p:nvPr/>
        </p:nvCxnSpPr>
        <p:spPr>
          <a:xfrm rot="10800000">
            <a:off x="3309599" y="840440"/>
            <a:ext cx="2090400" cy="0"/>
          </a:xfrm>
          <a:prstGeom prst="straightConnector1">
            <a:avLst/>
          </a:prstGeom>
          <a:noFill/>
          <a:ln cap="flat" cmpd="sng" w="9525">
            <a:solidFill>
              <a:srgbClr val="DD4814"/>
            </a:solidFill>
            <a:prstDash val="dash"/>
            <a:round/>
            <a:headEnd len="med" w="med" type="none"/>
            <a:tailEnd len="med" w="med" type="triangle"/>
          </a:ln>
        </p:spPr>
      </p:cxnSp>
      <p:cxnSp>
        <p:nvCxnSpPr>
          <p:cNvPr id="227" name="Google Shape;227;p20"/>
          <p:cNvCxnSpPr>
            <a:stCxn id="223" idx="3"/>
            <a:endCxn id="220" idx="2"/>
          </p:cNvCxnSpPr>
          <p:nvPr/>
        </p:nvCxnSpPr>
        <p:spPr>
          <a:xfrm flipH="1" rot="10800000">
            <a:off x="6669299" y="836240"/>
            <a:ext cx="640800" cy="4200"/>
          </a:xfrm>
          <a:prstGeom prst="straightConnector1">
            <a:avLst/>
          </a:prstGeom>
          <a:noFill/>
          <a:ln cap="flat" cmpd="sng" w="19050">
            <a:solidFill>
              <a:srgbClr val="980000"/>
            </a:solidFill>
            <a:prstDash val="dash"/>
            <a:round/>
            <a:headEnd len="med" w="med" type="triangle"/>
            <a:tailEnd len="med" w="med" type="none"/>
          </a:ln>
        </p:spPr>
      </p:cxnSp>
      <p:cxnSp>
        <p:nvCxnSpPr>
          <p:cNvPr id="228" name="Google Shape;228;p20"/>
          <p:cNvCxnSpPr>
            <a:stCxn id="222" idx="0"/>
            <a:endCxn id="215" idx="2"/>
          </p:cNvCxnSpPr>
          <p:nvPr/>
        </p:nvCxnSpPr>
        <p:spPr>
          <a:xfrm flipH="1" rot="10800000">
            <a:off x="8163650" y="2780325"/>
            <a:ext cx="1800" cy="1778400"/>
          </a:xfrm>
          <a:prstGeom prst="straightConnector1">
            <a:avLst/>
          </a:prstGeom>
          <a:noFill/>
          <a:ln cap="flat" cmpd="sng" w="19050">
            <a:solidFill>
              <a:srgbClr val="5BC3B2"/>
            </a:solidFill>
            <a:prstDash val="dash"/>
            <a:round/>
            <a:headEnd len="med" w="med" type="none"/>
            <a:tailEnd len="med" w="med" type="triangle"/>
          </a:ln>
        </p:spPr>
      </p:cxnSp>
      <p:cxnSp>
        <p:nvCxnSpPr>
          <p:cNvPr id="229" name="Google Shape;229;p20"/>
          <p:cNvCxnSpPr>
            <a:stCxn id="215" idx="0"/>
            <a:endCxn id="220" idx="1"/>
          </p:cNvCxnSpPr>
          <p:nvPr/>
        </p:nvCxnSpPr>
        <p:spPr>
          <a:xfrm rot="10800000">
            <a:off x="8163599" y="1139115"/>
            <a:ext cx="1800" cy="1248300"/>
          </a:xfrm>
          <a:prstGeom prst="straightConnector1">
            <a:avLst/>
          </a:prstGeom>
          <a:noFill/>
          <a:ln cap="flat" cmpd="sng" w="19050">
            <a:solidFill>
              <a:srgbClr val="5BC3B2"/>
            </a:solidFill>
            <a:prstDash val="dash"/>
            <a:round/>
            <a:headEnd len="med" w="med" type="none"/>
            <a:tailEnd len="med" w="med" type="triangle"/>
          </a:ln>
        </p:spPr>
      </p:cxnSp>
      <p:pic>
        <p:nvPicPr>
          <p:cNvPr id="230" name="Google Shape;230;p20"/>
          <p:cNvPicPr preferRelativeResize="0"/>
          <p:nvPr/>
        </p:nvPicPr>
        <p:blipFill>
          <a:blip r:embed="rId12">
            <a:alphaModFix/>
          </a:blip>
          <a:stretch>
            <a:fillRect/>
          </a:stretch>
        </p:blipFill>
        <p:spPr>
          <a:xfrm>
            <a:off x="9816274" y="503975"/>
            <a:ext cx="750650" cy="750625"/>
          </a:xfrm>
          <a:prstGeom prst="rect">
            <a:avLst/>
          </a:prstGeom>
          <a:noFill/>
          <a:ln>
            <a:noFill/>
          </a:ln>
        </p:spPr>
      </p:pic>
      <p:cxnSp>
        <p:nvCxnSpPr>
          <p:cNvPr id="231" name="Google Shape;231;p20"/>
          <p:cNvCxnSpPr>
            <a:stCxn id="223" idx="2"/>
            <a:endCxn id="221" idx="1"/>
          </p:cNvCxnSpPr>
          <p:nvPr/>
        </p:nvCxnSpPr>
        <p:spPr>
          <a:xfrm flipH="1" rot="-5400000">
            <a:off x="4736549" y="2335040"/>
            <a:ext cx="4050000" cy="1453800"/>
          </a:xfrm>
          <a:prstGeom prst="bentConnector2">
            <a:avLst/>
          </a:prstGeom>
          <a:noFill/>
          <a:ln cap="flat" cmpd="sng" w="9525">
            <a:solidFill>
              <a:srgbClr val="674EA7"/>
            </a:solidFill>
            <a:prstDash val="dash"/>
            <a:round/>
            <a:headEnd len="med" w="med" type="none"/>
            <a:tailEnd len="med" w="med" type="stealth"/>
          </a:ln>
        </p:spPr>
      </p:cxnSp>
      <p:cxnSp>
        <p:nvCxnSpPr>
          <p:cNvPr id="232" name="Google Shape;232;p20"/>
          <p:cNvCxnSpPr>
            <a:stCxn id="175" idx="3"/>
            <a:endCxn id="221" idx="3"/>
          </p:cNvCxnSpPr>
          <p:nvPr/>
        </p:nvCxnSpPr>
        <p:spPr>
          <a:xfrm rot="10800000">
            <a:off x="8842550" y="5087075"/>
            <a:ext cx="2700" cy="467100"/>
          </a:xfrm>
          <a:prstGeom prst="bentConnector3">
            <a:avLst>
              <a:gd fmla="val -8819444" name="adj1"/>
            </a:avLst>
          </a:prstGeom>
          <a:noFill/>
          <a:ln cap="flat" cmpd="sng" w="9525">
            <a:solidFill>
              <a:srgbClr val="0000FF"/>
            </a:solidFill>
            <a:prstDash val="solid"/>
            <a:round/>
            <a:headEnd len="med" w="med" type="none"/>
            <a:tailEnd len="med" w="med" type="stealth"/>
          </a:ln>
        </p:spPr>
      </p:cxnSp>
      <p:cxnSp>
        <p:nvCxnSpPr>
          <p:cNvPr id="233" name="Google Shape;233;p20"/>
          <p:cNvCxnSpPr>
            <a:stCxn id="175" idx="3"/>
            <a:endCxn id="222" idx="3"/>
          </p:cNvCxnSpPr>
          <p:nvPr/>
        </p:nvCxnSpPr>
        <p:spPr>
          <a:xfrm rot="10800000">
            <a:off x="8840750" y="4687475"/>
            <a:ext cx="4500" cy="866700"/>
          </a:xfrm>
          <a:prstGeom prst="bentConnector3">
            <a:avLst>
              <a:gd fmla="val -5291667" name="adj1"/>
            </a:avLst>
          </a:prstGeom>
          <a:noFill/>
          <a:ln cap="flat" cmpd="sng" w="9525">
            <a:solidFill>
              <a:srgbClr val="0000FF"/>
            </a:solidFill>
            <a:prstDash val="solid"/>
            <a:round/>
            <a:headEnd len="med" w="med" type="none"/>
            <a:tailEnd len="med" w="med" type="stealth"/>
          </a:ln>
        </p:spPr>
      </p:cxnSp>
      <p:sp>
        <p:nvSpPr>
          <p:cNvPr id="234" name="Google Shape;234;p20"/>
          <p:cNvSpPr/>
          <p:nvPr/>
        </p:nvSpPr>
        <p:spPr>
          <a:xfrm>
            <a:off x="9037025" y="1894850"/>
            <a:ext cx="1168200" cy="323400"/>
          </a:xfrm>
          <a:prstGeom prst="roundRect">
            <a:avLst>
              <a:gd fmla="val 16667" name="adj"/>
            </a:avLst>
          </a:prstGeom>
          <a:solidFill>
            <a:srgbClr val="5BC3B2"/>
          </a:solidFill>
          <a:ln cap="flat" cmpd="sng" w="17175">
            <a:solidFill>
              <a:srgbClr val="BBF0CD"/>
            </a:solidFill>
            <a:prstDash val="solid"/>
            <a:round/>
            <a:headEnd len="sm" w="sm" type="none"/>
            <a:tailEnd len="sm" w="sm" type="none"/>
          </a:ln>
        </p:spPr>
        <p:txBody>
          <a:bodyPr anchorCtr="0" anchor="ctr" bIns="82400" lIns="82400" spcFirstLastPara="1" rIns="82400" wrap="square" tIns="82400">
            <a:noAutofit/>
          </a:bodyPr>
          <a:lstStyle/>
          <a:p>
            <a:pPr indent="0" lvl="0" marL="0" marR="0" rtl="0" algn="ctr">
              <a:lnSpc>
                <a:spcPct val="100000"/>
              </a:lnSpc>
              <a:spcBef>
                <a:spcPts val="0"/>
              </a:spcBef>
              <a:spcAft>
                <a:spcPts val="0"/>
              </a:spcAft>
              <a:buNone/>
            </a:pPr>
            <a:r>
              <a:rPr i="1" lang="es-419" sz="1000">
                <a:solidFill>
                  <a:srgbClr val="4C4C4C"/>
                </a:solidFill>
                <a:latin typeface="Oswald"/>
                <a:ea typeface="Oswald"/>
                <a:cs typeface="Oswald"/>
                <a:sym typeface="Oswald"/>
              </a:rPr>
              <a:t>Stream in Loop every n seconds </a:t>
            </a:r>
            <a:endParaRPr i="1" sz="1000">
              <a:solidFill>
                <a:srgbClr val="4C4C4C"/>
              </a:solidFill>
              <a:latin typeface="Oswald"/>
              <a:ea typeface="Oswald"/>
              <a:cs typeface="Oswald"/>
              <a:sym typeface="Oswald"/>
            </a:endParaRPr>
          </a:p>
        </p:txBody>
      </p:sp>
      <p:cxnSp>
        <p:nvCxnSpPr>
          <p:cNvPr id="235" name="Google Shape;235;p20"/>
          <p:cNvCxnSpPr>
            <a:stCxn id="215" idx="0"/>
            <a:endCxn id="234" idx="1"/>
          </p:cNvCxnSpPr>
          <p:nvPr/>
        </p:nvCxnSpPr>
        <p:spPr>
          <a:xfrm rot="-5400000">
            <a:off x="8435699" y="1786215"/>
            <a:ext cx="330900" cy="871500"/>
          </a:xfrm>
          <a:prstGeom prst="bentConnector2">
            <a:avLst/>
          </a:prstGeom>
          <a:noFill/>
          <a:ln cap="flat" cmpd="sng" w="19050">
            <a:solidFill>
              <a:srgbClr val="5BC3B2"/>
            </a:solidFill>
            <a:prstDash val="dash"/>
            <a:round/>
            <a:headEnd len="med" w="med" type="none"/>
            <a:tailEnd len="med" w="med" type="none"/>
          </a:ln>
        </p:spPr>
      </p:cxnSp>
      <p:pic>
        <p:nvPicPr>
          <p:cNvPr id="236" name="Google Shape;236;p20"/>
          <p:cNvPicPr preferRelativeResize="0"/>
          <p:nvPr/>
        </p:nvPicPr>
        <p:blipFill>
          <a:blip r:embed="rId17">
            <a:alphaModFix/>
          </a:blip>
          <a:stretch>
            <a:fillRect/>
          </a:stretch>
        </p:blipFill>
        <p:spPr>
          <a:xfrm>
            <a:off x="10237824" y="1874084"/>
            <a:ext cx="329100" cy="329100"/>
          </a:xfrm>
          <a:prstGeom prst="rect">
            <a:avLst/>
          </a:prstGeom>
          <a:noFill/>
          <a:ln>
            <a:noFill/>
          </a:ln>
        </p:spPr>
      </p:pic>
      <p:pic>
        <p:nvPicPr>
          <p:cNvPr id="237" name="Google Shape;237;p20"/>
          <p:cNvPicPr preferRelativeResize="0"/>
          <p:nvPr/>
        </p:nvPicPr>
        <p:blipFill>
          <a:blip r:embed="rId18">
            <a:alphaModFix/>
          </a:blip>
          <a:stretch>
            <a:fillRect/>
          </a:stretch>
        </p:blipFill>
        <p:spPr>
          <a:xfrm>
            <a:off x="7953155" y="1814247"/>
            <a:ext cx="424500" cy="424500"/>
          </a:xfrm>
          <a:prstGeom prst="rect">
            <a:avLst/>
          </a:prstGeom>
          <a:noFill/>
          <a:ln>
            <a:noFill/>
          </a:ln>
        </p:spPr>
      </p:pic>
      <p:sp>
        <p:nvSpPr>
          <p:cNvPr id="238" name="Google Shape;238;p20"/>
          <p:cNvSpPr/>
          <p:nvPr/>
        </p:nvSpPr>
        <p:spPr>
          <a:xfrm>
            <a:off x="5544600" y="2327475"/>
            <a:ext cx="980100" cy="393000"/>
          </a:xfrm>
          <a:prstGeom prst="roundRect">
            <a:avLst>
              <a:gd fmla="val 16667" name="adj"/>
            </a:avLst>
          </a:prstGeom>
          <a:solidFill>
            <a:srgbClr val="5BC3B2"/>
          </a:solidFill>
          <a:ln cap="flat" cmpd="sng" w="17175">
            <a:solidFill>
              <a:srgbClr val="BBF0CD"/>
            </a:solidFill>
            <a:prstDash val="solid"/>
            <a:round/>
            <a:headEnd len="sm" w="sm" type="none"/>
            <a:tailEnd len="sm" w="sm" type="none"/>
          </a:ln>
        </p:spPr>
        <p:txBody>
          <a:bodyPr anchorCtr="0" anchor="ctr" bIns="82400" lIns="82400" spcFirstLastPara="1" rIns="82400" wrap="square" tIns="82400">
            <a:noAutofit/>
          </a:bodyPr>
          <a:lstStyle/>
          <a:p>
            <a:pPr indent="0" lvl="0" marL="0" marR="0" rtl="0" algn="ctr">
              <a:lnSpc>
                <a:spcPct val="100000"/>
              </a:lnSpc>
              <a:spcBef>
                <a:spcPts val="0"/>
              </a:spcBef>
              <a:spcAft>
                <a:spcPts val="0"/>
              </a:spcAft>
              <a:buNone/>
            </a:pPr>
            <a:r>
              <a:rPr i="1" lang="es-419" sz="1000">
                <a:solidFill>
                  <a:srgbClr val="4C4C4C"/>
                </a:solidFill>
                <a:latin typeface="Oswald"/>
                <a:ea typeface="Oswald"/>
                <a:cs typeface="Oswald"/>
                <a:sym typeface="Oswald"/>
              </a:rPr>
              <a:t>Data</a:t>
            </a:r>
            <a:r>
              <a:rPr i="1" lang="es-419" sz="1000">
                <a:solidFill>
                  <a:srgbClr val="4C4C4C"/>
                </a:solidFill>
                <a:latin typeface="Oswald"/>
                <a:ea typeface="Oswald"/>
                <a:cs typeface="Oswald"/>
                <a:sym typeface="Oswald"/>
              </a:rPr>
              <a:t> Persistence</a:t>
            </a:r>
            <a:endParaRPr i="1" sz="1000">
              <a:solidFill>
                <a:srgbClr val="4C4C4C"/>
              </a:solidFill>
              <a:latin typeface="Oswald"/>
              <a:ea typeface="Oswald"/>
              <a:cs typeface="Oswald"/>
              <a:sym typeface="Oswald"/>
            </a:endParaRPr>
          </a:p>
        </p:txBody>
      </p:sp>
      <p:cxnSp>
        <p:nvCxnSpPr>
          <p:cNvPr id="239" name="Google Shape;239;p20"/>
          <p:cNvCxnSpPr>
            <a:stCxn id="182" idx="3"/>
            <a:endCxn id="184" idx="1"/>
          </p:cNvCxnSpPr>
          <p:nvPr/>
        </p:nvCxnSpPr>
        <p:spPr>
          <a:xfrm>
            <a:off x="3650112" y="4951609"/>
            <a:ext cx="875400" cy="0"/>
          </a:xfrm>
          <a:prstGeom prst="straightConnector1">
            <a:avLst/>
          </a:prstGeom>
          <a:noFill/>
          <a:ln cap="flat" cmpd="sng" w="9525">
            <a:solidFill>
              <a:srgbClr val="FF6310"/>
            </a:solidFill>
            <a:prstDash val="solid"/>
            <a:round/>
            <a:headEnd len="med" w="med" type="none"/>
            <a:tailEnd len="med" w="med" type="triangle"/>
          </a:ln>
        </p:spPr>
      </p:cxnSp>
      <p:cxnSp>
        <p:nvCxnSpPr>
          <p:cNvPr id="240" name="Google Shape;240;p20"/>
          <p:cNvCxnSpPr>
            <a:stCxn id="185" idx="3"/>
            <a:endCxn id="176" idx="1"/>
          </p:cNvCxnSpPr>
          <p:nvPr/>
        </p:nvCxnSpPr>
        <p:spPr>
          <a:xfrm>
            <a:off x="5538213" y="5593427"/>
            <a:ext cx="864600" cy="0"/>
          </a:xfrm>
          <a:prstGeom prst="straightConnector1">
            <a:avLst/>
          </a:prstGeom>
          <a:noFill/>
          <a:ln cap="flat" cmpd="sng" w="19050">
            <a:solidFill>
              <a:srgbClr val="3465A4"/>
            </a:solidFill>
            <a:prstDash val="dash"/>
            <a:round/>
            <a:headEnd len="med" w="med" type="none"/>
            <a:tailEnd len="med" w="med" type="triangle"/>
          </a:ln>
        </p:spPr>
      </p:cxnSp>
      <p:cxnSp>
        <p:nvCxnSpPr>
          <p:cNvPr id="241" name="Google Shape;241;p20"/>
          <p:cNvCxnSpPr>
            <a:stCxn id="184" idx="2"/>
            <a:endCxn id="185" idx="0"/>
          </p:cNvCxnSpPr>
          <p:nvPr/>
        </p:nvCxnSpPr>
        <p:spPr>
          <a:xfrm>
            <a:off x="5030713" y="5148109"/>
            <a:ext cx="2100" cy="248700"/>
          </a:xfrm>
          <a:prstGeom prst="straightConnector1">
            <a:avLst/>
          </a:prstGeom>
          <a:noFill/>
          <a:ln cap="flat" cmpd="sng" w="9525">
            <a:solidFill>
              <a:srgbClr val="FBBD05"/>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1"/>
          <p:cNvSpPr/>
          <p:nvPr/>
        </p:nvSpPr>
        <p:spPr>
          <a:xfrm>
            <a:off x="0" y="-19825"/>
            <a:ext cx="10800000" cy="773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21"/>
          <p:cNvSpPr/>
          <p:nvPr/>
        </p:nvSpPr>
        <p:spPr>
          <a:xfrm>
            <a:off x="3470100" y="366900"/>
            <a:ext cx="3859800" cy="773400"/>
          </a:xfrm>
          <a:prstGeom prst="roundRect">
            <a:avLst>
              <a:gd fmla="val 16667" name="adj"/>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21"/>
          <p:cNvSpPr txBox="1"/>
          <p:nvPr/>
        </p:nvSpPr>
        <p:spPr>
          <a:xfrm>
            <a:off x="3470100" y="366900"/>
            <a:ext cx="3859800" cy="773400"/>
          </a:xfrm>
          <a:prstGeom prst="rect">
            <a:avLst/>
          </a:prstGeom>
          <a:noFill/>
          <a:ln>
            <a:noFill/>
          </a:ln>
        </p:spPr>
        <p:txBody>
          <a:bodyPr anchorCtr="0" anchor="t" bIns="114650" lIns="114650" spcFirstLastPara="1" rIns="114650" wrap="square" tIns="114650">
            <a:noAutofit/>
          </a:bodyPr>
          <a:lstStyle/>
          <a:p>
            <a:pPr indent="0" lvl="0" marL="0" rtl="0" algn="ctr">
              <a:spcBef>
                <a:spcPts val="0"/>
              </a:spcBef>
              <a:spcAft>
                <a:spcPts val="0"/>
              </a:spcAft>
              <a:buNone/>
            </a:pPr>
            <a:r>
              <a:rPr b="1" lang="es-419" sz="3800">
                <a:solidFill>
                  <a:schemeClr val="dk1"/>
                </a:solidFill>
                <a:latin typeface="Oswald"/>
                <a:ea typeface="Oswald"/>
                <a:cs typeface="Oswald"/>
                <a:sym typeface="Oswald"/>
              </a:rPr>
              <a:t>Pipeline de ETL</a:t>
            </a:r>
            <a:endParaRPr b="1" sz="3800">
              <a:solidFill>
                <a:schemeClr val="dk1"/>
              </a:solidFill>
              <a:latin typeface="Oswald"/>
              <a:ea typeface="Oswald"/>
              <a:cs typeface="Oswald"/>
              <a:sym typeface="Oswald"/>
            </a:endParaRPr>
          </a:p>
        </p:txBody>
      </p:sp>
      <p:pic>
        <p:nvPicPr>
          <p:cNvPr id="249" name="Google Shape;249;p21"/>
          <p:cNvPicPr preferRelativeResize="0"/>
          <p:nvPr/>
        </p:nvPicPr>
        <p:blipFill>
          <a:blip r:embed="rId3">
            <a:alphaModFix/>
          </a:blip>
          <a:stretch>
            <a:fillRect/>
          </a:stretch>
        </p:blipFill>
        <p:spPr>
          <a:xfrm flipH="1">
            <a:off x="3182700" y="144725"/>
            <a:ext cx="707350" cy="707350"/>
          </a:xfrm>
          <a:prstGeom prst="rect">
            <a:avLst/>
          </a:prstGeom>
          <a:noFill/>
          <a:ln>
            <a:noFill/>
          </a:ln>
        </p:spPr>
      </p:pic>
      <p:pic>
        <p:nvPicPr>
          <p:cNvPr id="250" name="Google Shape;250;p21"/>
          <p:cNvPicPr preferRelativeResize="0"/>
          <p:nvPr/>
        </p:nvPicPr>
        <p:blipFill>
          <a:blip r:embed="rId4">
            <a:alphaModFix/>
          </a:blip>
          <a:stretch>
            <a:fillRect/>
          </a:stretch>
        </p:blipFill>
        <p:spPr>
          <a:xfrm>
            <a:off x="749525" y="852075"/>
            <a:ext cx="1905000" cy="1905000"/>
          </a:xfrm>
          <a:prstGeom prst="rect">
            <a:avLst/>
          </a:prstGeom>
          <a:noFill/>
          <a:ln>
            <a:noFill/>
          </a:ln>
        </p:spPr>
      </p:pic>
      <p:graphicFrame>
        <p:nvGraphicFramePr>
          <p:cNvPr id="251" name="Google Shape;251;p21"/>
          <p:cNvGraphicFramePr/>
          <p:nvPr/>
        </p:nvGraphicFramePr>
        <p:xfrm>
          <a:off x="3603300" y="1432825"/>
          <a:ext cx="3000000" cy="3000000"/>
        </p:xfrm>
        <a:graphic>
          <a:graphicData uri="http://schemas.openxmlformats.org/drawingml/2006/table">
            <a:tbl>
              <a:tblPr>
                <a:noFill/>
                <a:tableStyleId>{C556CFA1-8E2C-47EC-A9A8-5E49D9BD7B61}</a:tableStyleId>
              </a:tblPr>
              <a:tblGrid>
                <a:gridCol w="1643250"/>
                <a:gridCol w="2789475"/>
                <a:gridCol w="2604800"/>
              </a:tblGrid>
              <a:tr h="256875">
                <a:tc>
                  <a:txBody>
                    <a:bodyPr/>
                    <a:lstStyle/>
                    <a:p>
                      <a:pPr indent="0" lvl="0" marL="0" rtl="0" algn="l">
                        <a:lnSpc>
                          <a:spcPct val="115000"/>
                        </a:lnSpc>
                        <a:spcBef>
                          <a:spcPts val="0"/>
                        </a:spcBef>
                        <a:spcAft>
                          <a:spcPts val="0"/>
                        </a:spcAft>
                        <a:buNone/>
                      </a:pPr>
                      <a:r>
                        <a:rPr b="1" i="1" lang="es-419" sz="1600">
                          <a:solidFill>
                            <a:srgbClr val="1F1F1F"/>
                          </a:solidFill>
                          <a:latin typeface="Oswald"/>
                          <a:ea typeface="Oswald"/>
                          <a:cs typeface="Oswald"/>
                          <a:sym typeface="Oswald"/>
                        </a:rPr>
                        <a:t>Módulo</a:t>
                      </a:r>
                      <a:endParaRPr b="1" i="1" sz="1600">
                        <a:solidFill>
                          <a:srgbClr val="1F1F1F"/>
                        </a:solidFill>
                        <a:latin typeface="Oswald"/>
                        <a:ea typeface="Oswald"/>
                        <a:cs typeface="Oswald"/>
                        <a:sym typeface="Oswald"/>
                      </a:endParaRPr>
                    </a:p>
                  </a:txBody>
                  <a:tcPr marT="19050" marB="19050" marR="28575" marL="28575" anchor="ct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i="1" lang="es-419" sz="1600">
                          <a:solidFill>
                            <a:srgbClr val="1F1F1F"/>
                          </a:solidFill>
                          <a:latin typeface="Oswald"/>
                          <a:ea typeface="Oswald"/>
                          <a:cs typeface="Oswald"/>
                          <a:sym typeface="Oswald"/>
                        </a:rPr>
                        <a:t>Función principal</a:t>
                      </a:r>
                      <a:endParaRPr b="1" i="1" sz="1600">
                        <a:solidFill>
                          <a:srgbClr val="1F1F1F"/>
                        </a:solidFill>
                        <a:latin typeface="Oswald"/>
                        <a:ea typeface="Oswald"/>
                        <a:cs typeface="Oswald"/>
                        <a:sym typeface="Oswald"/>
                      </a:endParaRPr>
                    </a:p>
                  </a:txBody>
                  <a:tcPr marT="19050" marB="19050" marR="28575" marL="28575" anchor="ct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i="1" lang="es-419" sz="1600">
                          <a:solidFill>
                            <a:srgbClr val="1F1F1F"/>
                          </a:solidFill>
                          <a:latin typeface="Oswald"/>
                          <a:ea typeface="Oswald"/>
                          <a:cs typeface="Oswald"/>
                          <a:sym typeface="Oswald"/>
                        </a:rPr>
                        <a:t>Responsabilidad</a:t>
                      </a:r>
                      <a:endParaRPr b="1" i="1" sz="1600">
                        <a:solidFill>
                          <a:srgbClr val="1F1F1F"/>
                        </a:solidFill>
                        <a:latin typeface="Oswald"/>
                        <a:ea typeface="Oswald"/>
                        <a:cs typeface="Oswald"/>
                        <a:sym typeface="Oswald"/>
                      </a:endParaRPr>
                    </a:p>
                  </a:txBody>
                  <a:tcPr marT="19050" marB="19050" marR="28575" marL="28575" anchor="ct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607175">
                <a:tc>
                  <a:txBody>
                    <a:bodyPr/>
                    <a:lstStyle/>
                    <a:p>
                      <a:pPr indent="0" lvl="0" marL="0" rtl="0" algn="l">
                        <a:lnSpc>
                          <a:spcPct val="115000"/>
                        </a:lnSpc>
                        <a:spcBef>
                          <a:spcPts val="0"/>
                        </a:spcBef>
                        <a:spcAft>
                          <a:spcPts val="0"/>
                        </a:spcAft>
                        <a:buNone/>
                      </a:pPr>
                      <a:r>
                        <a:rPr i="1" lang="es-419" sz="1600" u="sng">
                          <a:solidFill>
                            <a:schemeClr val="hlink"/>
                          </a:solidFill>
                          <a:latin typeface="Courier New"/>
                          <a:ea typeface="Courier New"/>
                          <a:cs typeface="Courier New"/>
                          <a:sym typeface="Courier New"/>
                          <a:hlinkClick r:id="rId5"/>
                        </a:rPr>
                        <a:t>config.py</a:t>
                      </a:r>
                      <a:endParaRPr i="1" sz="1600" u="sng">
                        <a:solidFill>
                          <a:schemeClr val="hlink"/>
                        </a:solidFill>
                        <a:latin typeface="Courier New"/>
                        <a:ea typeface="Courier New"/>
                        <a:cs typeface="Courier New"/>
                        <a:sym typeface="Courier New"/>
                      </a:endParaRPr>
                    </a:p>
                  </a:txBody>
                  <a:tcPr marT="19050" marB="19050" marR="28575" marL="28575" anchor="ctr">
                    <a:lnT cap="flat" cmpd="sng" w="76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a:t>
                      </a:r>
                      <a:endParaRPr sz="1600">
                        <a:solidFill>
                          <a:srgbClr val="1F1F1F"/>
                        </a:solidFill>
                        <a:latin typeface="Oswald"/>
                        <a:ea typeface="Oswald"/>
                        <a:cs typeface="Oswald"/>
                        <a:sym typeface="Oswald"/>
                      </a:endParaRPr>
                    </a:p>
                  </a:txBody>
                  <a:tcPr marT="19050" marB="19050" marR="28575" marL="28575" anchor="ctr">
                    <a:lnT cap="flat" cmpd="sng" w="76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Lee airflow/.env; expone rutas y URLs como constantes</a:t>
                      </a:r>
                      <a:endParaRPr sz="1600">
                        <a:solidFill>
                          <a:srgbClr val="1F1F1F"/>
                        </a:solidFill>
                        <a:latin typeface="Oswald"/>
                        <a:ea typeface="Oswald"/>
                        <a:cs typeface="Oswald"/>
                        <a:sym typeface="Oswald"/>
                      </a:endParaRPr>
                    </a:p>
                  </a:txBody>
                  <a:tcPr marT="19050" marB="19050" marR="28575" marL="28575" anchor="ctr">
                    <a:lnT cap="flat" cmpd="sng" w="7625">
                      <a:solidFill>
                        <a:srgbClr val="000000"/>
                      </a:solidFill>
                      <a:prstDash val="solid"/>
                      <a:round/>
                      <a:headEnd len="sm" w="sm" type="none"/>
                      <a:tailEnd len="sm" w="sm" type="none"/>
                    </a:lnT>
                  </a:tcPr>
                </a:tc>
              </a:tr>
              <a:tr h="801800">
                <a:tc>
                  <a:txBody>
                    <a:bodyPr/>
                    <a:lstStyle/>
                    <a:p>
                      <a:pPr indent="0" lvl="0" marL="0" rtl="0" algn="l">
                        <a:lnSpc>
                          <a:spcPct val="115000"/>
                        </a:lnSpc>
                        <a:spcBef>
                          <a:spcPts val="0"/>
                        </a:spcBef>
                        <a:spcAft>
                          <a:spcPts val="0"/>
                        </a:spcAft>
                        <a:buNone/>
                      </a:pPr>
                      <a:r>
                        <a:rPr i="1" lang="es-419" sz="1600" u="sng">
                          <a:solidFill>
                            <a:schemeClr val="hlink"/>
                          </a:solidFill>
                          <a:latin typeface="Courier New"/>
                          <a:ea typeface="Courier New"/>
                          <a:cs typeface="Courier New"/>
                          <a:sym typeface="Courier New"/>
                          <a:hlinkClick r:id="rId6"/>
                        </a:rPr>
                        <a:t>extract.py</a:t>
                      </a:r>
                      <a:endParaRPr i="1" sz="1600" u="sng">
                        <a:solidFill>
                          <a:schemeClr val="hlink"/>
                        </a:solidFill>
                        <a:latin typeface="Courier New"/>
                        <a:ea typeface="Courier New"/>
                        <a:cs typeface="Courier New"/>
                        <a:sym typeface="Courier New"/>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Courier New"/>
                          <a:ea typeface="Courier New"/>
                          <a:cs typeface="Courier New"/>
                          <a:sym typeface="Courier New"/>
                        </a:rPr>
                        <a:t>extract_data(), extract_icetex_api()</a:t>
                      </a:r>
                      <a:endParaRPr sz="1600">
                        <a:solidFill>
                          <a:srgbClr val="1F1F1F"/>
                        </a:solidFill>
                        <a:latin typeface="Courier New"/>
                        <a:ea typeface="Courier New"/>
                        <a:cs typeface="Courier New"/>
                        <a:sym typeface="Courier New"/>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CSV + API con paginación y reintentos por petición</a:t>
                      </a:r>
                      <a:endParaRPr sz="1600">
                        <a:solidFill>
                          <a:srgbClr val="1F1F1F"/>
                        </a:solidFill>
                        <a:latin typeface="Oswald"/>
                        <a:ea typeface="Oswald"/>
                        <a:cs typeface="Oswald"/>
                        <a:sym typeface="Oswald"/>
                      </a:endParaRPr>
                    </a:p>
                  </a:txBody>
                  <a:tcPr marT="19050" marB="19050" marR="28575" marL="28575" anchor="ctr"/>
                </a:tc>
              </a:tr>
              <a:tr h="934125">
                <a:tc>
                  <a:txBody>
                    <a:bodyPr/>
                    <a:lstStyle/>
                    <a:p>
                      <a:pPr indent="0" lvl="0" marL="0" rtl="0" algn="l">
                        <a:lnSpc>
                          <a:spcPct val="115000"/>
                        </a:lnSpc>
                        <a:spcBef>
                          <a:spcPts val="0"/>
                        </a:spcBef>
                        <a:spcAft>
                          <a:spcPts val="0"/>
                        </a:spcAft>
                        <a:buNone/>
                      </a:pPr>
                      <a:r>
                        <a:rPr i="1" lang="es-419" sz="1600" u="sng">
                          <a:solidFill>
                            <a:schemeClr val="hlink"/>
                          </a:solidFill>
                          <a:latin typeface="Courier New"/>
                          <a:ea typeface="Courier New"/>
                          <a:cs typeface="Courier New"/>
                          <a:sym typeface="Courier New"/>
                          <a:hlinkClick r:id="rId7"/>
                        </a:rPr>
                        <a:t>transform.py</a:t>
                      </a:r>
                      <a:endParaRPr i="1" sz="1600" u="sng">
                        <a:solidFill>
                          <a:schemeClr val="hlink"/>
                        </a:solidFill>
                        <a:latin typeface="Courier New"/>
                        <a:ea typeface="Courier New"/>
                        <a:cs typeface="Courier New"/>
                        <a:sym typeface="Courier New"/>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Courier New"/>
                          <a:ea typeface="Courier New"/>
                          <a:cs typeface="Courier New"/>
                          <a:sym typeface="Courier New"/>
                        </a:rPr>
                        <a:t>clean_primary(), aggregate_primary(), clean_icetex(), aggregate_icetex()</a:t>
                      </a:r>
                      <a:endParaRPr sz="1600">
                        <a:solidFill>
                          <a:srgbClr val="1F1F1F"/>
                        </a:solidFill>
                        <a:latin typeface="Courier New"/>
                        <a:ea typeface="Courier New"/>
                        <a:cs typeface="Courier New"/>
                        <a:sym typeface="Courier New"/>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Limpieza, homologación y agregación de ambas fuentes</a:t>
                      </a:r>
                      <a:endParaRPr sz="1600">
                        <a:solidFill>
                          <a:srgbClr val="1F1F1F"/>
                        </a:solidFill>
                        <a:latin typeface="Oswald"/>
                        <a:ea typeface="Oswald"/>
                        <a:cs typeface="Oswald"/>
                        <a:sym typeface="Oswald"/>
                      </a:endParaRPr>
                    </a:p>
                  </a:txBody>
                  <a:tcPr marT="19050" marB="19050" marR="28575" marL="28575" anchor="ctr"/>
                </a:tc>
              </a:tr>
              <a:tr h="607175">
                <a:tc>
                  <a:txBody>
                    <a:bodyPr/>
                    <a:lstStyle/>
                    <a:p>
                      <a:pPr indent="0" lvl="0" marL="0" rtl="0" algn="l">
                        <a:lnSpc>
                          <a:spcPct val="115000"/>
                        </a:lnSpc>
                        <a:spcBef>
                          <a:spcPts val="0"/>
                        </a:spcBef>
                        <a:spcAft>
                          <a:spcPts val="0"/>
                        </a:spcAft>
                        <a:buNone/>
                      </a:pPr>
                      <a:r>
                        <a:rPr i="1" lang="es-419" sz="1600" u="sng">
                          <a:solidFill>
                            <a:schemeClr val="hlink"/>
                          </a:solidFill>
                          <a:latin typeface="Courier New"/>
                          <a:ea typeface="Courier New"/>
                          <a:cs typeface="Courier New"/>
                          <a:sym typeface="Courier New"/>
                          <a:hlinkClick r:id="rId8"/>
                        </a:rPr>
                        <a:t>integrate.py</a:t>
                      </a:r>
                      <a:endParaRPr i="1" sz="1600" u="sng">
                        <a:solidFill>
                          <a:schemeClr val="hlink"/>
                        </a:solidFill>
                        <a:latin typeface="Courier New"/>
                        <a:ea typeface="Courier New"/>
                        <a:cs typeface="Courier New"/>
                        <a:sym typeface="Courier New"/>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Courier New"/>
                          <a:ea typeface="Courier New"/>
                          <a:cs typeface="Courier New"/>
                          <a:sym typeface="Courier New"/>
                        </a:rPr>
                        <a:t>integrate_sources()</a:t>
                      </a:r>
                      <a:endParaRPr sz="1600">
                        <a:solidFill>
                          <a:srgbClr val="1F1F1F"/>
                        </a:solidFill>
                        <a:latin typeface="Courier New"/>
                        <a:ea typeface="Courier New"/>
                        <a:cs typeface="Courier New"/>
                        <a:sym typeface="Courier New"/>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FULL OUTER JOIN + fillna(0) sobre las 7 llaves</a:t>
                      </a:r>
                      <a:endParaRPr sz="1600">
                        <a:solidFill>
                          <a:srgbClr val="1F1F1F"/>
                        </a:solidFill>
                        <a:latin typeface="Oswald"/>
                        <a:ea typeface="Oswald"/>
                        <a:cs typeface="Oswald"/>
                        <a:sym typeface="Oswald"/>
                      </a:endParaRPr>
                    </a:p>
                  </a:txBody>
                  <a:tcPr marT="19050" marB="19050" marR="28575" marL="28575" anchor="ctr"/>
                </a:tc>
              </a:tr>
              <a:tr h="420350">
                <a:tc>
                  <a:txBody>
                    <a:bodyPr/>
                    <a:lstStyle/>
                    <a:p>
                      <a:pPr indent="0" lvl="0" marL="0" rtl="0" algn="l">
                        <a:lnSpc>
                          <a:spcPct val="115000"/>
                        </a:lnSpc>
                        <a:spcBef>
                          <a:spcPts val="0"/>
                        </a:spcBef>
                        <a:spcAft>
                          <a:spcPts val="0"/>
                        </a:spcAft>
                        <a:buNone/>
                      </a:pPr>
                      <a:r>
                        <a:rPr i="1" lang="es-419" sz="1600" u="sng">
                          <a:solidFill>
                            <a:schemeClr val="hlink"/>
                          </a:solidFill>
                          <a:latin typeface="Courier New"/>
                          <a:ea typeface="Courier New"/>
                          <a:cs typeface="Courier New"/>
                          <a:sym typeface="Courier New"/>
                          <a:hlinkClick r:id="rId9"/>
                        </a:rPr>
                        <a:t>validate.py</a:t>
                      </a:r>
                      <a:endParaRPr i="1" sz="1600" u="sng">
                        <a:solidFill>
                          <a:schemeClr val="hlink"/>
                        </a:solidFill>
                        <a:latin typeface="Courier New"/>
                        <a:ea typeface="Courier New"/>
                        <a:cs typeface="Courier New"/>
                        <a:sym typeface="Courier New"/>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Courier New"/>
                          <a:ea typeface="Courier New"/>
                          <a:cs typeface="Courier New"/>
                          <a:sym typeface="Courier New"/>
                        </a:rPr>
                        <a:t>run_validation()</a:t>
                      </a:r>
                      <a:endParaRPr sz="1600">
                        <a:solidFill>
                          <a:srgbClr val="1F1F1F"/>
                        </a:solidFill>
                        <a:latin typeface="Courier New"/>
                        <a:ea typeface="Courier New"/>
                        <a:cs typeface="Courier New"/>
                        <a:sym typeface="Courier New"/>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Suite Great Expectations (Fase B)</a:t>
                      </a:r>
                      <a:endParaRPr sz="1600">
                        <a:solidFill>
                          <a:srgbClr val="1F1F1F"/>
                        </a:solidFill>
                        <a:latin typeface="Oswald"/>
                        <a:ea typeface="Oswald"/>
                        <a:cs typeface="Oswald"/>
                        <a:sym typeface="Oswald"/>
                      </a:endParaRPr>
                    </a:p>
                  </a:txBody>
                  <a:tcPr marT="19050" marB="19050" marR="28575" marL="28575" anchor="ctr"/>
                </a:tc>
              </a:tr>
              <a:tr h="482625">
                <a:tc>
                  <a:txBody>
                    <a:bodyPr/>
                    <a:lstStyle/>
                    <a:p>
                      <a:pPr indent="0" lvl="0" marL="0" rtl="0" algn="l">
                        <a:lnSpc>
                          <a:spcPct val="115000"/>
                        </a:lnSpc>
                        <a:spcBef>
                          <a:spcPts val="0"/>
                        </a:spcBef>
                        <a:spcAft>
                          <a:spcPts val="0"/>
                        </a:spcAft>
                        <a:buNone/>
                      </a:pPr>
                      <a:r>
                        <a:rPr i="1" lang="es-419" sz="1600" u="sng">
                          <a:solidFill>
                            <a:schemeClr val="hlink"/>
                          </a:solidFill>
                          <a:latin typeface="Courier New"/>
                          <a:ea typeface="Courier New"/>
                          <a:cs typeface="Courier New"/>
                          <a:sym typeface="Courier New"/>
                          <a:hlinkClick r:id="rId10"/>
                        </a:rPr>
                        <a:t>load.py</a:t>
                      </a:r>
                      <a:endParaRPr i="1" sz="1600" u="sng">
                        <a:solidFill>
                          <a:schemeClr val="hlink"/>
                        </a:solidFill>
                        <a:latin typeface="Courier New"/>
                        <a:ea typeface="Courier New"/>
                        <a:cs typeface="Courier New"/>
                        <a:sym typeface="Courier New"/>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Courier New"/>
                          <a:ea typeface="Courier New"/>
                          <a:cs typeface="Courier New"/>
                          <a:sym typeface="Courier New"/>
                        </a:rPr>
                        <a:t>load_data()</a:t>
                      </a:r>
                      <a:endParaRPr sz="1600">
                        <a:solidFill>
                          <a:srgbClr val="1F1F1F"/>
                        </a:solidFill>
                        <a:latin typeface="Courier New"/>
                        <a:ea typeface="Courier New"/>
                        <a:cs typeface="Courier New"/>
                        <a:sym typeface="Courier New"/>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6 dims + fact con dict-mapping anti-OOM</a:t>
                      </a:r>
                      <a:endParaRPr sz="1600">
                        <a:solidFill>
                          <a:srgbClr val="1F1F1F"/>
                        </a:solidFill>
                        <a:latin typeface="Oswald"/>
                        <a:ea typeface="Oswald"/>
                        <a:cs typeface="Oswald"/>
                        <a:sym typeface="Oswald"/>
                      </a:endParaRPr>
                    </a:p>
                  </a:txBody>
                  <a:tcPr marT="19050" marB="19050" marR="28575" marL="28575" anchor="ctr"/>
                </a:tc>
              </a:tr>
              <a:tr h="708375">
                <a:tc>
                  <a:txBody>
                    <a:bodyPr/>
                    <a:lstStyle/>
                    <a:p>
                      <a:pPr indent="0" lvl="0" marL="0" rtl="0" algn="l">
                        <a:lnSpc>
                          <a:spcPct val="115000"/>
                        </a:lnSpc>
                        <a:spcBef>
                          <a:spcPts val="0"/>
                        </a:spcBef>
                        <a:spcAft>
                          <a:spcPts val="0"/>
                        </a:spcAft>
                        <a:buNone/>
                      </a:pPr>
                      <a:r>
                        <a:rPr i="1" lang="es-419" sz="1600" u="sng">
                          <a:solidFill>
                            <a:schemeClr val="hlink"/>
                          </a:solidFill>
                          <a:latin typeface="Courier New"/>
                          <a:ea typeface="Courier New"/>
                          <a:cs typeface="Courier New"/>
                          <a:sym typeface="Courier New"/>
                          <a:hlinkClick r:id="rId11"/>
                        </a:rPr>
                        <a:t>main.py</a:t>
                      </a:r>
                      <a:endParaRPr i="1" sz="1600" u="sng">
                        <a:solidFill>
                          <a:schemeClr val="hlink"/>
                        </a:solidFill>
                        <a:latin typeface="Courier New"/>
                        <a:ea typeface="Courier New"/>
                        <a:cs typeface="Courier New"/>
                        <a:sym typeface="Courier New"/>
                      </a:endParaRPr>
                    </a:p>
                  </a:txBody>
                  <a:tcPr marT="19050" marB="19050" marR="28575" marL="28575" anchor="ctr">
                    <a:lnB cap="flat" cmpd="sng" w="228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419" sz="1600">
                          <a:solidFill>
                            <a:srgbClr val="1F1F1F"/>
                          </a:solidFill>
                          <a:latin typeface="Courier New"/>
                          <a:ea typeface="Courier New"/>
                          <a:cs typeface="Courier New"/>
                          <a:sym typeface="Courier New"/>
                        </a:rPr>
                        <a:t>main(), init_database_if_not_exists()</a:t>
                      </a:r>
                      <a:endParaRPr sz="1600">
                        <a:solidFill>
                          <a:srgbClr val="1F1F1F"/>
                        </a:solidFill>
                        <a:latin typeface="Courier New"/>
                        <a:ea typeface="Courier New"/>
                        <a:cs typeface="Courier New"/>
                        <a:sym typeface="Courier New"/>
                      </a:endParaRPr>
                    </a:p>
                  </a:txBody>
                  <a:tcPr marT="19050" marB="19050" marR="28575" marL="28575" anchor="ctr">
                    <a:lnB cap="flat" cmpd="sng" w="228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Orquestador; auto-crea el schema si no existe</a:t>
                      </a:r>
                      <a:endParaRPr sz="1600">
                        <a:solidFill>
                          <a:srgbClr val="1F1F1F"/>
                        </a:solidFill>
                        <a:latin typeface="Oswald"/>
                        <a:ea typeface="Oswald"/>
                        <a:cs typeface="Oswald"/>
                        <a:sym typeface="Oswald"/>
                      </a:endParaRPr>
                    </a:p>
                  </a:txBody>
                  <a:tcPr marT="19050" marB="19050" marR="28575" marL="28575" anchor="ctr">
                    <a:lnB cap="flat" cmpd="sng" w="22850">
                      <a:solidFill>
                        <a:srgbClr val="000000"/>
                      </a:solidFill>
                      <a:prstDash val="solid"/>
                      <a:round/>
                      <a:headEnd len="sm" w="sm" type="none"/>
                      <a:tailEnd len="sm" w="sm" type="none"/>
                    </a:lnB>
                  </a:tcPr>
                </a:tc>
              </a:tr>
            </a:tbl>
          </a:graphicData>
        </a:graphic>
      </p:graphicFrame>
      <p:sp>
        <p:nvSpPr>
          <p:cNvPr id="252" name="Google Shape;252;p21"/>
          <p:cNvSpPr/>
          <p:nvPr/>
        </p:nvSpPr>
        <p:spPr>
          <a:xfrm>
            <a:off x="185525" y="2468600"/>
            <a:ext cx="3033000" cy="20304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82400" lIns="82400" spcFirstLastPara="1" rIns="82400" wrap="square" tIns="82400">
            <a:noAutofit/>
          </a:bodyPr>
          <a:lstStyle/>
          <a:p>
            <a:pPr indent="0" lvl="0" marL="0" rtl="0" algn="ctr">
              <a:spcBef>
                <a:spcPts val="0"/>
              </a:spcBef>
              <a:spcAft>
                <a:spcPts val="0"/>
              </a:spcAft>
              <a:buNone/>
            </a:pPr>
            <a:r>
              <a:rPr b="1" i="1" lang="es-419" sz="1862">
                <a:solidFill>
                  <a:srgbClr val="204A87"/>
                </a:solidFill>
                <a:latin typeface="Oswald"/>
                <a:ea typeface="Oswald"/>
                <a:cs typeface="Oswald"/>
                <a:sym typeface="Oswald"/>
              </a:rPr>
              <a:t>Mecanismo de Integración</a:t>
            </a:r>
            <a:endParaRPr b="1" i="1" sz="1862">
              <a:solidFill>
                <a:srgbClr val="204A87"/>
              </a:solidFill>
              <a:latin typeface="Oswald"/>
              <a:ea typeface="Oswald"/>
              <a:cs typeface="Oswald"/>
              <a:sym typeface="Oswald"/>
            </a:endParaRPr>
          </a:p>
          <a:p>
            <a:pPr indent="0" lvl="0" marL="0" rtl="0" algn="ctr">
              <a:spcBef>
                <a:spcPts val="0"/>
              </a:spcBef>
              <a:spcAft>
                <a:spcPts val="0"/>
              </a:spcAft>
              <a:buNone/>
            </a:pPr>
            <a:r>
              <a:rPr i="1" lang="es-419" sz="1862">
                <a:solidFill>
                  <a:srgbClr val="204A87"/>
                </a:solidFill>
                <a:latin typeface="Oswald"/>
                <a:ea typeface="Oswald"/>
                <a:cs typeface="Oswald"/>
                <a:sym typeface="Oswald"/>
              </a:rPr>
              <a:t>FULL OUTER JOIN para preservar los registros de ambas fuentes</a:t>
            </a:r>
            <a:endParaRPr i="1" sz="1862">
              <a:solidFill>
                <a:srgbClr val="204A87"/>
              </a:solidFill>
              <a:latin typeface="Oswald"/>
              <a:ea typeface="Oswald"/>
              <a:cs typeface="Oswald"/>
              <a:sym typeface="Oswald"/>
            </a:endParaRPr>
          </a:p>
        </p:txBody>
      </p:sp>
      <p:sp>
        <p:nvSpPr>
          <p:cNvPr id="253" name="Google Shape;253;p21"/>
          <p:cNvSpPr/>
          <p:nvPr/>
        </p:nvSpPr>
        <p:spPr>
          <a:xfrm>
            <a:off x="185525" y="4581800"/>
            <a:ext cx="3033000" cy="20304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82400" lIns="82400" spcFirstLastPara="1" rIns="82400" wrap="square" tIns="82400">
            <a:noAutofit/>
          </a:bodyPr>
          <a:lstStyle/>
          <a:p>
            <a:pPr indent="0" lvl="0" marL="0" rtl="0" algn="ctr">
              <a:spcBef>
                <a:spcPts val="0"/>
              </a:spcBef>
              <a:spcAft>
                <a:spcPts val="0"/>
              </a:spcAft>
              <a:buNone/>
            </a:pPr>
            <a:r>
              <a:rPr b="1" i="1" lang="es-419" sz="1862">
                <a:solidFill>
                  <a:srgbClr val="204A87"/>
                </a:solidFill>
                <a:latin typeface="Oswald"/>
                <a:ea typeface="Oswald"/>
                <a:cs typeface="Oswald"/>
                <a:sym typeface="Oswald"/>
              </a:rPr>
              <a:t>Supuesto </a:t>
            </a:r>
            <a:r>
              <a:rPr b="1" i="1" lang="es-419" sz="1862">
                <a:solidFill>
                  <a:srgbClr val="204A87"/>
                </a:solidFill>
                <a:latin typeface="Oswald"/>
                <a:ea typeface="Oswald"/>
                <a:cs typeface="Oswald"/>
                <a:sym typeface="Oswald"/>
              </a:rPr>
              <a:t>Crítico</a:t>
            </a:r>
            <a:endParaRPr b="1" i="1" sz="1862">
              <a:solidFill>
                <a:srgbClr val="204A87"/>
              </a:solidFill>
              <a:latin typeface="Oswald"/>
              <a:ea typeface="Oswald"/>
              <a:cs typeface="Oswald"/>
              <a:sym typeface="Oswald"/>
            </a:endParaRPr>
          </a:p>
          <a:p>
            <a:pPr indent="0" lvl="0" marL="0" rtl="0" algn="ctr">
              <a:spcBef>
                <a:spcPts val="0"/>
              </a:spcBef>
              <a:spcAft>
                <a:spcPts val="0"/>
              </a:spcAft>
              <a:buNone/>
            </a:pPr>
            <a:r>
              <a:rPr i="1" lang="es-419" sz="1862">
                <a:solidFill>
                  <a:srgbClr val="204A87"/>
                </a:solidFill>
                <a:latin typeface="Oswald"/>
                <a:ea typeface="Oswald"/>
                <a:cs typeface="Oswald"/>
                <a:sym typeface="Oswald"/>
              </a:rPr>
              <a:t>La </a:t>
            </a:r>
            <a:r>
              <a:rPr i="1" lang="es-419" sz="1862">
                <a:solidFill>
                  <a:srgbClr val="204A87"/>
                </a:solidFill>
                <a:latin typeface="Oswald"/>
                <a:ea typeface="Oswald"/>
                <a:cs typeface="Oswald"/>
                <a:sym typeface="Oswald"/>
              </a:rPr>
              <a:t>mayoría</a:t>
            </a:r>
            <a:r>
              <a:rPr i="1" lang="es-419" sz="1862">
                <a:solidFill>
                  <a:srgbClr val="204A87"/>
                </a:solidFill>
                <a:latin typeface="Oswald"/>
                <a:ea typeface="Oswald"/>
                <a:cs typeface="Oswald"/>
                <a:sym typeface="Oswald"/>
              </a:rPr>
              <a:t> de estudiantes estudian cerca de su lugar de origen</a:t>
            </a:r>
            <a:endParaRPr i="1" sz="1862">
              <a:solidFill>
                <a:srgbClr val="204A87"/>
              </a:solidFill>
              <a:latin typeface="Oswald"/>
              <a:ea typeface="Oswald"/>
              <a:cs typeface="Oswald"/>
              <a:sym typeface="Oswald"/>
            </a:endParaRPr>
          </a:p>
        </p:txBody>
      </p:sp>
      <p:sp>
        <p:nvSpPr>
          <p:cNvPr id="254" name="Google Shape;254;p21"/>
          <p:cNvSpPr txBox="1"/>
          <p:nvPr/>
        </p:nvSpPr>
        <p:spPr>
          <a:xfrm>
            <a:off x="3974463" y="6783975"/>
            <a:ext cx="6295200" cy="399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400"/>
              </a:spcBef>
              <a:spcAft>
                <a:spcPts val="400"/>
              </a:spcAft>
              <a:buNone/>
            </a:pPr>
            <a:r>
              <a:rPr i="1" lang="es-419" sz="1500">
                <a:solidFill>
                  <a:schemeClr val="dk1"/>
                </a:solidFill>
                <a:latin typeface="Oswald"/>
                <a:ea typeface="Oswald"/>
                <a:cs typeface="Oswald"/>
                <a:sym typeface="Oswald"/>
              </a:rPr>
              <a:t>Ruta de referencia  </a:t>
            </a:r>
            <a:r>
              <a:rPr i="1" lang="es-419" sz="1500">
                <a:solidFill>
                  <a:schemeClr val="dk1"/>
                </a:solidFill>
                <a:latin typeface="Courier New"/>
                <a:ea typeface="Courier New"/>
                <a:cs typeface="Courier New"/>
                <a:sym typeface="Courier New"/>
              </a:rPr>
              <a:t>src/*</a:t>
            </a:r>
            <a:r>
              <a:rPr i="1" lang="es-419" sz="1500">
                <a:solidFill>
                  <a:schemeClr val="dk1"/>
                </a:solidFill>
                <a:latin typeface="Courier New"/>
                <a:ea typeface="Courier New"/>
                <a:cs typeface="Courier New"/>
                <a:sym typeface="Courier New"/>
              </a:rPr>
              <a:t>  </a:t>
            </a:r>
            <a:endParaRPr i="1" sz="1500">
              <a:latin typeface="Courier New"/>
              <a:ea typeface="Courier New"/>
              <a:cs typeface="Courier New"/>
              <a:sym typeface="Courier New"/>
            </a:endParaRPr>
          </a:p>
        </p:txBody>
      </p:sp>
      <p:sp>
        <p:nvSpPr>
          <p:cNvPr id="255" name="Google Shape;255;p21"/>
          <p:cNvSpPr/>
          <p:nvPr/>
        </p:nvSpPr>
        <p:spPr>
          <a:xfrm>
            <a:off x="0" y="0"/>
            <a:ext cx="10800000" cy="7200000"/>
          </a:xfrm>
          <a:prstGeom prst="rect">
            <a:avLst/>
          </a:prstGeom>
          <a:no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 name="Google Shape;256;p21"/>
          <p:cNvSpPr/>
          <p:nvPr/>
        </p:nvSpPr>
        <p:spPr>
          <a:xfrm>
            <a:off x="6981200" y="706398"/>
            <a:ext cx="707400" cy="6318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57" name="Google Shape;257;p21"/>
          <p:cNvPicPr preferRelativeResize="0"/>
          <p:nvPr/>
        </p:nvPicPr>
        <p:blipFill>
          <a:blip r:embed="rId12">
            <a:alphaModFix/>
          </a:blip>
          <a:stretch>
            <a:fillRect/>
          </a:stretch>
        </p:blipFill>
        <p:spPr>
          <a:xfrm>
            <a:off x="7089900" y="777300"/>
            <a:ext cx="489999" cy="4899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2"/>
          <p:cNvSpPr/>
          <p:nvPr/>
        </p:nvSpPr>
        <p:spPr>
          <a:xfrm>
            <a:off x="0" y="0"/>
            <a:ext cx="10800000" cy="7200000"/>
          </a:xfrm>
          <a:prstGeom prst="rect">
            <a:avLst/>
          </a:prstGeom>
          <a:no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22"/>
          <p:cNvSpPr/>
          <p:nvPr/>
        </p:nvSpPr>
        <p:spPr>
          <a:xfrm>
            <a:off x="0" y="-19825"/>
            <a:ext cx="10800000" cy="773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22"/>
          <p:cNvSpPr/>
          <p:nvPr/>
        </p:nvSpPr>
        <p:spPr>
          <a:xfrm>
            <a:off x="202050" y="148300"/>
            <a:ext cx="6312300" cy="773400"/>
          </a:xfrm>
          <a:prstGeom prst="roundRect">
            <a:avLst>
              <a:gd fmla="val 16667" name="adj"/>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5" name="Google Shape;265;p22"/>
          <p:cNvSpPr txBox="1"/>
          <p:nvPr/>
        </p:nvSpPr>
        <p:spPr>
          <a:xfrm>
            <a:off x="202050" y="148300"/>
            <a:ext cx="6047100" cy="773400"/>
          </a:xfrm>
          <a:prstGeom prst="rect">
            <a:avLst/>
          </a:prstGeom>
          <a:noFill/>
          <a:ln>
            <a:noFill/>
          </a:ln>
        </p:spPr>
        <p:txBody>
          <a:bodyPr anchorCtr="0" anchor="t" bIns="114650" lIns="114650" spcFirstLastPara="1" rIns="114650" wrap="square" tIns="114650">
            <a:noAutofit/>
          </a:bodyPr>
          <a:lstStyle/>
          <a:p>
            <a:pPr indent="0" lvl="0" marL="0" rtl="0" algn="l">
              <a:spcBef>
                <a:spcPts val="0"/>
              </a:spcBef>
              <a:spcAft>
                <a:spcPts val="0"/>
              </a:spcAft>
              <a:buNone/>
            </a:pPr>
            <a:r>
              <a:rPr b="1" lang="es-419" sz="3800">
                <a:solidFill>
                  <a:schemeClr val="dk1"/>
                </a:solidFill>
                <a:latin typeface="Oswald"/>
                <a:ea typeface="Oswald"/>
                <a:cs typeface="Oswald"/>
                <a:sym typeface="Oswald"/>
              </a:rPr>
              <a:t>Great Expectations | </a:t>
            </a:r>
            <a:r>
              <a:rPr b="1" lang="es-419" sz="3800">
                <a:solidFill>
                  <a:schemeClr val="dk1"/>
                </a:solidFill>
                <a:latin typeface="Oswald"/>
                <a:ea typeface="Oswald"/>
                <a:cs typeface="Oswald"/>
                <a:sym typeface="Oswald"/>
              </a:rPr>
              <a:t>Críticas</a:t>
            </a:r>
            <a:endParaRPr b="1" sz="3800">
              <a:solidFill>
                <a:schemeClr val="dk1"/>
              </a:solidFill>
              <a:latin typeface="Oswald"/>
              <a:ea typeface="Oswald"/>
              <a:cs typeface="Oswald"/>
              <a:sym typeface="Oswald"/>
            </a:endParaRPr>
          </a:p>
        </p:txBody>
      </p:sp>
      <p:graphicFrame>
        <p:nvGraphicFramePr>
          <p:cNvPr id="266" name="Google Shape;266;p22"/>
          <p:cNvGraphicFramePr/>
          <p:nvPr/>
        </p:nvGraphicFramePr>
        <p:xfrm>
          <a:off x="374738" y="1294750"/>
          <a:ext cx="3000000" cy="3000000"/>
        </p:xfrm>
        <a:graphic>
          <a:graphicData uri="http://schemas.openxmlformats.org/drawingml/2006/table">
            <a:tbl>
              <a:tblPr>
                <a:noFill/>
                <a:tableStyleId>{C556CFA1-8E2C-47EC-A9A8-5E49D9BD7B61}</a:tableStyleId>
              </a:tblPr>
              <a:tblGrid>
                <a:gridCol w="575150"/>
                <a:gridCol w="3690050"/>
                <a:gridCol w="3911975"/>
                <a:gridCol w="2135950"/>
              </a:tblGrid>
              <a:tr h="280100">
                <a:tc>
                  <a:txBody>
                    <a:bodyPr/>
                    <a:lstStyle/>
                    <a:p>
                      <a:pPr indent="0" lvl="0" marL="0" rtl="0" algn="l">
                        <a:lnSpc>
                          <a:spcPct val="115000"/>
                        </a:lnSpc>
                        <a:spcBef>
                          <a:spcPts val="0"/>
                        </a:spcBef>
                        <a:spcAft>
                          <a:spcPts val="0"/>
                        </a:spcAft>
                        <a:buNone/>
                      </a:pPr>
                      <a:r>
                        <a:rPr b="1" i="1" lang="es-419" sz="1600">
                          <a:solidFill>
                            <a:srgbClr val="1F1F1F"/>
                          </a:solidFill>
                          <a:latin typeface="Oswald"/>
                          <a:ea typeface="Oswald"/>
                          <a:cs typeface="Oswald"/>
                          <a:sym typeface="Oswald"/>
                        </a:rPr>
                        <a:t>#</a:t>
                      </a:r>
                      <a:endParaRPr b="1" i="1" sz="1600">
                        <a:solidFill>
                          <a:srgbClr val="1F1F1F"/>
                        </a:solidFill>
                        <a:latin typeface="Oswald"/>
                        <a:ea typeface="Oswald"/>
                        <a:cs typeface="Oswald"/>
                        <a:sym typeface="Oswald"/>
                      </a:endParaRPr>
                    </a:p>
                  </a:txBody>
                  <a:tcPr marT="19050" marB="19050" marR="28575" marL="28575" anchor="ct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i="1" lang="es-419" sz="1600">
                          <a:solidFill>
                            <a:srgbClr val="1F1F1F"/>
                          </a:solidFill>
                          <a:latin typeface="Oswald"/>
                          <a:ea typeface="Oswald"/>
                          <a:cs typeface="Oswald"/>
                          <a:sym typeface="Oswald"/>
                        </a:rPr>
                        <a:t>Tipo</a:t>
                      </a:r>
                      <a:endParaRPr b="1" i="1" sz="1600">
                        <a:solidFill>
                          <a:srgbClr val="1F1F1F"/>
                        </a:solidFill>
                        <a:latin typeface="Oswald"/>
                        <a:ea typeface="Oswald"/>
                        <a:cs typeface="Oswald"/>
                        <a:sym typeface="Oswald"/>
                      </a:endParaRPr>
                    </a:p>
                  </a:txBody>
                  <a:tcPr marT="19050" marB="19050" marR="28575" marL="28575" anchor="ct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i="1" lang="es-419" sz="1600">
                          <a:solidFill>
                            <a:srgbClr val="1F1F1F"/>
                          </a:solidFill>
                          <a:latin typeface="Oswald"/>
                          <a:ea typeface="Oswald"/>
                          <a:cs typeface="Oswald"/>
                          <a:sym typeface="Oswald"/>
                        </a:rPr>
                        <a:t>Columna</a:t>
                      </a:r>
                      <a:endParaRPr b="1" i="1" sz="1600">
                        <a:solidFill>
                          <a:srgbClr val="1F1F1F"/>
                        </a:solidFill>
                        <a:latin typeface="Oswald"/>
                        <a:ea typeface="Oswald"/>
                        <a:cs typeface="Oswald"/>
                        <a:sym typeface="Oswald"/>
                      </a:endParaRPr>
                    </a:p>
                  </a:txBody>
                  <a:tcPr marT="19050" marB="19050" marR="28575" marL="28575" anchor="ct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i="1" lang="es-419" sz="1600">
                          <a:solidFill>
                            <a:srgbClr val="1F1F1F"/>
                          </a:solidFill>
                          <a:latin typeface="Oswald"/>
                          <a:ea typeface="Oswald"/>
                          <a:cs typeface="Oswald"/>
                          <a:sym typeface="Oswald"/>
                        </a:rPr>
                        <a:t>Justificación</a:t>
                      </a:r>
                      <a:endParaRPr b="1" i="1" sz="1600">
                        <a:solidFill>
                          <a:srgbClr val="1F1F1F"/>
                        </a:solidFill>
                        <a:latin typeface="Oswald"/>
                        <a:ea typeface="Oswald"/>
                        <a:cs typeface="Oswald"/>
                        <a:sym typeface="Oswald"/>
                      </a:endParaRPr>
                    </a:p>
                  </a:txBody>
                  <a:tcPr marT="19050" marB="19050" marR="28575" marL="28575" anchor="ct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1115850">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1–7</a:t>
                      </a:r>
                      <a:endParaRPr i="1" sz="1600">
                        <a:solidFill>
                          <a:srgbClr val="1F1F1F"/>
                        </a:solidFill>
                        <a:latin typeface="Oswald"/>
                        <a:ea typeface="Oswald"/>
                        <a:cs typeface="Oswald"/>
                        <a:sym typeface="Oswald"/>
                      </a:endParaRPr>
                    </a:p>
                  </a:txBody>
                  <a:tcPr marT="19050" marB="19050" marR="28575" marL="28575" anchor="ctr">
                    <a:lnT cap="flat" cmpd="sng" w="76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s-419" sz="1600">
                          <a:solidFill>
                            <a:srgbClr val="1F1F1F"/>
                          </a:solidFill>
                          <a:latin typeface="Courier New"/>
                          <a:ea typeface="Courier New"/>
                          <a:cs typeface="Courier New"/>
                          <a:sym typeface="Courier New"/>
                        </a:rPr>
                        <a:t>ExpectColumnValuesToNotBeNull</a:t>
                      </a:r>
                      <a:endParaRPr sz="1600">
                        <a:solidFill>
                          <a:srgbClr val="1F1F1F"/>
                        </a:solidFill>
                        <a:latin typeface="Courier New"/>
                        <a:ea typeface="Courier New"/>
                        <a:cs typeface="Courier New"/>
                        <a:sym typeface="Courier New"/>
                      </a:endParaRPr>
                    </a:p>
                  </a:txBody>
                  <a:tcPr marT="19050" marB="19050" marR="28575" marL="28575" anchor="ctr">
                    <a:lnT cap="flat" cmpd="sng" w="76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i="1" lang="es-419" sz="1600">
                          <a:solidFill>
                            <a:srgbClr val="1F1F1F"/>
                          </a:solidFill>
                          <a:latin typeface="Courier New"/>
                          <a:ea typeface="Courier New"/>
                          <a:cs typeface="Courier New"/>
                          <a:sym typeface="Courier New"/>
                        </a:rPr>
                        <a:t>anio, semestre, departamento, nivel_formacion, sector_ies, id_genero, estrato</a:t>
                      </a:r>
                      <a:endParaRPr i="1" sz="1600">
                        <a:solidFill>
                          <a:srgbClr val="1F1F1F"/>
                        </a:solidFill>
                        <a:latin typeface="Courier New"/>
                        <a:ea typeface="Courier New"/>
                        <a:cs typeface="Courier New"/>
                        <a:sym typeface="Courier New"/>
                      </a:endParaRPr>
                    </a:p>
                  </a:txBody>
                  <a:tcPr marT="19050" marB="19050" marR="28575" marL="28575" anchor="ctr">
                    <a:lnT cap="flat" cmpd="sng" w="76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Claves de negocio obligatorias</a:t>
                      </a:r>
                      <a:endParaRPr sz="1600">
                        <a:solidFill>
                          <a:srgbClr val="1F1F1F"/>
                        </a:solidFill>
                        <a:latin typeface="Oswald"/>
                        <a:ea typeface="Oswald"/>
                        <a:cs typeface="Oswald"/>
                        <a:sym typeface="Oswald"/>
                      </a:endParaRPr>
                    </a:p>
                  </a:txBody>
                  <a:tcPr marT="19050" marB="19050" marR="28575" marL="28575" anchor="ctr">
                    <a:lnT cap="flat" cmpd="sng" w="7625">
                      <a:solidFill>
                        <a:srgbClr val="000000"/>
                      </a:solidFill>
                      <a:prstDash val="solid"/>
                      <a:round/>
                      <a:headEnd len="sm" w="sm" type="none"/>
                      <a:tailEnd len="sm" w="sm" type="none"/>
                    </a:lnT>
                  </a:tcPr>
                </a:tc>
              </a:tr>
              <a:tr h="681500">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8–9</a:t>
                      </a:r>
                      <a:endParaRPr i="1"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Courier New"/>
                          <a:ea typeface="Courier New"/>
                          <a:cs typeface="Courier New"/>
                          <a:sym typeface="Courier New"/>
                        </a:rPr>
                        <a:t>ExpectColumnValuesToBeBetween(min=0)</a:t>
                      </a:r>
                      <a:endParaRPr sz="1600">
                        <a:solidFill>
                          <a:srgbClr val="1F1F1F"/>
                        </a:solidFill>
                        <a:latin typeface="Courier New"/>
                        <a:ea typeface="Courier New"/>
                        <a:cs typeface="Courier New"/>
                        <a:sym typeface="Courier New"/>
                      </a:endParaRPr>
                    </a:p>
                  </a:txBody>
                  <a:tcPr marT="19050" marB="19050" marR="28575" marL="28575" anchor="ctr"/>
                </a:tc>
                <a:tc>
                  <a:txBody>
                    <a:bodyPr/>
                    <a:lstStyle/>
                    <a:p>
                      <a:pPr indent="0" lvl="0" marL="0" rtl="0" algn="l">
                        <a:lnSpc>
                          <a:spcPct val="115000"/>
                        </a:lnSpc>
                        <a:spcBef>
                          <a:spcPts val="0"/>
                        </a:spcBef>
                        <a:spcAft>
                          <a:spcPts val="0"/>
                        </a:spcAft>
                        <a:buNone/>
                      </a:pPr>
                      <a:r>
                        <a:rPr i="1" lang="es-419" sz="1600">
                          <a:solidFill>
                            <a:srgbClr val="1F1F1F"/>
                          </a:solidFill>
                          <a:latin typeface="Courier New"/>
                          <a:ea typeface="Courier New"/>
                          <a:cs typeface="Courier New"/>
                          <a:sym typeface="Courier New"/>
                        </a:rPr>
                        <a:t>total_matriculados, nuevos_beneficiarios_credito</a:t>
                      </a:r>
                      <a:endParaRPr i="1" sz="1600">
                        <a:solidFill>
                          <a:srgbClr val="1F1F1F"/>
                        </a:solidFill>
                        <a:latin typeface="Courier New"/>
                        <a:ea typeface="Courier New"/>
                        <a:cs typeface="Courier New"/>
                        <a:sym typeface="Courier New"/>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Métricas aditivas, no negativas</a:t>
                      </a:r>
                      <a:endParaRPr sz="1600">
                        <a:solidFill>
                          <a:srgbClr val="1F1F1F"/>
                        </a:solidFill>
                        <a:latin typeface="Oswald"/>
                        <a:ea typeface="Oswald"/>
                        <a:cs typeface="Oswald"/>
                        <a:sym typeface="Oswald"/>
                      </a:endParaRPr>
                    </a:p>
                  </a:txBody>
                  <a:tcPr marT="19050" marB="19050" marR="28575" marL="28575" anchor="ctr"/>
                </a:tc>
              </a:tr>
              <a:tr h="526225">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10</a:t>
                      </a:r>
                      <a:endParaRPr i="1"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Courier New"/>
                          <a:ea typeface="Courier New"/>
                          <a:cs typeface="Courier New"/>
                          <a:sym typeface="Courier New"/>
                        </a:rPr>
                        <a:t>ExpectColumnValuesToBeInSet([0..6])</a:t>
                      </a:r>
                      <a:endParaRPr sz="1600">
                        <a:solidFill>
                          <a:srgbClr val="1F1F1F"/>
                        </a:solidFill>
                        <a:latin typeface="Courier New"/>
                        <a:ea typeface="Courier New"/>
                        <a:cs typeface="Courier New"/>
                        <a:sym typeface="Courier New"/>
                      </a:endParaRPr>
                    </a:p>
                  </a:txBody>
                  <a:tcPr marT="19050" marB="19050" marR="28575" marL="28575" anchor="ctr"/>
                </a:tc>
                <a:tc>
                  <a:txBody>
                    <a:bodyPr/>
                    <a:lstStyle/>
                    <a:p>
                      <a:pPr indent="0" lvl="0" marL="0" rtl="0" algn="l">
                        <a:lnSpc>
                          <a:spcPct val="115000"/>
                        </a:lnSpc>
                        <a:spcBef>
                          <a:spcPts val="0"/>
                        </a:spcBef>
                        <a:spcAft>
                          <a:spcPts val="0"/>
                        </a:spcAft>
                        <a:buNone/>
                      </a:pPr>
                      <a:r>
                        <a:rPr i="1" lang="es-419" sz="1600">
                          <a:solidFill>
                            <a:srgbClr val="1F1F1F"/>
                          </a:solidFill>
                          <a:latin typeface="Courier New"/>
                          <a:ea typeface="Courier New"/>
                          <a:cs typeface="Courier New"/>
                          <a:sym typeface="Courier New"/>
                        </a:rPr>
                        <a:t>estrato</a:t>
                      </a:r>
                      <a:endParaRPr i="1" sz="1600">
                        <a:solidFill>
                          <a:srgbClr val="1F1F1F"/>
                        </a:solidFill>
                        <a:latin typeface="Courier New"/>
                        <a:ea typeface="Courier New"/>
                        <a:cs typeface="Courier New"/>
                        <a:sym typeface="Courier New"/>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0=Desconocido (SNIES), 1..6 (ICETEX)</a:t>
                      </a:r>
                      <a:endParaRPr sz="1600">
                        <a:solidFill>
                          <a:srgbClr val="1F1F1F"/>
                        </a:solidFill>
                        <a:latin typeface="Oswald"/>
                        <a:ea typeface="Oswald"/>
                        <a:cs typeface="Oswald"/>
                        <a:sym typeface="Oswald"/>
                      </a:endParaRPr>
                    </a:p>
                  </a:txBody>
                  <a:tcPr marT="19050" marB="19050" marR="28575" marL="28575" anchor="ctr"/>
                </a:tc>
              </a:tr>
              <a:tr h="526225">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11</a:t>
                      </a:r>
                      <a:endParaRPr i="1"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Courier New"/>
                          <a:ea typeface="Courier New"/>
                          <a:cs typeface="Courier New"/>
                          <a:sym typeface="Courier New"/>
                        </a:rPr>
                        <a:t>ExpectColumnValuesToBeInSet(7 valores)</a:t>
                      </a:r>
                      <a:endParaRPr sz="1600">
                        <a:solidFill>
                          <a:srgbClr val="1F1F1F"/>
                        </a:solidFill>
                        <a:latin typeface="Courier New"/>
                        <a:ea typeface="Courier New"/>
                        <a:cs typeface="Courier New"/>
                        <a:sym typeface="Courier New"/>
                      </a:endParaRPr>
                    </a:p>
                  </a:txBody>
                  <a:tcPr marT="19050" marB="19050" marR="28575" marL="28575" anchor="ctr"/>
                </a:tc>
                <a:tc>
                  <a:txBody>
                    <a:bodyPr/>
                    <a:lstStyle/>
                    <a:p>
                      <a:pPr indent="0" lvl="0" marL="0" rtl="0" algn="l">
                        <a:lnSpc>
                          <a:spcPct val="115000"/>
                        </a:lnSpc>
                        <a:spcBef>
                          <a:spcPts val="0"/>
                        </a:spcBef>
                        <a:spcAft>
                          <a:spcPts val="0"/>
                        </a:spcAft>
                        <a:buNone/>
                      </a:pPr>
                      <a:r>
                        <a:rPr i="1" lang="es-419" sz="1600">
                          <a:solidFill>
                            <a:srgbClr val="1F1F1F"/>
                          </a:solidFill>
                          <a:latin typeface="Courier New"/>
                          <a:ea typeface="Courier New"/>
                          <a:cs typeface="Courier New"/>
                          <a:sym typeface="Courier New"/>
                        </a:rPr>
                        <a:t>nivel_formacion</a:t>
                      </a:r>
                      <a:endParaRPr i="1" sz="1600">
                        <a:solidFill>
                          <a:srgbClr val="1F1F1F"/>
                        </a:solidFill>
                        <a:latin typeface="Courier New"/>
                        <a:ea typeface="Courier New"/>
                        <a:cs typeface="Courier New"/>
                        <a:sym typeface="Courier New"/>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Dominio canónico en minúsculas</a:t>
                      </a:r>
                      <a:endParaRPr sz="1600">
                        <a:solidFill>
                          <a:srgbClr val="1F1F1F"/>
                        </a:solidFill>
                        <a:latin typeface="Oswald"/>
                        <a:ea typeface="Oswald"/>
                        <a:cs typeface="Oswald"/>
                        <a:sym typeface="Oswald"/>
                      </a:endParaRPr>
                    </a:p>
                  </a:txBody>
                  <a:tcPr marT="19050" marB="19050" marR="28575" marL="28575" anchor="ctr"/>
                </a:tc>
              </a:tr>
              <a:tr h="681500">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12</a:t>
                      </a:r>
                      <a:endParaRPr i="1"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Courier New"/>
                          <a:ea typeface="Courier New"/>
                          <a:cs typeface="Courier New"/>
                          <a:sym typeface="Courier New"/>
                        </a:rPr>
                        <a:t>ExpectColumnValuesToBeInSet(['oficial','privado','desconocido'])</a:t>
                      </a:r>
                      <a:endParaRPr sz="1600">
                        <a:solidFill>
                          <a:srgbClr val="1F1F1F"/>
                        </a:solidFill>
                        <a:latin typeface="Courier New"/>
                        <a:ea typeface="Courier New"/>
                        <a:cs typeface="Courier New"/>
                        <a:sym typeface="Courier New"/>
                      </a:endParaRPr>
                    </a:p>
                  </a:txBody>
                  <a:tcPr marT="19050" marB="19050" marR="28575" marL="28575" anchor="ctr"/>
                </a:tc>
                <a:tc>
                  <a:txBody>
                    <a:bodyPr/>
                    <a:lstStyle/>
                    <a:p>
                      <a:pPr indent="0" lvl="0" marL="0" rtl="0" algn="l">
                        <a:lnSpc>
                          <a:spcPct val="115000"/>
                        </a:lnSpc>
                        <a:spcBef>
                          <a:spcPts val="0"/>
                        </a:spcBef>
                        <a:spcAft>
                          <a:spcPts val="0"/>
                        </a:spcAft>
                        <a:buNone/>
                      </a:pPr>
                      <a:r>
                        <a:rPr i="1" lang="es-419" sz="1600">
                          <a:solidFill>
                            <a:srgbClr val="1F1F1F"/>
                          </a:solidFill>
                          <a:latin typeface="Courier New"/>
                          <a:ea typeface="Courier New"/>
                          <a:cs typeface="Courier New"/>
                          <a:sym typeface="Courier New"/>
                        </a:rPr>
                        <a:t>sector_ies</a:t>
                      </a:r>
                      <a:endParaRPr i="1" sz="1600">
                        <a:solidFill>
                          <a:srgbClr val="1F1F1F"/>
                        </a:solidFill>
                        <a:latin typeface="Courier New"/>
                        <a:ea typeface="Courier New"/>
                        <a:cs typeface="Courier New"/>
                        <a:sym typeface="Courier New"/>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N/A ICETEX → desconocido</a:t>
                      </a:r>
                      <a:endParaRPr sz="1600">
                        <a:solidFill>
                          <a:srgbClr val="1F1F1F"/>
                        </a:solidFill>
                        <a:latin typeface="Oswald"/>
                        <a:ea typeface="Oswald"/>
                        <a:cs typeface="Oswald"/>
                        <a:sym typeface="Oswald"/>
                      </a:endParaRPr>
                    </a:p>
                  </a:txBody>
                  <a:tcPr marT="19050" marB="19050" marR="28575" marL="28575" anchor="ctr"/>
                </a:tc>
              </a:tr>
              <a:tr h="526225">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13</a:t>
                      </a:r>
                      <a:endParaRPr i="1" sz="1600">
                        <a:solidFill>
                          <a:srgbClr val="1F1F1F"/>
                        </a:solidFill>
                        <a:latin typeface="Oswald"/>
                        <a:ea typeface="Oswald"/>
                        <a:cs typeface="Oswald"/>
                        <a:sym typeface="Oswald"/>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Courier New"/>
                          <a:ea typeface="Courier New"/>
                          <a:cs typeface="Courier New"/>
                          <a:sym typeface="Courier New"/>
                        </a:rPr>
                        <a:t>ExpectColumnValuesToBeInSet([1,2])</a:t>
                      </a:r>
                      <a:endParaRPr sz="1600">
                        <a:solidFill>
                          <a:srgbClr val="1F1F1F"/>
                        </a:solidFill>
                        <a:latin typeface="Courier New"/>
                        <a:ea typeface="Courier New"/>
                        <a:cs typeface="Courier New"/>
                        <a:sym typeface="Courier New"/>
                      </a:endParaRPr>
                    </a:p>
                  </a:txBody>
                  <a:tcPr marT="19050" marB="19050" marR="28575" marL="28575" anchor="ctr"/>
                </a:tc>
                <a:tc>
                  <a:txBody>
                    <a:bodyPr/>
                    <a:lstStyle/>
                    <a:p>
                      <a:pPr indent="0" lvl="0" marL="0" rtl="0" algn="l">
                        <a:lnSpc>
                          <a:spcPct val="115000"/>
                        </a:lnSpc>
                        <a:spcBef>
                          <a:spcPts val="0"/>
                        </a:spcBef>
                        <a:spcAft>
                          <a:spcPts val="0"/>
                        </a:spcAft>
                        <a:buNone/>
                      </a:pPr>
                      <a:r>
                        <a:rPr i="1" lang="es-419" sz="1600">
                          <a:solidFill>
                            <a:srgbClr val="1F1F1F"/>
                          </a:solidFill>
                          <a:latin typeface="Courier New"/>
                          <a:ea typeface="Courier New"/>
                          <a:cs typeface="Courier New"/>
                          <a:sym typeface="Courier New"/>
                        </a:rPr>
                        <a:t>id_genero</a:t>
                      </a:r>
                      <a:endParaRPr i="1" sz="1600">
                        <a:solidFill>
                          <a:srgbClr val="1F1F1F"/>
                        </a:solidFill>
                        <a:latin typeface="Courier New"/>
                        <a:ea typeface="Courier New"/>
                        <a:cs typeface="Courier New"/>
                        <a:sym typeface="Courier New"/>
                      </a:endParaRPr>
                    </a:p>
                  </a:txBody>
                  <a:tcPr marT="19050" marB="19050" marR="28575" marL="28575" anchor="ct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Intersexual descartado en clean_icetex</a:t>
                      </a:r>
                      <a:endParaRPr sz="1600">
                        <a:solidFill>
                          <a:srgbClr val="1F1F1F"/>
                        </a:solidFill>
                        <a:latin typeface="Oswald"/>
                        <a:ea typeface="Oswald"/>
                        <a:cs typeface="Oswald"/>
                        <a:sym typeface="Oswald"/>
                      </a:endParaRPr>
                    </a:p>
                  </a:txBody>
                  <a:tcPr marT="19050" marB="19050" marR="28575" marL="28575" anchor="ctr"/>
                </a:tc>
              </a:tr>
              <a:tr h="772375">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14</a:t>
                      </a:r>
                      <a:endParaRPr i="1" sz="1600">
                        <a:solidFill>
                          <a:srgbClr val="1F1F1F"/>
                        </a:solidFill>
                        <a:latin typeface="Oswald"/>
                        <a:ea typeface="Oswald"/>
                        <a:cs typeface="Oswald"/>
                        <a:sym typeface="Oswald"/>
                      </a:endParaRPr>
                    </a:p>
                  </a:txBody>
                  <a:tcPr marT="19050" marB="19050" marR="28575" marL="28575" anchor="ctr">
                    <a:lnB cap="flat" cmpd="sng" w="228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419" sz="1600">
                          <a:solidFill>
                            <a:srgbClr val="1F1F1F"/>
                          </a:solidFill>
                          <a:latin typeface="Courier New"/>
                          <a:ea typeface="Courier New"/>
                          <a:cs typeface="Courier New"/>
                          <a:sym typeface="Courier New"/>
                        </a:rPr>
                        <a:t>ExpectColumnValuesToBeBetween(2015, 2025)</a:t>
                      </a:r>
                      <a:endParaRPr sz="1600">
                        <a:solidFill>
                          <a:srgbClr val="1F1F1F"/>
                        </a:solidFill>
                        <a:latin typeface="Courier New"/>
                        <a:ea typeface="Courier New"/>
                        <a:cs typeface="Courier New"/>
                        <a:sym typeface="Courier New"/>
                      </a:endParaRPr>
                    </a:p>
                  </a:txBody>
                  <a:tcPr marT="19050" marB="19050" marR="28575" marL="28575" anchor="ctr">
                    <a:lnB cap="flat" cmpd="sng" w="228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i="1" lang="es-419" sz="1600">
                          <a:solidFill>
                            <a:srgbClr val="1F1F1F"/>
                          </a:solidFill>
                          <a:latin typeface="Courier New"/>
                          <a:ea typeface="Courier New"/>
                          <a:cs typeface="Courier New"/>
                          <a:sym typeface="Courier New"/>
                        </a:rPr>
                        <a:t>anio</a:t>
                      </a:r>
                      <a:endParaRPr i="1" sz="1600">
                        <a:solidFill>
                          <a:srgbClr val="1F1F1F"/>
                        </a:solidFill>
                        <a:latin typeface="Courier New"/>
                        <a:ea typeface="Courier New"/>
                        <a:cs typeface="Courier New"/>
                        <a:sym typeface="Courier New"/>
                      </a:endParaRPr>
                    </a:p>
                  </a:txBody>
                  <a:tcPr marT="19050" marB="19050" marR="28575" marL="28575" anchor="ctr">
                    <a:lnB cap="flat" cmpd="sng" w="228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Rango real: SNIES 2015–2021, ICETEX 2015–2025</a:t>
                      </a:r>
                      <a:endParaRPr sz="1600">
                        <a:solidFill>
                          <a:srgbClr val="1F1F1F"/>
                        </a:solidFill>
                        <a:latin typeface="Oswald"/>
                        <a:ea typeface="Oswald"/>
                        <a:cs typeface="Oswald"/>
                        <a:sym typeface="Oswald"/>
                      </a:endParaRPr>
                    </a:p>
                  </a:txBody>
                  <a:tcPr marT="19050" marB="19050" marR="28575" marL="28575" anchor="ctr">
                    <a:lnB cap="flat" cmpd="sng" w="22850">
                      <a:solidFill>
                        <a:srgbClr val="000000"/>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3"/>
          <p:cNvSpPr/>
          <p:nvPr/>
        </p:nvSpPr>
        <p:spPr>
          <a:xfrm>
            <a:off x="0" y="0"/>
            <a:ext cx="10800000" cy="7200000"/>
          </a:xfrm>
          <a:prstGeom prst="rect">
            <a:avLst/>
          </a:prstGeom>
          <a:no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2" name="Google Shape;272;p23"/>
          <p:cNvSpPr/>
          <p:nvPr/>
        </p:nvSpPr>
        <p:spPr>
          <a:xfrm>
            <a:off x="0" y="-19825"/>
            <a:ext cx="10800000" cy="773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3" name="Google Shape;273;p23"/>
          <p:cNvSpPr/>
          <p:nvPr/>
        </p:nvSpPr>
        <p:spPr>
          <a:xfrm>
            <a:off x="3828725" y="195150"/>
            <a:ext cx="6859200" cy="773400"/>
          </a:xfrm>
          <a:prstGeom prst="roundRect">
            <a:avLst>
              <a:gd fmla="val 16667" name="adj"/>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4" name="Google Shape;274;p23"/>
          <p:cNvSpPr txBox="1"/>
          <p:nvPr/>
        </p:nvSpPr>
        <p:spPr>
          <a:xfrm>
            <a:off x="3656975" y="195150"/>
            <a:ext cx="6765600" cy="773400"/>
          </a:xfrm>
          <a:prstGeom prst="rect">
            <a:avLst/>
          </a:prstGeom>
          <a:noFill/>
          <a:ln>
            <a:noFill/>
          </a:ln>
        </p:spPr>
        <p:txBody>
          <a:bodyPr anchorCtr="0" anchor="t" bIns="114650" lIns="114650" spcFirstLastPara="1" rIns="114650" wrap="square" tIns="114650">
            <a:noAutofit/>
          </a:bodyPr>
          <a:lstStyle/>
          <a:p>
            <a:pPr indent="0" lvl="0" marL="0" rtl="0" algn="r">
              <a:spcBef>
                <a:spcPts val="0"/>
              </a:spcBef>
              <a:spcAft>
                <a:spcPts val="0"/>
              </a:spcAft>
              <a:buNone/>
            </a:pPr>
            <a:r>
              <a:rPr b="1" lang="es-419" sz="3800">
                <a:solidFill>
                  <a:schemeClr val="dk1"/>
                </a:solidFill>
                <a:latin typeface="Oswald"/>
                <a:ea typeface="Oswald"/>
                <a:cs typeface="Oswald"/>
                <a:sym typeface="Oswald"/>
              </a:rPr>
              <a:t>Great Expectations | NO-Críticas</a:t>
            </a:r>
            <a:endParaRPr b="1" sz="3800">
              <a:solidFill>
                <a:schemeClr val="dk1"/>
              </a:solidFill>
              <a:latin typeface="Oswald"/>
              <a:ea typeface="Oswald"/>
              <a:cs typeface="Oswald"/>
              <a:sym typeface="Oswald"/>
            </a:endParaRPr>
          </a:p>
        </p:txBody>
      </p:sp>
      <p:graphicFrame>
        <p:nvGraphicFramePr>
          <p:cNvPr id="275" name="Google Shape;275;p23"/>
          <p:cNvGraphicFramePr/>
          <p:nvPr/>
        </p:nvGraphicFramePr>
        <p:xfrm>
          <a:off x="1196125" y="1187325"/>
          <a:ext cx="3000000" cy="3000000"/>
        </p:xfrm>
        <a:graphic>
          <a:graphicData uri="http://schemas.openxmlformats.org/drawingml/2006/table">
            <a:tbl>
              <a:tblPr>
                <a:noFill/>
                <a:tableStyleId>{C556CFA1-8E2C-47EC-A9A8-5E49D9BD7B61}</a:tableStyleId>
              </a:tblPr>
              <a:tblGrid>
                <a:gridCol w="496025"/>
                <a:gridCol w="6074900"/>
                <a:gridCol w="1836825"/>
              </a:tblGrid>
              <a:tr h="304800">
                <a:tc>
                  <a:txBody>
                    <a:bodyPr/>
                    <a:lstStyle/>
                    <a:p>
                      <a:pPr indent="0" lvl="0" marL="0" rtl="0" algn="l">
                        <a:lnSpc>
                          <a:spcPct val="115000"/>
                        </a:lnSpc>
                        <a:spcBef>
                          <a:spcPts val="0"/>
                        </a:spcBef>
                        <a:spcAft>
                          <a:spcPts val="0"/>
                        </a:spcAft>
                        <a:buNone/>
                      </a:pPr>
                      <a:r>
                        <a:rPr b="1" i="1" lang="es-419" sz="1600">
                          <a:solidFill>
                            <a:srgbClr val="1F1F1F"/>
                          </a:solidFill>
                          <a:latin typeface="Oswald"/>
                          <a:ea typeface="Oswald"/>
                          <a:cs typeface="Oswald"/>
                          <a:sym typeface="Oswald"/>
                        </a:rPr>
                        <a:t>#</a:t>
                      </a:r>
                      <a:endParaRPr b="1" i="1" sz="1600">
                        <a:solidFill>
                          <a:srgbClr val="1F1F1F"/>
                        </a:solidFill>
                        <a:latin typeface="Oswald"/>
                        <a:ea typeface="Oswald"/>
                        <a:cs typeface="Oswald"/>
                        <a:sym typeface="Oswald"/>
                      </a:endParaRPr>
                    </a:p>
                  </a:txBody>
                  <a:tcPr marT="19050" marB="19050" marR="28575" marL="28575" anchor="b">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i="1" lang="es-419" sz="1600">
                          <a:solidFill>
                            <a:srgbClr val="1F1F1F"/>
                          </a:solidFill>
                          <a:latin typeface="Oswald"/>
                          <a:ea typeface="Oswald"/>
                          <a:cs typeface="Oswald"/>
                          <a:sym typeface="Oswald"/>
                        </a:rPr>
                        <a:t>Tipo</a:t>
                      </a:r>
                      <a:endParaRPr b="1" i="1" sz="1600">
                        <a:solidFill>
                          <a:srgbClr val="1F1F1F"/>
                        </a:solidFill>
                        <a:latin typeface="Oswald"/>
                        <a:ea typeface="Oswald"/>
                        <a:cs typeface="Oswald"/>
                        <a:sym typeface="Oswald"/>
                      </a:endParaRPr>
                    </a:p>
                  </a:txBody>
                  <a:tcPr marT="19050" marB="19050" marR="28575" marL="28575" anchor="b">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i="1" lang="es-419" sz="1600">
                          <a:solidFill>
                            <a:srgbClr val="1F1F1F"/>
                          </a:solidFill>
                          <a:latin typeface="Oswald"/>
                          <a:ea typeface="Oswald"/>
                          <a:cs typeface="Oswald"/>
                          <a:sym typeface="Oswald"/>
                        </a:rPr>
                        <a:t>Justificación</a:t>
                      </a:r>
                      <a:endParaRPr b="1" i="1" sz="1600">
                        <a:solidFill>
                          <a:srgbClr val="1F1F1F"/>
                        </a:solidFill>
                        <a:latin typeface="Oswald"/>
                        <a:ea typeface="Oswald"/>
                        <a:cs typeface="Oswald"/>
                        <a:sym typeface="Oswald"/>
                      </a:endParaRPr>
                    </a:p>
                  </a:txBody>
                  <a:tcPr marT="19050" marB="19050" marR="28575" marL="28575" anchor="b">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514350">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15</a:t>
                      </a:r>
                      <a:endParaRPr i="1" sz="1600">
                        <a:solidFill>
                          <a:srgbClr val="1F1F1F"/>
                        </a:solidFill>
                        <a:latin typeface="Oswald"/>
                        <a:ea typeface="Oswald"/>
                        <a:cs typeface="Oswald"/>
                        <a:sym typeface="Oswald"/>
                      </a:endParaRPr>
                    </a:p>
                  </a:txBody>
                  <a:tcPr marT="19050" marB="19050" marR="28575" marL="28575" anchor="b">
                    <a:lnT cap="flat" cmpd="sng" w="76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s-419" sz="1600">
                          <a:solidFill>
                            <a:srgbClr val="1F1F1F"/>
                          </a:solidFill>
                          <a:latin typeface="Courier New"/>
                          <a:ea typeface="Courier New"/>
                          <a:cs typeface="Courier New"/>
                          <a:sym typeface="Courier New"/>
                        </a:rPr>
                        <a:t>ExpectTableRowCountToBeBetween(5000, 150000)</a:t>
                      </a:r>
                      <a:endParaRPr sz="1600">
                        <a:solidFill>
                          <a:srgbClr val="1F1F1F"/>
                        </a:solidFill>
                        <a:latin typeface="Courier New"/>
                        <a:ea typeface="Courier New"/>
                        <a:cs typeface="Courier New"/>
                        <a:sym typeface="Courier New"/>
                      </a:endParaRPr>
                    </a:p>
                  </a:txBody>
                  <a:tcPr marT="19050" marB="19050" marR="28575" marL="28575" anchor="b">
                    <a:lnT cap="flat" cmpd="sng" w="76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Sanity check de volumen</a:t>
                      </a:r>
                      <a:endParaRPr sz="1600">
                        <a:solidFill>
                          <a:srgbClr val="1F1F1F"/>
                        </a:solidFill>
                        <a:latin typeface="Oswald"/>
                        <a:ea typeface="Oswald"/>
                        <a:cs typeface="Oswald"/>
                        <a:sym typeface="Oswald"/>
                      </a:endParaRPr>
                    </a:p>
                  </a:txBody>
                  <a:tcPr marT="19050" marB="19050" marR="28575" marL="28575" anchor="b">
                    <a:lnT cap="flat" cmpd="sng" w="7625">
                      <a:solidFill>
                        <a:srgbClr val="000000"/>
                      </a:solidFill>
                      <a:prstDash val="solid"/>
                      <a:round/>
                      <a:headEnd len="sm" w="sm" type="none"/>
                      <a:tailEnd len="sm" w="sm" type="none"/>
                    </a:lnT>
                  </a:tcPr>
                </a:tc>
              </a:tr>
              <a:tr h="533400">
                <a:tc>
                  <a:txBody>
                    <a:bodyPr/>
                    <a:lstStyle/>
                    <a:p>
                      <a:pPr indent="0" lvl="0" marL="0" rtl="0" algn="l">
                        <a:lnSpc>
                          <a:spcPct val="115000"/>
                        </a:lnSpc>
                        <a:spcBef>
                          <a:spcPts val="0"/>
                        </a:spcBef>
                        <a:spcAft>
                          <a:spcPts val="0"/>
                        </a:spcAft>
                        <a:buNone/>
                      </a:pPr>
                      <a:r>
                        <a:rPr i="1" lang="es-419" sz="1600">
                          <a:solidFill>
                            <a:srgbClr val="1F1F1F"/>
                          </a:solidFill>
                          <a:latin typeface="Oswald"/>
                          <a:ea typeface="Oswald"/>
                          <a:cs typeface="Oswald"/>
                          <a:sym typeface="Oswald"/>
                        </a:rPr>
                        <a:t>16</a:t>
                      </a:r>
                      <a:endParaRPr i="1" sz="1600">
                        <a:solidFill>
                          <a:srgbClr val="1F1F1F"/>
                        </a:solidFill>
                        <a:latin typeface="Oswald"/>
                        <a:ea typeface="Oswald"/>
                        <a:cs typeface="Oswald"/>
                        <a:sym typeface="Oswald"/>
                      </a:endParaRPr>
                    </a:p>
                  </a:txBody>
                  <a:tcPr marT="19050" marB="19050" marR="28575" marL="28575" anchor="b">
                    <a:lnB cap="flat" cmpd="sng" w="228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419" sz="1600">
                          <a:solidFill>
                            <a:srgbClr val="1F1F1F"/>
                          </a:solidFill>
                          <a:latin typeface="Courier New"/>
                          <a:ea typeface="Courier New"/>
                          <a:cs typeface="Courier New"/>
                          <a:sym typeface="Courier New"/>
                        </a:rPr>
                        <a:t>ExpectColumnValuesToBeInSet(semestre, [1, 2])</a:t>
                      </a:r>
                      <a:endParaRPr sz="1600">
                        <a:solidFill>
                          <a:srgbClr val="1F1F1F"/>
                        </a:solidFill>
                        <a:latin typeface="Courier New"/>
                        <a:ea typeface="Courier New"/>
                        <a:cs typeface="Courier New"/>
                        <a:sym typeface="Courier New"/>
                      </a:endParaRPr>
                    </a:p>
                  </a:txBody>
                  <a:tcPr marT="19050" marB="19050" marR="28575" marL="28575" anchor="b">
                    <a:lnB cap="flat" cmpd="sng" w="228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419" sz="1600">
                          <a:solidFill>
                            <a:srgbClr val="1F1F1F"/>
                          </a:solidFill>
                          <a:latin typeface="Oswald"/>
                          <a:ea typeface="Oswald"/>
                          <a:cs typeface="Oswald"/>
                          <a:sym typeface="Oswald"/>
                        </a:rPr>
                        <a:t>Semestre académico válido</a:t>
                      </a:r>
                      <a:endParaRPr sz="1600">
                        <a:solidFill>
                          <a:srgbClr val="1F1F1F"/>
                        </a:solidFill>
                        <a:latin typeface="Oswald"/>
                        <a:ea typeface="Oswald"/>
                        <a:cs typeface="Oswald"/>
                        <a:sym typeface="Oswald"/>
                      </a:endParaRPr>
                    </a:p>
                  </a:txBody>
                  <a:tcPr marT="19050" marB="19050" marR="28575" marL="28575" anchor="b">
                    <a:lnB cap="flat" cmpd="sng" w="22850">
                      <a:solidFill>
                        <a:srgbClr val="000000"/>
                      </a:solidFill>
                      <a:prstDash val="solid"/>
                      <a:round/>
                      <a:headEnd len="sm" w="sm" type="none"/>
                      <a:tailEnd len="sm" w="sm" type="none"/>
                    </a:lnB>
                  </a:tcPr>
                </a:tc>
              </a:tr>
            </a:tbl>
          </a:graphicData>
        </a:graphic>
      </p:graphicFrame>
      <p:sp>
        <p:nvSpPr>
          <p:cNvPr id="276" name="Google Shape;276;p23"/>
          <p:cNvSpPr/>
          <p:nvPr/>
        </p:nvSpPr>
        <p:spPr>
          <a:xfrm>
            <a:off x="2701050" y="2901525"/>
            <a:ext cx="5397900" cy="3977100"/>
          </a:xfrm>
          <a:prstGeom prst="roundRect">
            <a:avLst>
              <a:gd fmla="val 16667" name="adj"/>
            </a:avLst>
          </a:prstGeom>
          <a:solidFill>
            <a:srgbClr val="C8DDFF">
              <a:alpha val="80390"/>
            </a:srgbClr>
          </a:solidFill>
          <a:ln cap="flat" cmpd="sng" w="20725">
            <a:solidFill>
              <a:schemeClr val="accent1"/>
            </a:solidFill>
            <a:prstDash val="solid"/>
            <a:round/>
            <a:headEnd len="sm" w="sm" type="none"/>
            <a:tailEnd len="sm" w="sm" type="none"/>
          </a:ln>
        </p:spPr>
        <p:txBody>
          <a:bodyPr anchorCtr="0" anchor="ctr" bIns="66300" lIns="66300" spcFirstLastPara="1" rIns="66300" wrap="square" tIns="66300">
            <a:noAutofit/>
          </a:bodyPr>
          <a:lstStyle/>
          <a:p>
            <a:pPr indent="0" lvl="0" marL="0" rtl="0" algn="ctr">
              <a:spcBef>
                <a:spcPts val="0"/>
              </a:spcBef>
              <a:spcAft>
                <a:spcPts val="0"/>
              </a:spcAft>
              <a:buNone/>
            </a:pPr>
            <a:r>
              <a:t/>
            </a:r>
            <a:endParaRPr sz="1015"/>
          </a:p>
        </p:txBody>
      </p:sp>
      <p:sp>
        <p:nvSpPr>
          <p:cNvPr id="277" name="Google Shape;277;p23"/>
          <p:cNvSpPr/>
          <p:nvPr/>
        </p:nvSpPr>
        <p:spPr>
          <a:xfrm>
            <a:off x="3117504" y="3315548"/>
            <a:ext cx="2199900" cy="1472700"/>
          </a:xfrm>
          <a:prstGeom prst="roundRect">
            <a:avLst>
              <a:gd fmla="val 16667" name="adj"/>
            </a:avLst>
          </a:prstGeom>
          <a:solidFill>
            <a:schemeClr val="lt1"/>
          </a:solidFill>
          <a:ln>
            <a:noFill/>
          </a:ln>
        </p:spPr>
        <p:txBody>
          <a:bodyPr anchorCtr="0" anchor="ctr" bIns="59775" lIns="59775" spcFirstLastPara="1" rIns="59775" wrap="square" tIns="59775">
            <a:noAutofit/>
          </a:bodyPr>
          <a:lstStyle/>
          <a:p>
            <a:pPr indent="0" lvl="0" marL="0" rtl="0" algn="ctr">
              <a:spcBef>
                <a:spcPts val="0"/>
              </a:spcBef>
              <a:spcAft>
                <a:spcPts val="0"/>
              </a:spcAft>
              <a:buNone/>
            </a:pPr>
            <a:r>
              <a:rPr b="1" i="1" lang="es-419" sz="1350">
                <a:solidFill>
                  <a:srgbClr val="204A87"/>
                </a:solidFill>
                <a:latin typeface="Oswald"/>
                <a:ea typeface="Oswald"/>
                <a:cs typeface="Oswald"/>
                <a:sym typeface="Oswald"/>
              </a:rPr>
              <a:t>GX v1.16.</a:t>
            </a:r>
            <a:r>
              <a:rPr b="1" i="1" lang="es-419" sz="1350">
                <a:solidFill>
                  <a:srgbClr val="204A87"/>
                </a:solidFill>
                <a:latin typeface="Oswald"/>
                <a:ea typeface="Oswald"/>
                <a:cs typeface="Oswald"/>
                <a:sym typeface="Oswald"/>
              </a:rPr>
              <a:t>1</a:t>
            </a:r>
            <a:br>
              <a:rPr b="1" i="1" lang="es-419" sz="1350">
                <a:solidFill>
                  <a:srgbClr val="204A87"/>
                </a:solidFill>
                <a:latin typeface="Oswald"/>
                <a:ea typeface="Oswald"/>
                <a:cs typeface="Oswald"/>
                <a:sym typeface="Oswald"/>
              </a:rPr>
            </a:br>
            <a:r>
              <a:rPr i="1" lang="es-419" sz="1350">
                <a:solidFill>
                  <a:srgbClr val="204A87"/>
                </a:solidFill>
                <a:latin typeface="Oswald"/>
                <a:ea typeface="Oswald"/>
                <a:cs typeface="Oswald"/>
                <a:sym typeface="Oswald"/>
              </a:rPr>
              <a:t>Fluent API y Contexto de Archivo</a:t>
            </a:r>
            <a:endParaRPr i="1" sz="1350">
              <a:solidFill>
                <a:srgbClr val="204A87"/>
              </a:solidFill>
              <a:latin typeface="Oswald"/>
              <a:ea typeface="Oswald"/>
              <a:cs typeface="Oswald"/>
              <a:sym typeface="Oswald"/>
            </a:endParaRPr>
          </a:p>
        </p:txBody>
      </p:sp>
      <p:sp>
        <p:nvSpPr>
          <p:cNvPr id="278" name="Google Shape;278;p23"/>
          <p:cNvSpPr/>
          <p:nvPr/>
        </p:nvSpPr>
        <p:spPr>
          <a:xfrm>
            <a:off x="5482632" y="4919096"/>
            <a:ext cx="2199900" cy="1472700"/>
          </a:xfrm>
          <a:prstGeom prst="roundRect">
            <a:avLst>
              <a:gd fmla="val 16667" name="adj"/>
            </a:avLst>
          </a:prstGeom>
          <a:solidFill>
            <a:schemeClr val="lt1"/>
          </a:solidFill>
          <a:ln>
            <a:noFill/>
          </a:ln>
        </p:spPr>
        <p:txBody>
          <a:bodyPr anchorCtr="0" anchor="ctr" bIns="59775" lIns="59775" spcFirstLastPara="1" rIns="59775" wrap="square" tIns="59775">
            <a:noAutofit/>
          </a:bodyPr>
          <a:lstStyle/>
          <a:p>
            <a:pPr indent="0" lvl="0" marL="0" rtl="0" algn="ctr">
              <a:spcBef>
                <a:spcPts val="0"/>
              </a:spcBef>
              <a:spcAft>
                <a:spcPts val="0"/>
              </a:spcAft>
              <a:buNone/>
            </a:pPr>
            <a:r>
              <a:rPr b="1" i="1" lang="es-419" sz="1350">
                <a:solidFill>
                  <a:srgbClr val="204A87"/>
                </a:solidFill>
                <a:latin typeface="Oswald"/>
                <a:ea typeface="Oswald"/>
                <a:cs typeface="Oswald"/>
                <a:sym typeface="Oswald"/>
              </a:rPr>
              <a:t>Ejecución</a:t>
            </a:r>
            <a:endParaRPr b="1" i="1" sz="1350">
              <a:solidFill>
                <a:srgbClr val="204A87"/>
              </a:solidFill>
              <a:latin typeface="Oswald"/>
              <a:ea typeface="Oswald"/>
              <a:cs typeface="Oswald"/>
              <a:sym typeface="Oswald"/>
            </a:endParaRPr>
          </a:p>
          <a:p>
            <a:pPr indent="0" lvl="0" marL="0" rtl="0" algn="ctr">
              <a:spcBef>
                <a:spcPts val="0"/>
              </a:spcBef>
              <a:spcAft>
                <a:spcPts val="0"/>
              </a:spcAft>
              <a:buNone/>
            </a:pPr>
            <a:r>
              <a:rPr i="1" lang="es-419" sz="1350">
                <a:solidFill>
                  <a:srgbClr val="204A87"/>
                </a:solidFill>
                <a:latin typeface="Oswald"/>
                <a:ea typeface="Oswald"/>
                <a:cs typeface="Oswald"/>
                <a:sym typeface="Oswald"/>
              </a:rPr>
              <a:t>Sobre el DataFrame integrado antes de la carga a MySQL</a:t>
            </a:r>
            <a:endParaRPr i="1" sz="1350">
              <a:solidFill>
                <a:srgbClr val="204A87"/>
              </a:solidFill>
              <a:latin typeface="Oswald"/>
              <a:ea typeface="Oswald"/>
              <a:cs typeface="Oswald"/>
              <a:sym typeface="Oswald"/>
            </a:endParaRPr>
          </a:p>
        </p:txBody>
      </p:sp>
      <p:sp>
        <p:nvSpPr>
          <p:cNvPr id="279" name="Google Shape;279;p23"/>
          <p:cNvSpPr/>
          <p:nvPr/>
        </p:nvSpPr>
        <p:spPr>
          <a:xfrm>
            <a:off x="3117504" y="4919096"/>
            <a:ext cx="2199900" cy="1472700"/>
          </a:xfrm>
          <a:prstGeom prst="roundRect">
            <a:avLst>
              <a:gd fmla="val 16667" name="adj"/>
            </a:avLst>
          </a:prstGeom>
          <a:solidFill>
            <a:schemeClr val="lt1"/>
          </a:solidFill>
          <a:ln>
            <a:noFill/>
          </a:ln>
        </p:spPr>
        <p:txBody>
          <a:bodyPr anchorCtr="0" anchor="ctr" bIns="59775" lIns="59775" spcFirstLastPara="1" rIns="59775" wrap="square" tIns="59775">
            <a:noAutofit/>
          </a:bodyPr>
          <a:lstStyle/>
          <a:p>
            <a:pPr indent="0" lvl="0" marL="0" rtl="0" algn="ctr">
              <a:spcBef>
                <a:spcPts val="0"/>
              </a:spcBef>
              <a:spcAft>
                <a:spcPts val="0"/>
              </a:spcAft>
              <a:buNone/>
            </a:pPr>
            <a:r>
              <a:rPr b="1" i="1" lang="es-419" sz="1350">
                <a:solidFill>
                  <a:srgbClr val="204A87"/>
                </a:solidFill>
                <a:latin typeface="Oswald"/>
                <a:ea typeface="Oswald"/>
                <a:cs typeface="Oswald"/>
                <a:sym typeface="Oswald"/>
              </a:rPr>
              <a:t>UpdateDataDocsAction</a:t>
            </a:r>
            <a:endParaRPr b="1" i="1" sz="1350">
              <a:solidFill>
                <a:srgbClr val="204A87"/>
              </a:solidFill>
              <a:latin typeface="Oswald"/>
              <a:ea typeface="Oswald"/>
              <a:cs typeface="Oswald"/>
              <a:sym typeface="Oswald"/>
            </a:endParaRPr>
          </a:p>
          <a:p>
            <a:pPr indent="0" lvl="0" marL="0" rtl="0" algn="ctr">
              <a:spcBef>
                <a:spcPts val="0"/>
              </a:spcBef>
              <a:spcAft>
                <a:spcPts val="0"/>
              </a:spcAft>
              <a:buNone/>
            </a:pPr>
            <a:r>
              <a:rPr i="1" lang="es-419" sz="1350">
                <a:solidFill>
                  <a:srgbClr val="204A87"/>
                </a:solidFill>
                <a:latin typeface="Oswald"/>
                <a:ea typeface="Oswald"/>
                <a:cs typeface="Oswald"/>
                <a:sym typeface="Oswald"/>
              </a:rPr>
              <a:t>Genera reportes en HTML navegables en </a:t>
            </a:r>
            <a:r>
              <a:rPr i="1" lang="es-419" sz="1350">
                <a:solidFill>
                  <a:srgbClr val="204A87"/>
                </a:solidFill>
                <a:latin typeface="Courier New"/>
                <a:ea typeface="Courier New"/>
                <a:cs typeface="Courier New"/>
                <a:sym typeface="Courier New"/>
              </a:rPr>
              <a:t>gx/uncommited/data_docs/local_site/</a:t>
            </a:r>
            <a:endParaRPr i="1" sz="1350">
              <a:solidFill>
                <a:srgbClr val="204A87"/>
              </a:solidFill>
              <a:latin typeface="Courier New"/>
              <a:ea typeface="Courier New"/>
              <a:cs typeface="Courier New"/>
              <a:sym typeface="Courier New"/>
            </a:endParaRPr>
          </a:p>
        </p:txBody>
      </p:sp>
      <p:sp>
        <p:nvSpPr>
          <p:cNvPr id="280" name="Google Shape;280;p23"/>
          <p:cNvSpPr/>
          <p:nvPr/>
        </p:nvSpPr>
        <p:spPr>
          <a:xfrm>
            <a:off x="5482632" y="3315548"/>
            <a:ext cx="2199900" cy="1472700"/>
          </a:xfrm>
          <a:prstGeom prst="roundRect">
            <a:avLst>
              <a:gd fmla="val 16667" name="adj"/>
            </a:avLst>
          </a:prstGeom>
          <a:solidFill>
            <a:schemeClr val="lt1"/>
          </a:solidFill>
          <a:ln>
            <a:noFill/>
          </a:ln>
        </p:spPr>
        <p:txBody>
          <a:bodyPr anchorCtr="0" anchor="ctr" bIns="59775" lIns="59775" spcFirstLastPara="1" rIns="59775" wrap="square" tIns="59775">
            <a:noAutofit/>
          </a:bodyPr>
          <a:lstStyle/>
          <a:p>
            <a:pPr indent="0" lvl="0" marL="0" rtl="0" algn="ctr">
              <a:spcBef>
                <a:spcPts val="0"/>
              </a:spcBef>
              <a:spcAft>
                <a:spcPts val="0"/>
              </a:spcAft>
              <a:buNone/>
            </a:pPr>
            <a:r>
              <a:rPr b="1" i="1" lang="es-419" sz="1350">
                <a:solidFill>
                  <a:srgbClr val="204A87"/>
                </a:solidFill>
                <a:latin typeface="Oswald"/>
                <a:ea typeface="Oswald"/>
                <a:cs typeface="Oswald"/>
                <a:sym typeface="Oswald"/>
              </a:rPr>
              <a:t>Dos suites</a:t>
            </a:r>
            <a:endParaRPr b="1" i="1" sz="1350">
              <a:solidFill>
                <a:srgbClr val="204A87"/>
              </a:solidFill>
              <a:latin typeface="Oswald"/>
              <a:ea typeface="Oswald"/>
              <a:cs typeface="Oswald"/>
              <a:sym typeface="Oswald"/>
            </a:endParaRPr>
          </a:p>
          <a:p>
            <a:pPr indent="0" lvl="0" marL="0" rtl="0" algn="ctr">
              <a:spcBef>
                <a:spcPts val="0"/>
              </a:spcBef>
              <a:spcAft>
                <a:spcPts val="0"/>
              </a:spcAft>
              <a:buNone/>
            </a:pPr>
            <a:r>
              <a:rPr i="1" lang="es-419" sz="1350">
                <a:solidFill>
                  <a:srgbClr val="204A87"/>
                </a:solidFill>
                <a:latin typeface="Oswald"/>
                <a:ea typeface="Oswald"/>
                <a:cs typeface="Oswald"/>
                <a:sym typeface="Oswald"/>
              </a:rPr>
              <a:t>Ejecutadas por un </a:t>
            </a:r>
            <a:r>
              <a:rPr i="1" lang="es-419" sz="1350">
                <a:solidFill>
                  <a:srgbClr val="204A87"/>
                </a:solidFill>
                <a:latin typeface="Oswald"/>
                <a:ea typeface="Oswald"/>
                <a:cs typeface="Oswald"/>
                <a:sym typeface="Oswald"/>
              </a:rPr>
              <a:t>único</a:t>
            </a:r>
            <a:r>
              <a:rPr i="1" lang="es-419" sz="1350">
                <a:solidFill>
                  <a:srgbClr val="204A87"/>
                </a:solidFill>
                <a:latin typeface="Oswald"/>
                <a:ea typeface="Oswald"/>
                <a:cs typeface="Oswald"/>
                <a:sym typeface="Oswald"/>
              </a:rPr>
              <a:t> Checkpoint</a:t>
            </a:r>
            <a:endParaRPr i="1" sz="1350">
              <a:solidFill>
                <a:srgbClr val="204A87"/>
              </a:solidFill>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4"/>
          <p:cNvSpPr/>
          <p:nvPr/>
        </p:nvSpPr>
        <p:spPr>
          <a:xfrm>
            <a:off x="-35400" y="0"/>
            <a:ext cx="10800000" cy="7200000"/>
          </a:xfrm>
          <a:prstGeom prst="rect">
            <a:avLst/>
          </a:prstGeom>
          <a:noFill/>
          <a:ln cap="flat" cmpd="sng" w="1143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6" name="Google Shape;286;p24"/>
          <p:cNvSpPr/>
          <p:nvPr/>
        </p:nvSpPr>
        <p:spPr>
          <a:xfrm>
            <a:off x="0" y="-19825"/>
            <a:ext cx="10800000" cy="16407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7" name="Google Shape;287;p24"/>
          <p:cNvSpPr/>
          <p:nvPr/>
        </p:nvSpPr>
        <p:spPr>
          <a:xfrm>
            <a:off x="3553650" y="1219950"/>
            <a:ext cx="3692700" cy="7734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8" name="Google Shape;288;p24"/>
          <p:cNvSpPr txBox="1"/>
          <p:nvPr/>
        </p:nvSpPr>
        <p:spPr>
          <a:xfrm>
            <a:off x="3487075" y="1219950"/>
            <a:ext cx="3692700" cy="773400"/>
          </a:xfrm>
          <a:prstGeom prst="rect">
            <a:avLst/>
          </a:prstGeom>
          <a:noFill/>
          <a:ln>
            <a:noFill/>
          </a:ln>
        </p:spPr>
        <p:txBody>
          <a:bodyPr anchorCtr="0" anchor="t" bIns="114650" lIns="114650" spcFirstLastPara="1" rIns="114650" wrap="square" tIns="114650">
            <a:noAutofit/>
          </a:bodyPr>
          <a:lstStyle/>
          <a:p>
            <a:pPr indent="0" lvl="0" marL="0" rtl="0" algn="ctr">
              <a:spcBef>
                <a:spcPts val="0"/>
              </a:spcBef>
              <a:spcAft>
                <a:spcPts val="0"/>
              </a:spcAft>
              <a:buNone/>
            </a:pPr>
            <a:r>
              <a:rPr b="1" lang="es-419" sz="3800">
                <a:solidFill>
                  <a:schemeClr val="dk1"/>
                </a:solidFill>
                <a:latin typeface="Oswald"/>
                <a:ea typeface="Oswald"/>
                <a:cs typeface="Oswald"/>
                <a:sym typeface="Oswald"/>
              </a:rPr>
              <a:t>DAG </a:t>
            </a:r>
            <a:r>
              <a:rPr b="1" lang="es-419" sz="3800">
                <a:solidFill>
                  <a:schemeClr val="dk1"/>
                </a:solidFill>
                <a:latin typeface="Oswald"/>
                <a:ea typeface="Oswald"/>
                <a:cs typeface="Oswald"/>
                <a:sym typeface="Oswald"/>
              </a:rPr>
              <a:t>design</a:t>
            </a:r>
            <a:endParaRPr b="1" sz="3800">
              <a:solidFill>
                <a:schemeClr val="dk1"/>
              </a:solidFill>
              <a:latin typeface="Oswald"/>
              <a:ea typeface="Oswald"/>
              <a:cs typeface="Oswald"/>
              <a:sym typeface="Oswald"/>
            </a:endParaRPr>
          </a:p>
        </p:txBody>
      </p:sp>
      <p:sp>
        <p:nvSpPr>
          <p:cNvPr id="289" name="Google Shape;289;p24"/>
          <p:cNvSpPr txBox="1"/>
          <p:nvPr/>
        </p:nvSpPr>
        <p:spPr>
          <a:xfrm>
            <a:off x="-101950" y="6125250"/>
            <a:ext cx="10870800" cy="666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s-419" sz="1900">
                <a:solidFill>
                  <a:schemeClr val="dk1"/>
                </a:solidFill>
                <a:latin typeface="Oswald"/>
                <a:ea typeface="Oswald"/>
                <a:cs typeface="Oswald"/>
                <a:sym typeface="Oswald"/>
              </a:rPr>
              <a:t>extract | transform</a:t>
            </a:r>
            <a:r>
              <a:rPr b="1" lang="es-419" sz="1900">
                <a:solidFill>
                  <a:schemeClr val="dk1"/>
                </a:solidFill>
                <a:latin typeface="Oswald"/>
                <a:ea typeface="Oswald"/>
                <a:cs typeface="Oswald"/>
                <a:sym typeface="Oswald"/>
              </a:rPr>
              <a:t> | </a:t>
            </a:r>
            <a:r>
              <a:rPr b="1" lang="es-419" sz="1900">
                <a:solidFill>
                  <a:schemeClr val="dk1"/>
                </a:solidFill>
                <a:latin typeface="Oswald"/>
                <a:ea typeface="Oswald"/>
                <a:cs typeface="Oswald"/>
                <a:sym typeface="Oswald"/>
              </a:rPr>
              <a:t>validate</a:t>
            </a:r>
            <a:r>
              <a:rPr b="1" lang="es-419" sz="1900">
                <a:solidFill>
                  <a:schemeClr val="dk1"/>
                </a:solidFill>
                <a:latin typeface="Oswald"/>
                <a:ea typeface="Oswald"/>
                <a:cs typeface="Oswald"/>
                <a:sym typeface="Oswald"/>
              </a:rPr>
              <a:t> | </a:t>
            </a:r>
            <a:r>
              <a:rPr b="1" lang="es-419" sz="1900">
                <a:solidFill>
                  <a:schemeClr val="dk1"/>
                </a:solidFill>
                <a:latin typeface="Oswald"/>
                <a:ea typeface="Oswald"/>
                <a:cs typeface="Oswald"/>
                <a:sym typeface="Oswald"/>
              </a:rPr>
              <a:t>load separados</a:t>
            </a:r>
            <a:endParaRPr b="1" sz="1900">
              <a:solidFill>
                <a:schemeClr val="dk1"/>
              </a:solidFill>
              <a:latin typeface="Oswald"/>
              <a:ea typeface="Oswald"/>
              <a:cs typeface="Oswald"/>
              <a:sym typeface="Oswald"/>
            </a:endParaRPr>
          </a:p>
          <a:p>
            <a:pPr indent="0" lvl="0" marL="0" rtl="0" algn="ctr">
              <a:spcBef>
                <a:spcPts val="400"/>
              </a:spcBef>
              <a:spcAft>
                <a:spcPts val="0"/>
              </a:spcAft>
              <a:buNone/>
            </a:pPr>
            <a:r>
              <a:t/>
            </a:r>
            <a:endParaRPr i="1" sz="1900">
              <a:latin typeface="Oswald"/>
              <a:ea typeface="Oswald"/>
              <a:cs typeface="Oswald"/>
              <a:sym typeface="Oswald"/>
            </a:endParaRPr>
          </a:p>
          <a:p>
            <a:pPr indent="0" lvl="0" marL="0" rtl="0" algn="ctr">
              <a:spcBef>
                <a:spcPts val="0"/>
              </a:spcBef>
              <a:spcAft>
                <a:spcPts val="0"/>
              </a:spcAft>
              <a:buNone/>
            </a:pPr>
            <a:r>
              <a:t/>
            </a:r>
            <a:endParaRPr i="1" sz="1900">
              <a:latin typeface="Oswald"/>
              <a:ea typeface="Oswald"/>
              <a:cs typeface="Oswald"/>
              <a:sym typeface="Oswald"/>
            </a:endParaRPr>
          </a:p>
          <a:p>
            <a:pPr indent="0" lvl="0" marL="0" rtl="0" algn="l">
              <a:lnSpc>
                <a:spcPct val="115000"/>
              </a:lnSpc>
              <a:spcBef>
                <a:spcPts val="1400"/>
              </a:spcBef>
              <a:spcAft>
                <a:spcPts val="0"/>
              </a:spcAft>
              <a:buNone/>
            </a:pPr>
            <a:r>
              <a:t/>
            </a:r>
            <a:endParaRPr b="1" sz="1900">
              <a:solidFill>
                <a:schemeClr val="dk1"/>
              </a:solidFill>
              <a:latin typeface="Oswald"/>
              <a:ea typeface="Oswald"/>
              <a:cs typeface="Oswald"/>
              <a:sym typeface="Oswald"/>
            </a:endParaRPr>
          </a:p>
          <a:p>
            <a:pPr indent="0" lvl="0" marL="0" rtl="0" algn="ctr">
              <a:spcBef>
                <a:spcPts val="400"/>
              </a:spcBef>
              <a:spcAft>
                <a:spcPts val="0"/>
              </a:spcAft>
              <a:buNone/>
            </a:pPr>
            <a:r>
              <a:t/>
            </a:r>
            <a:endParaRPr i="1" sz="1900">
              <a:latin typeface="Oswald"/>
              <a:ea typeface="Oswald"/>
              <a:cs typeface="Oswald"/>
              <a:sym typeface="Oswald"/>
            </a:endParaRPr>
          </a:p>
          <a:p>
            <a:pPr indent="0" lvl="0" marL="0" rtl="0" algn="ctr">
              <a:spcBef>
                <a:spcPts val="0"/>
              </a:spcBef>
              <a:spcAft>
                <a:spcPts val="0"/>
              </a:spcAft>
              <a:buNone/>
            </a:pPr>
            <a:r>
              <a:t/>
            </a:r>
            <a:endParaRPr i="1" sz="1900">
              <a:latin typeface="Oswald"/>
              <a:ea typeface="Oswald"/>
              <a:cs typeface="Oswald"/>
              <a:sym typeface="Oswald"/>
            </a:endParaRPr>
          </a:p>
        </p:txBody>
      </p:sp>
      <p:sp>
        <p:nvSpPr>
          <p:cNvPr id="290" name="Google Shape;290;p24"/>
          <p:cNvSpPr/>
          <p:nvPr/>
        </p:nvSpPr>
        <p:spPr>
          <a:xfrm>
            <a:off x="6650125" y="1501650"/>
            <a:ext cx="838800" cy="7734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91" name="Google Shape;291;p24"/>
          <p:cNvPicPr preferRelativeResize="0"/>
          <p:nvPr/>
        </p:nvPicPr>
        <p:blipFill rotWithShape="1">
          <a:blip r:embed="rId3">
            <a:alphaModFix/>
          </a:blip>
          <a:srcRect b="0" l="0" r="0" t="0"/>
          <a:stretch/>
        </p:blipFill>
        <p:spPr>
          <a:xfrm>
            <a:off x="6753814" y="1590963"/>
            <a:ext cx="631419" cy="594775"/>
          </a:xfrm>
          <a:prstGeom prst="rect">
            <a:avLst/>
          </a:prstGeom>
          <a:noFill/>
          <a:ln>
            <a:noFill/>
          </a:ln>
        </p:spPr>
      </p:pic>
      <p:pic>
        <p:nvPicPr>
          <p:cNvPr id="292" name="Google Shape;292;p24"/>
          <p:cNvPicPr preferRelativeResize="0"/>
          <p:nvPr/>
        </p:nvPicPr>
        <p:blipFill>
          <a:blip r:embed="rId4">
            <a:alphaModFix/>
          </a:blip>
          <a:stretch>
            <a:fillRect/>
          </a:stretch>
        </p:blipFill>
        <p:spPr>
          <a:xfrm flipH="1">
            <a:off x="3311050" y="919375"/>
            <a:ext cx="707350" cy="707350"/>
          </a:xfrm>
          <a:prstGeom prst="rect">
            <a:avLst/>
          </a:prstGeom>
          <a:noFill/>
          <a:ln>
            <a:noFill/>
          </a:ln>
        </p:spPr>
      </p:pic>
      <p:grpSp>
        <p:nvGrpSpPr>
          <p:cNvPr id="293" name="Google Shape;293;p24"/>
          <p:cNvGrpSpPr/>
          <p:nvPr/>
        </p:nvGrpSpPr>
        <p:grpSpPr>
          <a:xfrm>
            <a:off x="200372" y="2467449"/>
            <a:ext cx="1562983" cy="1035222"/>
            <a:chOff x="588600" y="4852875"/>
            <a:chExt cx="1917300" cy="1269900"/>
          </a:xfrm>
        </p:grpSpPr>
        <p:sp>
          <p:nvSpPr>
            <p:cNvPr id="294" name="Google Shape;294;p24"/>
            <p:cNvSpPr/>
            <p:nvPr/>
          </p:nvSpPr>
          <p:spPr>
            <a:xfrm>
              <a:off x="588600" y="4852875"/>
              <a:ext cx="1917300" cy="1269900"/>
            </a:xfrm>
            <a:prstGeom prst="roundRect">
              <a:avLst>
                <a:gd fmla="val 16667" name="adj"/>
              </a:avLst>
            </a:prstGeom>
            <a:solidFill>
              <a:srgbClr val="161D2D"/>
            </a:solidFill>
            <a:ln cap="flat" cmpd="sng" w="23300">
              <a:solidFill>
                <a:srgbClr val="007500"/>
              </a:solidFill>
              <a:prstDash val="solid"/>
              <a:round/>
              <a:headEnd len="sm" w="sm" type="none"/>
              <a:tailEnd len="sm" w="sm" type="none"/>
            </a:ln>
          </p:spPr>
          <p:txBody>
            <a:bodyPr anchorCtr="0" anchor="t" bIns="74525" lIns="74525" spcFirstLastPara="1" rIns="74525" wrap="square" tIns="74525">
              <a:noAutofit/>
            </a:bodyPr>
            <a:lstStyle/>
            <a:p>
              <a:pPr indent="0" lvl="0" marL="0" rtl="0" algn="l">
                <a:spcBef>
                  <a:spcPts val="0"/>
                </a:spcBef>
                <a:spcAft>
                  <a:spcPts val="0"/>
                </a:spcAft>
                <a:buNone/>
              </a:pPr>
              <a:r>
                <a:rPr b="1" lang="es-419" sz="1141">
                  <a:solidFill>
                    <a:schemeClr val="lt1"/>
                  </a:solidFill>
                  <a:latin typeface="Oswald"/>
                  <a:ea typeface="Oswald"/>
                  <a:cs typeface="Oswald"/>
                  <a:sym typeface="Oswald"/>
                </a:rPr>
                <a:t>extract_primary</a:t>
              </a:r>
              <a:endParaRPr b="1" sz="1141">
                <a:solidFill>
                  <a:schemeClr val="lt1"/>
                </a:solidFill>
                <a:latin typeface="Oswald"/>
                <a:ea typeface="Oswald"/>
                <a:cs typeface="Oswald"/>
                <a:sym typeface="Oswald"/>
              </a:endParaRPr>
            </a:p>
            <a:p>
              <a:pPr indent="0" lvl="0" marL="0" rtl="0" algn="l">
                <a:spcBef>
                  <a:spcPts val="0"/>
                </a:spcBef>
                <a:spcAft>
                  <a:spcPts val="0"/>
                </a:spcAft>
                <a:buNone/>
              </a:pPr>
              <a:r>
                <a:rPr lang="es-419" sz="1141">
                  <a:solidFill>
                    <a:schemeClr val="lt1"/>
                  </a:solidFill>
                  <a:latin typeface="Oswald ExtraLight"/>
                  <a:ea typeface="Oswald ExtraLight"/>
                  <a:cs typeface="Oswald ExtraLight"/>
                  <a:sym typeface="Oswald ExtraLight"/>
                </a:rPr>
                <a:t>PythonOperator</a:t>
              </a:r>
              <a:endParaRPr sz="1141">
                <a:solidFill>
                  <a:schemeClr val="lt1"/>
                </a:solidFill>
                <a:latin typeface="Oswald ExtraLight"/>
                <a:ea typeface="Oswald ExtraLight"/>
                <a:cs typeface="Oswald ExtraLight"/>
                <a:sym typeface="Oswald ExtraLight"/>
              </a:endParaRPr>
            </a:p>
          </p:txBody>
        </p:sp>
        <p:sp>
          <p:nvSpPr>
            <p:cNvPr id="295" name="Google Shape;295;p24"/>
            <p:cNvSpPr/>
            <p:nvPr/>
          </p:nvSpPr>
          <p:spPr>
            <a:xfrm>
              <a:off x="720200" y="5526975"/>
              <a:ext cx="1050900" cy="338100"/>
            </a:xfrm>
            <a:prstGeom prst="roundRect">
              <a:avLst>
                <a:gd fmla="val 16667" name="adj"/>
              </a:avLst>
            </a:prstGeom>
            <a:solidFill>
              <a:srgbClr val="007500"/>
            </a:solidFill>
            <a:ln>
              <a:noFill/>
            </a:ln>
          </p:spPr>
          <p:txBody>
            <a:bodyPr anchorCtr="0" anchor="ctr" bIns="74525" lIns="74525" spcFirstLastPara="1" rIns="74525" wrap="square" tIns="74525">
              <a:noAutofit/>
            </a:bodyPr>
            <a:lstStyle/>
            <a:p>
              <a:pPr indent="0" lvl="0" marL="0" rtl="0" algn="ctr">
                <a:spcBef>
                  <a:spcPts val="0"/>
                </a:spcBef>
                <a:spcAft>
                  <a:spcPts val="0"/>
                </a:spcAft>
                <a:buNone/>
              </a:pPr>
              <a:r>
                <a:rPr b="1" lang="es-419" sz="1141">
                  <a:solidFill>
                    <a:schemeClr val="lt1"/>
                  </a:solidFill>
                  <a:latin typeface="Oswald"/>
                  <a:ea typeface="Oswald"/>
                  <a:cs typeface="Oswald"/>
                  <a:sym typeface="Oswald"/>
                </a:rPr>
                <a:t>✓</a:t>
              </a:r>
              <a:r>
                <a:rPr b="1" lang="es-419" sz="1141">
                  <a:solidFill>
                    <a:schemeClr val="lt1"/>
                  </a:solidFill>
                  <a:latin typeface="Oswald"/>
                  <a:ea typeface="Oswald"/>
                  <a:cs typeface="Oswald"/>
                  <a:sym typeface="Oswald"/>
                </a:rPr>
                <a:t>success</a:t>
              </a:r>
              <a:endParaRPr b="1" sz="1141">
                <a:solidFill>
                  <a:schemeClr val="lt1"/>
                </a:solidFill>
                <a:latin typeface="Oswald"/>
                <a:ea typeface="Oswald"/>
                <a:cs typeface="Oswald"/>
                <a:sym typeface="Oswald"/>
              </a:endParaRPr>
            </a:p>
          </p:txBody>
        </p:sp>
      </p:grpSp>
      <p:grpSp>
        <p:nvGrpSpPr>
          <p:cNvPr id="296" name="Google Shape;296;p24"/>
          <p:cNvGrpSpPr/>
          <p:nvPr/>
        </p:nvGrpSpPr>
        <p:grpSpPr>
          <a:xfrm>
            <a:off x="1928072" y="2467449"/>
            <a:ext cx="1562983" cy="1035222"/>
            <a:chOff x="588600" y="4852875"/>
            <a:chExt cx="1917300" cy="1269900"/>
          </a:xfrm>
        </p:grpSpPr>
        <p:sp>
          <p:nvSpPr>
            <p:cNvPr id="297" name="Google Shape;297;p24"/>
            <p:cNvSpPr/>
            <p:nvPr/>
          </p:nvSpPr>
          <p:spPr>
            <a:xfrm>
              <a:off x="588600" y="4852875"/>
              <a:ext cx="1917300" cy="1269900"/>
            </a:xfrm>
            <a:prstGeom prst="roundRect">
              <a:avLst>
                <a:gd fmla="val 16667" name="adj"/>
              </a:avLst>
            </a:prstGeom>
            <a:solidFill>
              <a:srgbClr val="161D2D"/>
            </a:solidFill>
            <a:ln cap="flat" cmpd="sng" w="23300">
              <a:solidFill>
                <a:srgbClr val="007500"/>
              </a:solidFill>
              <a:prstDash val="solid"/>
              <a:round/>
              <a:headEnd len="sm" w="sm" type="none"/>
              <a:tailEnd len="sm" w="sm" type="none"/>
            </a:ln>
          </p:spPr>
          <p:txBody>
            <a:bodyPr anchorCtr="0" anchor="t" bIns="74525" lIns="74525" spcFirstLastPara="1" rIns="74525" wrap="square" tIns="74525">
              <a:noAutofit/>
            </a:bodyPr>
            <a:lstStyle/>
            <a:p>
              <a:pPr indent="0" lvl="0" marL="0" rtl="0" algn="l">
                <a:spcBef>
                  <a:spcPts val="0"/>
                </a:spcBef>
                <a:spcAft>
                  <a:spcPts val="0"/>
                </a:spcAft>
                <a:buNone/>
              </a:pPr>
              <a:r>
                <a:rPr b="1" lang="es-419" sz="1141">
                  <a:solidFill>
                    <a:schemeClr val="lt1"/>
                  </a:solidFill>
                  <a:latin typeface="Oswald"/>
                  <a:ea typeface="Oswald"/>
                  <a:cs typeface="Oswald"/>
                  <a:sym typeface="Oswald"/>
                </a:rPr>
                <a:t>clean</a:t>
              </a:r>
              <a:r>
                <a:rPr b="1" lang="es-419" sz="1141">
                  <a:solidFill>
                    <a:schemeClr val="lt1"/>
                  </a:solidFill>
                  <a:latin typeface="Oswald"/>
                  <a:ea typeface="Oswald"/>
                  <a:cs typeface="Oswald"/>
                  <a:sym typeface="Oswald"/>
                </a:rPr>
                <a:t>_primary</a:t>
              </a:r>
              <a:endParaRPr b="1" sz="1141">
                <a:solidFill>
                  <a:schemeClr val="lt1"/>
                </a:solidFill>
                <a:latin typeface="Oswald"/>
                <a:ea typeface="Oswald"/>
                <a:cs typeface="Oswald"/>
                <a:sym typeface="Oswald"/>
              </a:endParaRPr>
            </a:p>
            <a:p>
              <a:pPr indent="0" lvl="0" marL="0" rtl="0" algn="l">
                <a:spcBef>
                  <a:spcPts val="0"/>
                </a:spcBef>
                <a:spcAft>
                  <a:spcPts val="0"/>
                </a:spcAft>
                <a:buNone/>
              </a:pPr>
              <a:r>
                <a:rPr lang="es-419" sz="1141">
                  <a:solidFill>
                    <a:schemeClr val="lt1"/>
                  </a:solidFill>
                  <a:latin typeface="Oswald ExtraLight"/>
                  <a:ea typeface="Oswald ExtraLight"/>
                  <a:cs typeface="Oswald ExtraLight"/>
                  <a:sym typeface="Oswald ExtraLight"/>
                </a:rPr>
                <a:t>PythonOperator</a:t>
              </a:r>
              <a:endParaRPr sz="1141">
                <a:solidFill>
                  <a:schemeClr val="lt1"/>
                </a:solidFill>
                <a:latin typeface="Oswald ExtraLight"/>
                <a:ea typeface="Oswald ExtraLight"/>
                <a:cs typeface="Oswald ExtraLight"/>
                <a:sym typeface="Oswald ExtraLight"/>
              </a:endParaRPr>
            </a:p>
          </p:txBody>
        </p:sp>
        <p:sp>
          <p:nvSpPr>
            <p:cNvPr id="298" name="Google Shape;298;p24"/>
            <p:cNvSpPr/>
            <p:nvPr/>
          </p:nvSpPr>
          <p:spPr>
            <a:xfrm>
              <a:off x="720200" y="5526975"/>
              <a:ext cx="1050900" cy="338100"/>
            </a:xfrm>
            <a:prstGeom prst="roundRect">
              <a:avLst>
                <a:gd fmla="val 16667" name="adj"/>
              </a:avLst>
            </a:prstGeom>
            <a:solidFill>
              <a:srgbClr val="007500"/>
            </a:solidFill>
            <a:ln>
              <a:noFill/>
            </a:ln>
          </p:spPr>
          <p:txBody>
            <a:bodyPr anchorCtr="0" anchor="ctr" bIns="74525" lIns="74525" spcFirstLastPara="1" rIns="74525" wrap="square" tIns="74525">
              <a:noAutofit/>
            </a:bodyPr>
            <a:lstStyle/>
            <a:p>
              <a:pPr indent="0" lvl="0" marL="0" rtl="0" algn="ctr">
                <a:spcBef>
                  <a:spcPts val="0"/>
                </a:spcBef>
                <a:spcAft>
                  <a:spcPts val="0"/>
                </a:spcAft>
                <a:buNone/>
              </a:pPr>
              <a:r>
                <a:rPr b="1" lang="es-419" sz="1141">
                  <a:solidFill>
                    <a:schemeClr val="lt1"/>
                  </a:solidFill>
                  <a:latin typeface="Oswald"/>
                  <a:ea typeface="Oswald"/>
                  <a:cs typeface="Oswald"/>
                  <a:sym typeface="Oswald"/>
                </a:rPr>
                <a:t>✓success</a:t>
              </a:r>
              <a:endParaRPr b="1" sz="1141">
                <a:solidFill>
                  <a:schemeClr val="lt1"/>
                </a:solidFill>
                <a:latin typeface="Oswald"/>
                <a:ea typeface="Oswald"/>
                <a:cs typeface="Oswald"/>
                <a:sym typeface="Oswald"/>
              </a:endParaRPr>
            </a:p>
          </p:txBody>
        </p:sp>
      </p:grpSp>
      <p:grpSp>
        <p:nvGrpSpPr>
          <p:cNvPr id="299" name="Google Shape;299;p24"/>
          <p:cNvGrpSpPr/>
          <p:nvPr/>
        </p:nvGrpSpPr>
        <p:grpSpPr>
          <a:xfrm>
            <a:off x="3655772" y="2467737"/>
            <a:ext cx="1562983" cy="1035222"/>
            <a:chOff x="588600" y="4852875"/>
            <a:chExt cx="1917300" cy="1269900"/>
          </a:xfrm>
        </p:grpSpPr>
        <p:sp>
          <p:nvSpPr>
            <p:cNvPr id="300" name="Google Shape;300;p24"/>
            <p:cNvSpPr/>
            <p:nvPr/>
          </p:nvSpPr>
          <p:spPr>
            <a:xfrm>
              <a:off x="588600" y="4852875"/>
              <a:ext cx="1917300" cy="1269900"/>
            </a:xfrm>
            <a:prstGeom prst="roundRect">
              <a:avLst>
                <a:gd fmla="val 16667" name="adj"/>
              </a:avLst>
            </a:prstGeom>
            <a:solidFill>
              <a:srgbClr val="161D2D"/>
            </a:solidFill>
            <a:ln cap="flat" cmpd="sng" w="23300">
              <a:solidFill>
                <a:srgbClr val="007500"/>
              </a:solidFill>
              <a:prstDash val="solid"/>
              <a:round/>
              <a:headEnd len="sm" w="sm" type="none"/>
              <a:tailEnd len="sm" w="sm" type="none"/>
            </a:ln>
          </p:spPr>
          <p:txBody>
            <a:bodyPr anchorCtr="0" anchor="t" bIns="74525" lIns="74525" spcFirstLastPara="1" rIns="74525" wrap="square" tIns="74525">
              <a:noAutofit/>
            </a:bodyPr>
            <a:lstStyle/>
            <a:p>
              <a:pPr indent="0" lvl="0" marL="0" rtl="0" algn="l">
                <a:spcBef>
                  <a:spcPts val="0"/>
                </a:spcBef>
                <a:spcAft>
                  <a:spcPts val="0"/>
                </a:spcAft>
                <a:buNone/>
              </a:pPr>
              <a:r>
                <a:rPr b="1" lang="es-419" sz="1141">
                  <a:solidFill>
                    <a:schemeClr val="lt1"/>
                  </a:solidFill>
                  <a:latin typeface="Oswald"/>
                  <a:ea typeface="Oswald"/>
                  <a:cs typeface="Oswald"/>
                  <a:sym typeface="Oswald"/>
                </a:rPr>
                <a:t>aggregate</a:t>
              </a:r>
              <a:r>
                <a:rPr b="1" lang="es-419" sz="1141">
                  <a:solidFill>
                    <a:schemeClr val="lt1"/>
                  </a:solidFill>
                  <a:latin typeface="Oswald"/>
                  <a:ea typeface="Oswald"/>
                  <a:cs typeface="Oswald"/>
                  <a:sym typeface="Oswald"/>
                </a:rPr>
                <a:t>_primary</a:t>
              </a:r>
              <a:endParaRPr b="1" sz="1141">
                <a:solidFill>
                  <a:schemeClr val="lt1"/>
                </a:solidFill>
                <a:latin typeface="Oswald"/>
                <a:ea typeface="Oswald"/>
                <a:cs typeface="Oswald"/>
                <a:sym typeface="Oswald"/>
              </a:endParaRPr>
            </a:p>
            <a:p>
              <a:pPr indent="0" lvl="0" marL="0" rtl="0" algn="l">
                <a:spcBef>
                  <a:spcPts val="0"/>
                </a:spcBef>
                <a:spcAft>
                  <a:spcPts val="0"/>
                </a:spcAft>
                <a:buNone/>
              </a:pPr>
              <a:r>
                <a:rPr lang="es-419" sz="1141">
                  <a:solidFill>
                    <a:schemeClr val="lt1"/>
                  </a:solidFill>
                  <a:latin typeface="Oswald ExtraLight"/>
                  <a:ea typeface="Oswald ExtraLight"/>
                  <a:cs typeface="Oswald ExtraLight"/>
                  <a:sym typeface="Oswald ExtraLight"/>
                </a:rPr>
                <a:t>PythonOperator</a:t>
              </a:r>
              <a:endParaRPr sz="1141">
                <a:solidFill>
                  <a:schemeClr val="lt1"/>
                </a:solidFill>
                <a:latin typeface="Oswald ExtraLight"/>
                <a:ea typeface="Oswald ExtraLight"/>
                <a:cs typeface="Oswald ExtraLight"/>
                <a:sym typeface="Oswald ExtraLight"/>
              </a:endParaRPr>
            </a:p>
          </p:txBody>
        </p:sp>
        <p:sp>
          <p:nvSpPr>
            <p:cNvPr id="301" name="Google Shape;301;p24"/>
            <p:cNvSpPr/>
            <p:nvPr/>
          </p:nvSpPr>
          <p:spPr>
            <a:xfrm>
              <a:off x="720200" y="5526975"/>
              <a:ext cx="1050900" cy="338100"/>
            </a:xfrm>
            <a:prstGeom prst="roundRect">
              <a:avLst>
                <a:gd fmla="val 16667" name="adj"/>
              </a:avLst>
            </a:prstGeom>
            <a:solidFill>
              <a:srgbClr val="007500"/>
            </a:solidFill>
            <a:ln>
              <a:noFill/>
            </a:ln>
          </p:spPr>
          <p:txBody>
            <a:bodyPr anchorCtr="0" anchor="ctr" bIns="74525" lIns="74525" spcFirstLastPara="1" rIns="74525" wrap="square" tIns="74525">
              <a:noAutofit/>
            </a:bodyPr>
            <a:lstStyle/>
            <a:p>
              <a:pPr indent="0" lvl="0" marL="0" rtl="0" algn="ctr">
                <a:spcBef>
                  <a:spcPts val="0"/>
                </a:spcBef>
                <a:spcAft>
                  <a:spcPts val="0"/>
                </a:spcAft>
                <a:buNone/>
              </a:pPr>
              <a:r>
                <a:rPr b="1" lang="es-419" sz="1141">
                  <a:solidFill>
                    <a:schemeClr val="lt1"/>
                  </a:solidFill>
                  <a:latin typeface="Oswald"/>
                  <a:ea typeface="Oswald"/>
                  <a:cs typeface="Oswald"/>
                  <a:sym typeface="Oswald"/>
                </a:rPr>
                <a:t>✓success</a:t>
              </a:r>
              <a:endParaRPr b="1" sz="1141">
                <a:solidFill>
                  <a:schemeClr val="lt1"/>
                </a:solidFill>
                <a:latin typeface="Oswald"/>
                <a:ea typeface="Oswald"/>
                <a:cs typeface="Oswald"/>
                <a:sym typeface="Oswald"/>
              </a:endParaRPr>
            </a:p>
          </p:txBody>
        </p:sp>
      </p:grpSp>
      <p:grpSp>
        <p:nvGrpSpPr>
          <p:cNvPr id="302" name="Google Shape;302;p24"/>
          <p:cNvGrpSpPr/>
          <p:nvPr/>
        </p:nvGrpSpPr>
        <p:grpSpPr>
          <a:xfrm>
            <a:off x="5566597" y="2900224"/>
            <a:ext cx="1562983" cy="1035222"/>
            <a:chOff x="588600" y="4852875"/>
            <a:chExt cx="1917300" cy="1269900"/>
          </a:xfrm>
        </p:grpSpPr>
        <p:sp>
          <p:nvSpPr>
            <p:cNvPr id="303" name="Google Shape;303;p24"/>
            <p:cNvSpPr/>
            <p:nvPr/>
          </p:nvSpPr>
          <p:spPr>
            <a:xfrm>
              <a:off x="588600" y="4852875"/>
              <a:ext cx="1917300" cy="1269900"/>
            </a:xfrm>
            <a:prstGeom prst="roundRect">
              <a:avLst>
                <a:gd fmla="val 16667" name="adj"/>
              </a:avLst>
            </a:prstGeom>
            <a:solidFill>
              <a:srgbClr val="161D2D"/>
            </a:solidFill>
            <a:ln cap="flat" cmpd="sng" w="23300">
              <a:solidFill>
                <a:srgbClr val="007500"/>
              </a:solidFill>
              <a:prstDash val="solid"/>
              <a:round/>
              <a:headEnd len="sm" w="sm" type="none"/>
              <a:tailEnd len="sm" w="sm" type="none"/>
            </a:ln>
          </p:spPr>
          <p:txBody>
            <a:bodyPr anchorCtr="0" anchor="t" bIns="74525" lIns="74525" spcFirstLastPara="1" rIns="74525" wrap="square" tIns="74525">
              <a:noAutofit/>
            </a:bodyPr>
            <a:lstStyle/>
            <a:p>
              <a:pPr indent="0" lvl="0" marL="0" rtl="0" algn="l">
                <a:spcBef>
                  <a:spcPts val="0"/>
                </a:spcBef>
                <a:spcAft>
                  <a:spcPts val="0"/>
                </a:spcAft>
                <a:buNone/>
              </a:pPr>
              <a:r>
                <a:rPr b="1" lang="es-419" sz="1141">
                  <a:solidFill>
                    <a:schemeClr val="lt1"/>
                  </a:solidFill>
                  <a:latin typeface="Oswald"/>
                  <a:ea typeface="Oswald"/>
                  <a:cs typeface="Oswald"/>
                  <a:sym typeface="Oswald"/>
                </a:rPr>
                <a:t>integrate</a:t>
              </a:r>
              <a:endParaRPr b="1" sz="1141">
                <a:solidFill>
                  <a:schemeClr val="lt1"/>
                </a:solidFill>
                <a:latin typeface="Oswald"/>
                <a:ea typeface="Oswald"/>
                <a:cs typeface="Oswald"/>
                <a:sym typeface="Oswald"/>
              </a:endParaRPr>
            </a:p>
            <a:p>
              <a:pPr indent="0" lvl="0" marL="0" rtl="0" algn="l">
                <a:spcBef>
                  <a:spcPts val="0"/>
                </a:spcBef>
                <a:spcAft>
                  <a:spcPts val="0"/>
                </a:spcAft>
                <a:buNone/>
              </a:pPr>
              <a:r>
                <a:rPr lang="es-419" sz="1141">
                  <a:solidFill>
                    <a:schemeClr val="lt1"/>
                  </a:solidFill>
                  <a:latin typeface="Oswald ExtraLight"/>
                  <a:ea typeface="Oswald ExtraLight"/>
                  <a:cs typeface="Oswald ExtraLight"/>
                  <a:sym typeface="Oswald ExtraLight"/>
                </a:rPr>
                <a:t>PythonOperator</a:t>
              </a:r>
              <a:endParaRPr sz="1141">
                <a:solidFill>
                  <a:schemeClr val="lt1"/>
                </a:solidFill>
                <a:latin typeface="Oswald ExtraLight"/>
                <a:ea typeface="Oswald ExtraLight"/>
                <a:cs typeface="Oswald ExtraLight"/>
                <a:sym typeface="Oswald ExtraLight"/>
              </a:endParaRPr>
            </a:p>
          </p:txBody>
        </p:sp>
        <p:sp>
          <p:nvSpPr>
            <p:cNvPr id="304" name="Google Shape;304;p24"/>
            <p:cNvSpPr/>
            <p:nvPr/>
          </p:nvSpPr>
          <p:spPr>
            <a:xfrm>
              <a:off x="720200" y="5526975"/>
              <a:ext cx="1050900" cy="338100"/>
            </a:xfrm>
            <a:prstGeom prst="roundRect">
              <a:avLst>
                <a:gd fmla="val 16667" name="adj"/>
              </a:avLst>
            </a:prstGeom>
            <a:solidFill>
              <a:srgbClr val="007500"/>
            </a:solidFill>
            <a:ln>
              <a:noFill/>
            </a:ln>
          </p:spPr>
          <p:txBody>
            <a:bodyPr anchorCtr="0" anchor="ctr" bIns="74525" lIns="74525" spcFirstLastPara="1" rIns="74525" wrap="square" tIns="74525">
              <a:noAutofit/>
            </a:bodyPr>
            <a:lstStyle/>
            <a:p>
              <a:pPr indent="0" lvl="0" marL="0" rtl="0" algn="ctr">
                <a:spcBef>
                  <a:spcPts val="0"/>
                </a:spcBef>
                <a:spcAft>
                  <a:spcPts val="0"/>
                </a:spcAft>
                <a:buNone/>
              </a:pPr>
              <a:r>
                <a:rPr b="1" lang="es-419" sz="1141">
                  <a:solidFill>
                    <a:schemeClr val="lt1"/>
                  </a:solidFill>
                  <a:latin typeface="Oswald"/>
                  <a:ea typeface="Oswald"/>
                  <a:cs typeface="Oswald"/>
                  <a:sym typeface="Oswald"/>
                </a:rPr>
                <a:t>✓success</a:t>
              </a:r>
              <a:endParaRPr b="1" sz="1141">
                <a:solidFill>
                  <a:schemeClr val="lt1"/>
                </a:solidFill>
                <a:latin typeface="Oswald"/>
                <a:ea typeface="Oswald"/>
                <a:cs typeface="Oswald"/>
                <a:sym typeface="Oswald"/>
              </a:endParaRPr>
            </a:p>
          </p:txBody>
        </p:sp>
      </p:grpSp>
      <p:grpSp>
        <p:nvGrpSpPr>
          <p:cNvPr id="305" name="Google Shape;305;p24"/>
          <p:cNvGrpSpPr/>
          <p:nvPr/>
        </p:nvGrpSpPr>
        <p:grpSpPr>
          <a:xfrm>
            <a:off x="7301622" y="2900224"/>
            <a:ext cx="1562983" cy="1035222"/>
            <a:chOff x="588600" y="4852875"/>
            <a:chExt cx="1917300" cy="1269900"/>
          </a:xfrm>
        </p:grpSpPr>
        <p:sp>
          <p:nvSpPr>
            <p:cNvPr id="306" name="Google Shape;306;p24"/>
            <p:cNvSpPr/>
            <p:nvPr/>
          </p:nvSpPr>
          <p:spPr>
            <a:xfrm>
              <a:off x="588600" y="4852875"/>
              <a:ext cx="1917300" cy="1269900"/>
            </a:xfrm>
            <a:prstGeom prst="roundRect">
              <a:avLst>
                <a:gd fmla="val 16667" name="adj"/>
              </a:avLst>
            </a:prstGeom>
            <a:solidFill>
              <a:srgbClr val="161D2D"/>
            </a:solidFill>
            <a:ln cap="flat" cmpd="sng" w="23300">
              <a:solidFill>
                <a:srgbClr val="007500"/>
              </a:solidFill>
              <a:prstDash val="solid"/>
              <a:round/>
              <a:headEnd len="sm" w="sm" type="none"/>
              <a:tailEnd len="sm" w="sm" type="none"/>
            </a:ln>
          </p:spPr>
          <p:txBody>
            <a:bodyPr anchorCtr="0" anchor="t" bIns="74525" lIns="74525" spcFirstLastPara="1" rIns="74525" wrap="square" tIns="74525">
              <a:noAutofit/>
            </a:bodyPr>
            <a:lstStyle/>
            <a:p>
              <a:pPr indent="0" lvl="0" marL="0" rtl="0" algn="l">
                <a:spcBef>
                  <a:spcPts val="0"/>
                </a:spcBef>
                <a:spcAft>
                  <a:spcPts val="0"/>
                </a:spcAft>
                <a:buNone/>
              </a:pPr>
              <a:r>
                <a:rPr b="1" lang="es-419" sz="1141">
                  <a:solidFill>
                    <a:schemeClr val="lt1"/>
                  </a:solidFill>
                  <a:latin typeface="Oswald"/>
                  <a:ea typeface="Oswald"/>
                  <a:cs typeface="Oswald"/>
                  <a:sym typeface="Oswald"/>
                </a:rPr>
                <a:t>validate_gx</a:t>
              </a:r>
              <a:endParaRPr b="1" sz="1141">
                <a:solidFill>
                  <a:schemeClr val="lt1"/>
                </a:solidFill>
                <a:latin typeface="Oswald"/>
                <a:ea typeface="Oswald"/>
                <a:cs typeface="Oswald"/>
                <a:sym typeface="Oswald"/>
              </a:endParaRPr>
            </a:p>
            <a:p>
              <a:pPr indent="0" lvl="0" marL="0" rtl="0" algn="l">
                <a:spcBef>
                  <a:spcPts val="0"/>
                </a:spcBef>
                <a:spcAft>
                  <a:spcPts val="0"/>
                </a:spcAft>
                <a:buNone/>
              </a:pPr>
              <a:r>
                <a:rPr lang="es-419" sz="1141">
                  <a:solidFill>
                    <a:schemeClr val="lt1"/>
                  </a:solidFill>
                  <a:latin typeface="Oswald ExtraLight"/>
                  <a:ea typeface="Oswald ExtraLight"/>
                  <a:cs typeface="Oswald ExtraLight"/>
                  <a:sym typeface="Oswald ExtraLight"/>
                </a:rPr>
                <a:t>PythonOperator</a:t>
              </a:r>
              <a:endParaRPr sz="1141">
                <a:solidFill>
                  <a:schemeClr val="lt1"/>
                </a:solidFill>
                <a:latin typeface="Oswald ExtraLight"/>
                <a:ea typeface="Oswald ExtraLight"/>
                <a:cs typeface="Oswald ExtraLight"/>
                <a:sym typeface="Oswald ExtraLight"/>
              </a:endParaRPr>
            </a:p>
          </p:txBody>
        </p:sp>
        <p:sp>
          <p:nvSpPr>
            <p:cNvPr id="307" name="Google Shape;307;p24"/>
            <p:cNvSpPr/>
            <p:nvPr/>
          </p:nvSpPr>
          <p:spPr>
            <a:xfrm>
              <a:off x="720200" y="5526975"/>
              <a:ext cx="1050900" cy="338100"/>
            </a:xfrm>
            <a:prstGeom prst="roundRect">
              <a:avLst>
                <a:gd fmla="val 16667" name="adj"/>
              </a:avLst>
            </a:prstGeom>
            <a:solidFill>
              <a:srgbClr val="007500"/>
            </a:solidFill>
            <a:ln>
              <a:noFill/>
            </a:ln>
          </p:spPr>
          <p:txBody>
            <a:bodyPr anchorCtr="0" anchor="ctr" bIns="74525" lIns="74525" spcFirstLastPara="1" rIns="74525" wrap="square" tIns="74525">
              <a:noAutofit/>
            </a:bodyPr>
            <a:lstStyle/>
            <a:p>
              <a:pPr indent="0" lvl="0" marL="0" rtl="0" algn="ctr">
                <a:spcBef>
                  <a:spcPts val="0"/>
                </a:spcBef>
                <a:spcAft>
                  <a:spcPts val="0"/>
                </a:spcAft>
                <a:buNone/>
              </a:pPr>
              <a:r>
                <a:rPr b="1" lang="es-419" sz="1141">
                  <a:solidFill>
                    <a:schemeClr val="lt1"/>
                  </a:solidFill>
                  <a:latin typeface="Oswald"/>
                  <a:ea typeface="Oswald"/>
                  <a:cs typeface="Oswald"/>
                  <a:sym typeface="Oswald"/>
                </a:rPr>
                <a:t>✓success</a:t>
              </a:r>
              <a:endParaRPr b="1" sz="1141">
                <a:solidFill>
                  <a:schemeClr val="lt1"/>
                </a:solidFill>
                <a:latin typeface="Oswald"/>
                <a:ea typeface="Oswald"/>
                <a:cs typeface="Oswald"/>
                <a:sym typeface="Oswald"/>
              </a:endParaRPr>
            </a:p>
          </p:txBody>
        </p:sp>
      </p:grpSp>
      <p:grpSp>
        <p:nvGrpSpPr>
          <p:cNvPr id="308" name="Google Shape;308;p24"/>
          <p:cNvGrpSpPr/>
          <p:nvPr/>
        </p:nvGrpSpPr>
        <p:grpSpPr>
          <a:xfrm>
            <a:off x="9036647" y="2900224"/>
            <a:ext cx="1562983" cy="1035222"/>
            <a:chOff x="588600" y="4852875"/>
            <a:chExt cx="1917300" cy="1269900"/>
          </a:xfrm>
        </p:grpSpPr>
        <p:sp>
          <p:nvSpPr>
            <p:cNvPr id="309" name="Google Shape;309;p24"/>
            <p:cNvSpPr/>
            <p:nvPr/>
          </p:nvSpPr>
          <p:spPr>
            <a:xfrm>
              <a:off x="588600" y="4852875"/>
              <a:ext cx="1917300" cy="1269900"/>
            </a:xfrm>
            <a:prstGeom prst="roundRect">
              <a:avLst>
                <a:gd fmla="val 16667" name="adj"/>
              </a:avLst>
            </a:prstGeom>
            <a:solidFill>
              <a:srgbClr val="161D2D"/>
            </a:solidFill>
            <a:ln cap="flat" cmpd="sng" w="23300">
              <a:solidFill>
                <a:srgbClr val="007500"/>
              </a:solidFill>
              <a:prstDash val="solid"/>
              <a:round/>
              <a:headEnd len="sm" w="sm" type="none"/>
              <a:tailEnd len="sm" w="sm" type="none"/>
            </a:ln>
          </p:spPr>
          <p:txBody>
            <a:bodyPr anchorCtr="0" anchor="t" bIns="74525" lIns="74525" spcFirstLastPara="1" rIns="74525" wrap="square" tIns="74525">
              <a:noAutofit/>
            </a:bodyPr>
            <a:lstStyle/>
            <a:p>
              <a:pPr indent="0" lvl="0" marL="0" rtl="0" algn="l">
                <a:spcBef>
                  <a:spcPts val="0"/>
                </a:spcBef>
                <a:spcAft>
                  <a:spcPts val="0"/>
                </a:spcAft>
                <a:buNone/>
              </a:pPr>
              <a:r>
                <a:rPr b="1" lang="es-419" sz="1141">
                  <a:solidFill>
                    <a:schemeClr val="lt1"/>
                  </a:solidFill>
                  <a:latin typeface="Oswald"/>
                  <a:ea typeface="Oswald"/>
                  <a:cs typeface="Oswald"/>
                  <a:sym typeface="Oswald"/>
                </a:rPr>
                <a:t>load_dw</a:t>
              </a:r>
              <a:endParaRPr b="1" sz="1141">
                <a:solidFill>
                  <a:schemeClr val="lt1"/>
                </a:solidFill>
                <a:latin typeface="Oswald"/>
                <a:ea typeface="Oswald"/>
                <a:cs typeface="Oswald"/>
                <a:sym typeface="Oswald"/>
              </a:endParaRPr>
            </a:p>
            <a:p>
              <a:pPr indent="0" lvl="0" marL="0" rtl="0" algn="l">
                <a:spcBef>
                  <a:spcPts val="0"/>
                </a:spcBef>
                <a:spcAft>
                  <a:spcPts val="0"/>
                </a:spcAft>
                <a:buNone/>
              </a:pPr>
              <a:r>
                <a:rPr lang="es-419" sz="1141">
                  <a:solidFill>
                    <a:schemeClr val="lt1"/>
                  </a:solidFill>
                  <a:latin typeface="Oswald ExtraLight"/>
                  <a:ea typeface="Oswald ExtraLight"/>
                  <a:cs typeface="Oswald ExtraLight"/>
                  <a:sym typeface="Oswald ExtraLight"/>
                </a:rPr>
                <a:t>PythonOperator</a:t>
              </a:r>
              <a:endParaRPr sz="1141">
                <a:solidFill>
                  <a:schemeClr val="lt1"/>
                </a:solidFill>
                <a:latin typeface="Oswald ExtraLight"/>
                <a:ea typeface="Oswald ExtraLight"/>
                <a:cs typeface="Oswald ExtraLight"/>
                <a:sym typeface="Oswald ExtraLight"/>
              </a:endParaRPr>
            </a:p>
          </p:txBody>
        </p:sp>
        <p:sp>
          <p:nvSpPr>
            <p:cNvPr id="310" name="Google Shape;310;p24"/>
            <p:cNvSpPr/>
            <p:nvPr/>
          </p:nvSpPr>
          <p:spPr>
            <a:xfrm>
              <a:off x="720200" y="5526975"/>
              <a:ext cx="1050900" cy="338100"/>
            </a:xfrm>
            <a:prstGeom prst="roundRect">
              <a:avLst>
                <a:gd fmla="val 16667" name="adj"/>
              </a:avLst>
            </a:prstGeom>
            <a:solidFill>
              <a:srgbClr val="007500"/>
            </a:solidFill>
            <a:ln>
              <a:noFill/>
            </a:ln>
          </p:spPr>
          <p:txBody>
            <a:bodyPr anchorCtr="0" anchor="ctr" bIns="74525" lIns="74525" spcFirstLastPara="1" rIns="74525" wrap="square" tIns="74525">
              <a:noAutofit/>
            </a:bodyPr>
            <a:lstStyle/>
            <a:p>
              <a:pPr indent="0" lvl="0" marL="0" rtl="0" algn="ctr">
                <a:spcBef>
                  <a:spcPts val="0"/>
                </a:spcBef>
                <a:spcAft>
                  <a:spcPts val="0"/>
                </a:spcAft>
                <a:buNone/>
              </a:pPr>
              <a:r>
                <a:rPr b="1" lang="es-419" sz="1141">
                  <a:solidFill>
                    <a:schemeClr val="lt1"/>
                  </a:solidFill>
                  <a:latin typeface="Oswald"/>
                  <a:ea typeface="Oswald"/>
                  <a:cs typeface="Oswald"/>
                  <a:sym typeface="Oswald"/>
                </a:rPr>
                <a:t>✓success</a:t>
              </a:r>
              <a:endParaRPr b="1" sz="1141">
                <a:solidFill>
                  <a:schemeClr val="lt1"/>
                </a:solidFill>
                <a:latin typeface="Oswald"/>
                <a:ea typeface="Oswald"/>
                <a:cs typeface="Oswald"/>
                <a:sym typeface="Oswald"/>
              </a:endParaRPr>
            </a:p>
          </p:txBody>
        </p:sp>
      </p:grpSp>
      <p:grpSp>
        <p:nvGrpSpPr>
          <p:cNvPr id="311" name="Google Shape;311;p24"/>
          <p:cNvGrpSpPr/>
          <p:nvPr/>
        </p:nvGrpSpPr>
        <p:grpSpPr>
          <a:xfrm>
            <a:off x="200372" y="4182799"/>
            <a:ext cx="1562983" cy="1035222"/>
            <a:chOff x="588600" y="4852875"/>
            <a:chExt cx="1917300" cy="1269900"/>
          </a:xfrm>
        </p:grpSpPr>
        <p:sp>
          <p:nvSpPr>
            <p:cNvPr id="312" name="Google Shape;312;p24"/>
            <p:cNvSpPr/>
            <p:nvPr/>
          </p:nvSpPr>
          <p:spPr>
            <a:xfrm>
              <a:off x="588600" y="4852875"/>
              <a:ext cx="1917300" cy="1269900"/>
            </a:xfrm>
            <a:prstGeom prst="roundRect">
              <a:avLst>
                <a:gd fmla="val 16667" name="adj"/>
              </a:avLst>
            </a:prstGeom>
            <a:solidFill>
              <a:srgbClr val="161D2D"/>
            </a:solidFill>
            <a:ln cap="flat" cmpd="sng" w="23300">
              <a:solidFill>
                <a:srgbClr val="007500"/>
              </a:solidFill>
              <a:prstDash val="solid"/>
              <a:round/>
              <a:headEnd len="sm" w="sm" type="none"/>
              <a:tailEnd len="sm" w="sm" type="none"/>
            </a:ln>
          </p:spPr>
          <p:txBody>
            <a:bodyPr anchorCtr="0" anchor="t" bIns="74525" lIns="74525" spcFirstLastPara="1" rIns="74525" wrap="square" tIns="74525">
              <a:noAutofit/>
            </a:bodyPr>
            <a:lstStyle/>
            <a:p>
              <a:pPr indent="0" lvl="0" marL="0" rtl="0" algn="l">
                <a:spcBef>
                  <a:spcPts val="0"/>
                </a:spcBef>
                <a:spcAft>
                  <a:spcPts val="0"/>
                </a:spcAft>
                <a:buNone/>
              </a:pPr>
              <a:r>
                <a:rPr b="1" lang="es-419" sz="1141">
                  <a:solidFill>
                    <a:schemeClr val="lt1"/>
                  </a:solidFill>
                  <a:latin typeface="Oswald"/>
                  <a:ea typeface="Oswald"/>
                  <a:cs typeface="Oswald"/>
                  <a:sym typeface="Oswald"/>
                </a:rPr>
                <a:t>extract_icetex</a:t>
              </a:r>
              <a:endParaRPr b="1" sz="1141">
                <a:solidFill>
                  <a:schemeClr val="lt1"/>
                </a:solidFill>
                <a:latin typeface="Oswald"/>
                <a:ea typeface="Oswald"/>
                <a:cs typeface="Oswald"/>
                <a:sym typeface="Oswald"/>
              </a:endParaRPr>
            </a:p>
            <a:p>
              <a:pPr indent="0" lvl="0" marL="0" rtl="0" algn="l">
                <a:spcBef>
                  <a:spcPts val="0"/>
                </a:spcBef>
                <a:spcAft>
                  <a:spcPts val="0"/>
                </a:spcAft>
                <a:buNone/>
              </a:pPr>
              <a:r>
                <a:rPr lang="es-419" sz="1141">
                  <a:solidFill>
                    <a:schemeClr val="lt1"/>
                  </a:solidFill>
                  <a:latin typeface="Oswald ExtraLight"/>
                  <a:ea typeface="Oswald ExtraLight"/>
                  <a:cs typeface="Oswald ExtraLight"/>
                  <a:sym typeface="Oswald ExtraLight"/>
                </a:rPr>
                <a:t>PythonOperator</a:t>
              </a:r>
              <a:endParaRPr sz="1141">
                <a:solidFill>
                  <a:schemeClr val="lt1"/>
                </a:solidFill>
                <a:latin typeface="Oswald ExtraLight"/>
                <a:ea typeface="Oswald ExtraLight"/>
                <a:cs typeface="Oswald ExtraLight"/>
                <a:sym typeface="Oswald ExtraLight"/>
              </a:endParaRPr>
            </a:p>
          </p:txBody>
        </p:sp>
        <p:sp>
          <p:nvSpPr>
            <p:cNvPr id="313" name="Google Shape;313;p24"/>
            <p:cNvSpPr/>
            <p:nvPr/>
          </p:nvSpPr>
          <p:spPr>
            <a:xfrm>
              <a:off x="720200" y="5526975"/>
              <a:ext cx="1050900" cy="338100"/>
            </a:xfrm>
            <a:prstGeom prst="roundRect">
              <a:avLst>
                <a:gd fmla="val 16667" name="adj"/>
              </a:avLst>
            </a:prstGeom>
            <a:solidFill>
              <a:srgbClr val="007500"/>
            </a:solidFill>
            <a:ln>
              <a:noFill/>
            </a:ln>
          </p:spPr>
          <p:txBody>
            <a:bodyPr anchorCtr="0" anchor="ctr" bIns="74525" lIns="74525" spcFirstLastPara="1" rIns="74525" wrap="square" tIns="74525">
              <a:noAutofit/>
            </a:bodyPr>
            <a:lstStyle/>
            <a:p>
              <a:pPr indent="0" lvl="0" marL="0" rtl="0" algn="ctr">
                <a:spcBef>
                  <a:spcPts val="0"/>
                </a:spcBef>
                <a:spcAft>
                  <a:spcPts val="0"/>
                </a:spcAft>
                <a:buNone/>
              </a:pPr>
              <a:r>
                <a:rPr b="1" lang="es-419" sz="1141">
                  <a:solidFill>
                    <a:schemeClr val="lt1"/>
                  </a:solidFill>
                  <a:latin typeface="Oswald"/>
                  <a:ea typeface="Oswald"/>
                  <a:cs typeface="Oswald"/>
                  <a:sym typeface="Oswald"/>
                </a:rPr>
                <a:t>✓success</a:t>
              </a:r>
              <a:endParaRPr b="1" sz="1141">
                <a:solidFill>
                  <a:schemeClr val="lt1"/>
                </a:solidFill>
                <a:latin typeface="Oswald"/>
                <a:ea typeface="Oswald"/>
                <a:cs typeface="Oswald"/>
                <a:sym typeface="Oswald"/>
              </a:endParaRPr>
            </a:p>
          </p:txBody>
        </p:sp>
      </p:grpSp>
      <p:grpSp>
        <p:nvGrpSpPr>
          <p:cNvPr id="314" name="Google Shape;314;p24"/>
          <p:cNvGrpSpPr/>
          <p:nvPr/>
        </p:nvGrpSpPr>
        <p:grpSpPr>
          <a:xfrm>
            <a:off x="1928072" y="4182799"/>
            <a:ext cx="1562983" cy="1035222"/>
            <a:chOff x="588600" y="4852875"/>
            <a:chExt cx="1917300" cy="1269900"/>
          </a:xfrm>
        </p:grpSpPr>
        <p:sp>
          <p:nvSpPr>
            <p:cNvPr id="315" name="Google Shape;315;p24"/>
            <p:cNvSpPr/>
            <p:nvPr/>
          </p:nvSpPr>
          <p:spPr>
            <a:xfrm>
              <a:off x="588600" y="4852875"/>
              <a:ext cx="1917300" cy="1269900"/>
            </a:xfrm>
            <a:prstGeom prst="roundRect">
              <a:avLst>
                <a:gd fmla="val 16667" name="adj"/>
              </a:avLst>
            </a:prstGeom>
            <a:solidFill>
              <a:srgbClr val="161D2D"/>
            </a:solidFill>
            <a:ln cap="flat" cmpd="sng" w="23300">
              <a:solidFill>
                <a:srgbClr val="007500"/>
              </a:solidFill>
              <a:prstDash val="solid"/>
              <a:round/>
              <a:headEnd len="sm" w="sm" type="none"/>
              <a:tailEnd len="sm" w="sm" type="none"/>
            </a:ln>
          </p:spPr>
          <p:txBody>
            <a:bodyPr anchorCtr="0" anchor="t" bIns="74525" lIns="74525" spcFirstLastPara="1" rIns="74525" wrap="square" tIns="74525">
              <a:noAutofit/>
            </a:bodyPr>
            <a:lstStyle/>
            <a:p>
              <a:pPr indent="0" lvl="0" marL="0" rtl="0" algn="l">
                <a:spcBef>
                  <a:spcPts val="0"/>
                </a:spcBef>
                <a:spcAft>
                  <a:spcPts val="0"/>
                </a:spcAft>
                <a:buNone/>
              </a:pPr>
              <a:r>
                <a:rPr b="1" lang="es-419" sz="1141">
                  <a:solidFill>
                    <a:schemeClr val="lt1"/>
                  </a:solidFill>
                  <a:latin typeface="Oswald"/>
                  <a:ea typeface="Oswald"/>
                  <a:cs typeface="Oswald"/>
                  <a:sym typeface="Oswald"/>
                </a:rPr>
                <a:t>clean_icetex</a:t>
              </a:r>
              <a:endParaRPr b="1" sz="1141">
                <a:solidFill>
                  <a:schemeClr val="lt1"/>
                </a:solidFill>
                <a:latin typeface="Oswald"/>
                <a:ea typeface="Oswald"/>
                <a:cs typeface="Oswald"/>
                <a:sym typeface="Oswald"/>
              </a:endParaRPr>
            </a:p>
            <a:p>
              <a:pPr indent="0" lvl="0" marL="0" rtl="0" algn="l">
                <a:spcBef>
                  <a:spcPts val="0"/>
                </a:spcBef>
                <a:spcAft>
                  <a:spcPts val="0"/>
                </a:spcAft>
                <a:buNone/>
              </a:pPr>
              <a:r>
                <a:rPr lang="es-419" sz="1141">
                  <a:solidFill>
                    <a:schemeClr val="lt1"/>
                  </a:solidFill>
                  <a:latin typeface="Oswald ExtraLight"/>
                  <a:ea typeface="Oswald ExtraLight"/>
                  <a:cs typeface="Oswald ExtraLight"/>
                  <a:sym typeface="Oswald ExtraLight"/>
                </a:rPr>
                <a:t>PythonOperator</a:t>
              </a:r>
              <a:endParaRPr sz="1141">
                <a:solidFill>
                  <a:schemeClr val="lt1"/>
                </a:solidFill>
                <a:latin typeface="Oswald ExtraLight"/>
                <a:ea typeface="Oswald ExtraLight"/>
                <a:cs typeface="Oswald ExtraLight"/>
                <a:sym typeface="Oswald ExtraLight"/>
              </a:endParaRPr>
            </a:p>
          </p:txBody>
        </p:sp>
        <p:sp>
          <p:nvSpPr>
            <p:cNvPr id="316" name="Google Shape;316;p24"/>
            <p:cNvSpPr/>
            <p:nvPr/>
          </p:nvSpPr>
          <p:spPr>
            <a:xfrm>
              <a:off x="720200" y="5526975"/>
              <a:ext cx="1050900" cy="338100"/>
            </a:xfrm>
            <a:prstGeom prst="roundRect">
              <a:avLst>
                <a:gd fmla="val 16667" name="adj"/>
              </a:avLst>
            </a:prstGeom>
            <a:solidFill>
              <a:srgbClr val="007500"/>
            </a:solidFill>
            <a:ln>
              <a:noFill/>
            </a:ln>
          </p:spPr>
          <p:txBody>
            <a:bodyPr anchorCtr="0" anchor="ctr" bIns="74525" lIns="74525" spcFirstLastPara="1" rIns="74525" wrap="square" tIns="74525">
              <a:noAutofit/>
            </a:bodyPr>
            <a:lstStyle/>
            <a:p>
              <a:pPr indent="0" lvl="0" marL="0" rtl="0" algn="ctr">
                <a:spcBef>
                  <a:spcPts val="0"/>
                </a:spcBef>
                <a:spcAft>
                  <a:spcPts val="0"/>
                </a:spcAft>
                <a:buNone/>
              </a:pPr>
              <a:r>
                <a:rPr b="1" lang="es-419" sz="1141">
                  <a:solidFill>
                    <a:schemeClr val="lt1"/>
                  </a:solidFill>
                  <a:latin typeface="Oswald"/>
                  <a:ea typeface="Oswald"/>
                  <a:cs typeface="Oswald"/>
                  <a:sym typeface="Oswald"/>
                </a:rPr>
                <a:t>✓success</a:t>
              </a:r>
              <a:endParaRPr b="1" sz="1141">
                <a:solidFill>
                  <a:schemeClr val="lt1"/>
                </a:solidFill>
                <a:latin typeface="Oswald"/>
                <a:ea typeface="Oswald"/>
                <a:cs typeface="Oswald"/>
                <a:sym typeface="Oswald"/>
              </a:endParaRPr>
            </a:p>
          </p:txBody>
        </p:sp>
      </p:grpSp>
      <p:grpSp>
        <p:nvGrpSpPr>
          <p:cNvPr id="317" name="Google Shape;317;p24"/>
          <p:cNvGrpSpPr/>
          <p:nvPr/>
        </p:nvGrpSpPr>
        <p:grpSpPr>
          <a:xfrm>
            <a:off x="3655772" y="4183087"/>
            <a:ext cx="1562983" cy="1035222"/>
            <a:chOff x="588600" y="4778951"/>
            <a:chExt cx="1917300" cy="1269900"/>
          </a:xfrm>
        </p:grpSpPr>
        <p:sp>
          <p:nvSpPr>
            <p:cNvPr id="318" name="Google Shape;318;p24"/>
            <p:cNvSpPr/>
            <p:nvPr/>
          </p:nvSpPr>
          <p:spPr>
            <a:xfrm>
              <a:off x="588600" y="4778951"/>
              <a:ext cx="1917300" cy="1269900"/>
            </a:xfrm>
            <a:prstGeom prst="roundRect">
              <a:avLst>
                <a:gd fmla="val 16667" name="adj"/>
              </a:avLst>
            </a:prstGeom>
            <a:solidFill>
              <a:srgbClr val="161D2D"/>
            </a:solidFill>
            <a:ln cap="flat" cmpd="sng" w="23300">
              <a:solidFill>
                <a:srgbClr val="007500"/>
              </a:solidFill>
              <a:prstDash val="solid"/>
              <a:round/>
              <a:headEnd len="sm" w="sm" type="none"/>
              <a:tailEnd len="sm" w="sm" type="none"/>
            </a:ln>
          </p:spPr>
          <p:txBody>
            <a:bodyPr anchorCtr="0" anchor="t" bIns="74525" lIns="74525" spcFirstLastPara="1" rIns="74525" wrap="square" tIns="74525">
              <a:noAutofit/>
            </a:bodyPr>
            <a:lstStyle/>
            <a:p>
              <a:pPr indent="0" lvl="0" marL="0" rtl="0" algn="l">
                <a:spcBef>
                  <a:spcPts val="0"/>
                </a:spcBef>
                <a:spcAft>
                  <a:spcPts val="0"/>
                </a:spcAft>
                <a:buNone/>
              </a:pPr>
              <a:r>
                <a:rPr b="1" lang="es-419" sz="1141">
                  <a:solidFill>
                    <a:schemeClr val="lt1"/>
                  </a:solidFill>
                  <a:latin typeface="Oswald"/>
                  <a:ea typeface="Oswald"/>
                  <a:cs typeface="Oswald"/>
                  <a:sym typeface="Oswald"/>
                </a:rPr>
                <a:t>aggregate_icetex</a:t>
              </a:r>
              <a:endParaRPr b="1" sz="1141">
                <a:solidFill>
                  <a:schemeClr val="lt1"/>
                </a:solidFill>
                <a:latin typeface="Oswald"/>
                <a:ea typeface="Oswald"/>
                <a:cs typeface="Oswald"/>
                <a:sym typeface="Oswald"/>
              </a:endParaRPr>
            </a:p>
            <a:p>
              <a:pPr indent="0" lvl="0" marL="0" rtl="0" algn="l">
                <a:spcBef>
                  <a:spcPts val="0"/>
                </a:spcBef>
                <a:spcAft>
                  <a:spcPts val="0"/>
                </a:spcAft>
                <a:buNone/>
              </a:pPr>
              <a:r>
                <a:rPr lang="es-419" sz="1141">
                  <a:solidFill>
                    <a:schemeClr val="lt1"/>
                  </a:solidFill>
                  <a:latin typeface="Oswald ExtraLight"/>
                  <a:ea typeface="Oswald ExtraLight"/>
                  <a:cs typeface="Oswald ExtraLight"/>
                  <a:sym typeface="Oswald ExtraLight"/>
                </a:rPr>
                <a:t>PythonOperator</a:t>
              </a:r>
              <a:endParaRPr sz="1141">
                <a:solidFill>
                  <a:schemeClr val="lt1"/>
                </a:solidFill>
                <a:latin typeface="Oswald ExtraLight"/>
                <a:ea typeface="Oswald ExtraLight"/>
                <a:cs typeface="Oswald ExtraLight"/>
                <a:sym typeface="Oswald ExtraLight"/>
              </a:endParaRPr>
            </a:p>
          </p:txBody>
        </p:sp>
        <p:sp>
          <p:nvSpPr>
            <p:cNvPr id="319" name="Google Shape;319;p24"/>
            <p:cNvSpPr/>
            <p:nvPr/>
          </p:nvSpPr>
          <p:spPr>
            <a:xfrm>
              <a:off x="720200" y="5526975"/>
              <a:ext cx="1050900" cy="338100"/>
            </a:xfrm>
            <a:prstGeom prst="roundRect">
              <a:avLst>
                <a:gd fmla="val 16667" name="adj"/>
              </a:avLst>
            </a:prstGeom>
            <a:solidFill>
              <a:srgbClr val="007500"/>
            </a:solidFill>
            <a:ln>
              <a:noFill/>
            </a:ln>
          </p:spPr>
          <p:txBody>
            <a:bodyPr anchorCtr="0" anchor="ctr" bIns="74525" lIns="74525" spcFirstLastPara="1" rIns="74525" wrap="square" tIns="74525">
              <a:noAutofit/>
            </a:bodyPr>
            <a:lstStyle/>
            <a:p>
              <a:pPr indent="0" lvl="0" marL="0" rtl="0" algn="ctr">
                <a:spcBef>
                  <a:spcPts val="0"/>
                </a:spcBef>
                <a:spcAft>
                  <a:spcPts val="0"/>
                </a:spcAft>
                <a:buNone/>
              </a:pPr>
              <a:r>
                <a:rPr b="1" lang="es-419" sz="1141">
                  <a:solidFill>
                    <a:schemeClr val="lt1"/>
                  </a:solidFill>
                  <a:latin typeface="Oswald"/>
                  <a:ea typeface="Oswald"/>
                  <a:cs typeface="Oswald"/>
                  <a:sym typeface="Oswald"/>
                </a:rPr>
                <a:t>✓success</a:t>
              </a:r>
              <a:endParaRPr b="1" sz="1141">
                <a:solidFill>
                  <a:schemeClr val="lt1"/>
                </a:solidFill>
                <a:latin typeface="Oswald"/>
                <a:ea typeface="Oswald"/>
                <a:cs typeface="Oswald"/>
                <a:sym typeface="Oswald"/>
              </a:endParaRPr>
            </a:p>
          </p:txBody>
        </p:sp>
      </p:grpSp>
      <p:cxnSp>
        <p:nvCxnSpPr>
          <p:cNvPr id="320" name="Google Shape;320;p24"/>
          <p:cNvCxnSpPr>
            <a:stCxn id="294" idx="3"/>
            <a:endCxn id="297" idx="1"/>
          </p:cNvCxnSpPr>
          <p:nvPr/>
        </p:nvCxnSpPr>
        <p:spPr>
          <a:xfrm>
            <a:off x="1763355" y="2985061"/>
            <a:ext cx="164700" cy="600"/>
          </a:xfrm>
          <a:prstGeom prst="bentConnector3">
            <a:avLst>
              <a:gd fmla="val 50005" name="adj1"/>
            </a:avLst>
          </a:prstGeom>
          <a:noFill/>
          <a:ln cap="flat" cmpd="sng" w="38100">
            <a:solidFill>
              <a:schemeClr val="dk2"/>
            </a:solidFill>
            <a:prstDash val="solid"/>
            <a:round/>
            <a:headEnd len="med" w="med" type="none"/>
            <a:tailEnd len="med" w="med" type="none"/>
          </a:ln>
        </p:spPr>
      </p:cxnSp>
      <p:cxnSp>
        <p:nvCxnSpPr>
          <p:cNvPr id="321" name="Google Shape;321;p24"/>
          <p:cNvCxnSpPr>
            <a:stCxn id="312" idx="3"/>
            <a:endCxn id="315" idx="1"/>
          </p:cNvCxnSpPr>
          <p:nvPr/>
        </p:nvCxnSpPr>
        <p:spPr>
          <a:xfrm>
            <a:off x="1763355" y="4700411"/>
            <a:ext cx="164700" cy="600"/>
          </a:xfrm>
          <a:prstGeom prst="bentConnector3">
            <a:avLst>
              <a:gd fmla="val 50005" name="adj1"/>
            </a:avLst>
          </a:prstGeom>
          <a:noFill/>
          <a:ln cap="flat" cmpd="sng" w="38100">
            <a:solidFill>
              <a:schemeClr val="dk2"/>
            </a:solidFill>
            <a:prstDash val="solid"/>
            <a:round/>
            <a:headEnd len="med" w="med" type="none"/>
            <a:tailEnd len="med" w="med" type="none"/>
          </a:ln>
        </p:spPr>
      </p:cxnSp>
      <p:cxnSp>
        <p:nvCxnSpPr>
          <p:cNvPr id="322" name="Google Shape;322;p24"/>
          <p:cNvCxnSpPr>
            <a:stCxn id="315" idx="3"/>
            <a:endCxn id="318" idx="1"/>
          </p:cNvCxnSpPr>
          <p:nvPr/>
        </p:nvCxnSpPr>
        <p:spPr>
          <a:xfrm>
            <a:off x="3491055" y="4700411"/>
            <a:ext cx="164700" cy="600"/>
          </a:xfrm>
          <a:prstGeom prst="bentConnector3">
            <a:avLst>
              <a:gd fmla="val 50005" name="adj1"/>
            </a:avLst>
          </a:prstGeom>
          <a:noFill/>
          <a:ln cap="flat" cmpd="sng" w="38100">
            <a:solidFill>
              <a:schemeClr val="dk2"/>
            </a:solidFill>
            <a:prstDash val="solid"/>
            <a:round/>
            <a:headEnd len="med" w="med" type="none"/>
            <a:tailEnd len="med" w="med" type="none"/>
          </a:ln>
        </p:spPr>
      </p:cxnSp>
      <p:cxnSp>
        <p:nvCxnSpPr>
          <p:cNvPr id="323" name="Google Shape;323;p24"/>
          <p:cNvCxnSpPr>
            <a:stCxn id="297" idx="3"/>
            <a:endCxn id="300" idx="1"/>
          </p:cNvCxnSpPr>
          <p:nvPr/>
        </p:nvCxnSpPr>
        <p:spPr>
          <a:xfrm>
            <a:off x="3491055" y="2985061"/>
            <a:ext cx="164700" cy="600"/>
          </a:xfrm>
          <a:prstGeom prst="bentConnector3">
            <a:avLst>
              <a:gd fmla="val 50005" name="adj1"/>
            </a:avLst>
          </a:prstGeom>
          <a:noFill/>
          <a:ln cap="flat" cmpd="sng" w="38100">
            <a:solidFill>
              <a:schemeClr val="dk2"/>
            </a:solidFill>
            <a:prstDash val="solid"/>
            <a:round/>
            <a:headEnd len="med" w="med" type="none"/>
            <a:tailEnd len="med" w="med" type="none"/>
          </a:ln>
        </p:spPr>
      </p:cxnSp>
      <p:cxnSp>
        <p:nvCxnSpPr>
          <p:cNvPr id="324" name="Google Shape;324;p24"/>
          <p:cNvCxnSpPr>
            <a:stCxn id="300" idx="3"/>
            <a:endCxn id="303" idx="1"/>
          </p:cNvCxnSpPr>
          <p:nvPr/>
        </p:nvCxnSpPr>
        <p:spPr>
          <a:xfrm>
            <a:off x="5218755" y="2985348"/>
            <a:ext cx="347700" cy="432600"/>
          </a:xfrm>
          <a:prstGeom prst="bentConnector3">
            <a:avLst>
              <a:gd fmla="val 50020" name="adj1"/>
            </a:avLst>
          </a:prstGeom>
          <a:noFill/>
          <a:ln cap="flat" cmpd="sng" w="38100">
            <a:solidFill>
              <a:schemeClr val="dk2"/>
            </a:solidFill>
            <a:prstDash val="solid"/>
            <a:round/>
            <a:headEnd len="med" w="med" type="none"/>
            <a:tailEnd len="med" w="med" type="none"/>
          </a:ln>
        </p:spPr>
      </p:cxnSp>
      <p:cxnSp>
        <p:nvCxnSpPr>
          <p:cNvPr id="325" name="Google Shape;325;p24"/>
          <p:cNvCxnSpPr>
            <a:stCxn id="318" idx="3"/>
            <a:endCxn id="303" idx="1"/>
          </p:cNvCxnSpPr>
          <p:nvPr/>
        </p:nvCxnSpPr>
        <p:spPr>
          <a:xfrm flipH="1" rot="10800000">
            <a:off x="5218755" y="3417898"/>
            <a:ext cx="347700" cy="1282800"/>
          </a:xfrm>
          <a:prstGeom prst="bentConnector3">
            <a:avLst>
              <a:gd fmla="val 50020" name="adj1"/>
            </a:avLst>
          </a:prstGeom>
          <a:noFill/>
          <a:ln cap="flat" cmpd="sng" w="38100">
            <a:solidFill>
              <a:schemeClr val="dk2"/>
            </a:solidFill>
            <a:prstDash val="solid"/>
            <a:round/>
            <a:headEnd len="med" w="med" type="none"/>
            <a:tailEnd len="med" w="med" type="none"/>
          </a:ln>
        </p:spPr>
      </p:cxnSp>
      <p:cxnSp>
        <p:nvCxnSpPr>
          <p:cNvPr id="326" name="Google Shape;326;p24"/>
          <p:cNvCxnSpPr>
            <a:stCxn id="303" idx="3"/>
            <a:endCxn id="306" idx="1"/>
          </p:cNvCxnSpPr>
          <p:nvPr/>
        </p:nvCxnSpPr>
        <p:spPr>
          <a:xfrm>
            <a:off x="7129580" y="3417836"/>
            <a:ext cx="171900" cy="0"/>
          </a:xfrm>
          <a:prstGeom prst="straightConnector1">
            <a:avLst/>
          </a:prstGeom>
          <a:noFill/>
          <a:ln cap="flat" cmpd="sng" w="38100">
            <a:solidFill>
              <a:schemeClr val="dk2"/>
            </a:solidFill>
            <a:prstDash val="solid"/>
            <a:round/>
            <a:headEnd len="med" w="med" type="none"/>
            <a:tailEnd len="med" w="med" type="none"/>
          </a:ln>
        </p:spPr>
      </p:cxnSp>
      <p:cxnSp>
        <p:nvCxnSpPr>
          <p:cNvPr id="327" name="Google Shape;327;p24"/>
          <p:cNvCxnSpPr>
            <a:stCxn id="306" idx="3"/>
            <a:endCxn id="309" idx="1"/>
          </p:cNvCxnSpPr>
          <p:nvPr/>
        </p:nvCxnSpPr>
        <p:spPr>
          <a:xfrm>
            <a:off x="8864605" y="3417836"/>
            <a:ext cx="171900" cy="0"/>
          </a:xfrm>
          <a:prstGeom prst="straightConnector1">
            <a:avLst/>
          </a:prstGeom>
          <a:noFill/>
          <a:ln cap="flat" cmpd="sng" w="38100">
            <a:solidFill>
              <a:schemeClr val="dk2"/>
            </a:solidFill>
            <a:prstDash val="solid"/>
            <a:round/>
            <a:headEnd len="med" w="med" type="none"/>
            <a:tailEnd len="med" w="med" type="none"/>
          </a:ln>
        </p:spPr>
      </p:cxnSp>
      <p:sp>
        <p:nvSpPr>
          <p:cNvPr id="328" name="Google Shape;328;p24"/>
          <p:cNvSpPr txBox="1"/>
          <p:nvPr/>
        </p:nvSpPr>
        <p:spPr>
          <a:xfrm>
            <a:off x="173975" y="6636000"/>
            <a:ext cx="10322100" cy="547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400"/>
              </a:spcBef>
              <a:spcAft>
                <a:spcPts val="400"/>
              </a:spcAft>
              <a:buNone/>
            </a:pPr>
            <a:r>
              <a:rPr i="1" lang="es-419" sz="1500">
                <a:solidFill>
                  <a:schemeClr val="dk1"/>
                </a:solidFill>
                <a:latin typeface="Oswald"/>
                <a:ea typeface="Oswald"/>
                <a:cs typeface="Oswald"/>
                <a:sym typeface="Oswald"/>
              </a:rPr>
              <a:t>Ruta de referencia</a:t>
            </a:r>
            <a:r>
              <a:rPr i="1" lang="es-419" sz="1500">
                <a:solidFill>
                  <a:schemeClr val="dk1"/>
                </a:solidFill>
                <a:latin typeface="Oswald"/>
                <a:ea typeface="Oswald"/>
                <a:cs typeface="Oswald"/>
                <a:sym typeface="Oswald"/>
              </a:rPr>
              <a:t>  </a:t>
            </a:r>
            <a:r>
              <a:rPr i="1" lang="es-419" sz="1500">
                <a:solidFill>
                  <a:schemeClr val="dk1"/>
                </a:solidFill>
                <a:latin typeface="Courier New"/>
                <a:ea typeface="Courier New"/>
                <a:cs typeface="Courier New"/>
                <a:sym typeface="Courier New"/>
              </a:rPr>
              <a:t>airflow/* | diagrams/dag_disign.png  </a:t>
            </a:r>
            <a:endParaRPr i="1" sz="15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5"/>
          <p:cNvSpPr/>
          <p:nvPr/>
        </p:nvSpPr>
        <p:spPr>
          <a:xfrm>
            <a:off x="0" y="25215"/>
            <a:ext cx="10800000" cy="7180800"/>
          </a:xfrm>
          <a:prstGeom prst="rect">
            <a:avLst/>
          </a:prstGeom>
          <a:no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4C4C4C"/>
              </a:solidFill>
              <a:latin typeface="Oswald"/>
              <a:ea typeface="Oswald"/>
              <a:cs typeface="Oswald"/>
              <a:sym typeface="Oswald"/>
            </a:endParaRPr>
          </a:p>
        </p:txBody>
      </p:sp>
      <p:sp>
        <p:nvSpPr>
          <p:cNvPr id="334" name="Google Shape;334;p25"/>
          <p:cNvSpPr/>
          <p:nvPr/>
        </p:nvSpPr>
        <p:spPr>
          <a:xfrm>
            <a:off x="2342784" y="2387875"/>
            <a:ext cx="4396200" cy="4315500"/>
          </a:xfrm>
          <a:prstGeom prst="roundRect">
            <a:avLst>
              <a:gd fmla="val 16667" name="adj"/>
            </a:avLst>
          </a:prstGeom>
          <a:noFill/>
          <a:ln cap="flat" cmpd="sng" w="32275">
            <a:solidFill>
              <a:srgbClr val="105982"/>
            </a:solidFill>
            <a:prstDash val="solid"/>
            <a:round/>
            <a:headEnd len="sm" w="sm" type="none"/>
            <a:tailEnd len="sm" w="sm" type="none"/>
          </a:ln>
        </p:spPr>
        <p:txBody>
          <a:bodyPr anchorCtr="0" anchor="ctr" bIns="103325" lIns="103325" spcFirstLastPara="1" rIns="103325" wrap="square" tIns="103325">
            <a:noAutofit/>
          </a:bodyPr>
          <a:lstStyle/>
          <a:p>
            <a:pPr indent="0" lvl="0" marL="0" rtl="0" algn="ctr">
              <a:spcBef>
                <a:spcPts val="0"/>
              </a:spcBef>
              <a:spcAft>
                <a:spcPts val="0"/>
              </a:spcAft>
              <a:buNone/>
            </a:pPr>
            <a:r>
              <a:t/>
            </a:r>
            <a:endParaRPr sz="1582"/>
          </a:p>
        </p:txBody>
      </p:sp>
      <p:sp>
        <p:nvSpPr>
          <p:cNvPr id="335" name="Google Shape;335;p25"/>
          <p:cNvSpPr/>
          <p:nvPr/>
        </p:nvSpPr>
        <p:spPr>
          <a:xfrm>
            <a:off x="2884024" y="3148845"/>
            <a:ext cx="3684900" cy="2534400"/>
          </a:xfrm>
          <a:prstGeom prst="roundRect">
            <a:avLst>
              <a:gd fmla="val 16667" name="adj"/>
            </a:avLst>
          </a:prstGeom>
          <a:noFill/>
          <a:ln cap="flat" cmpd="sng" w="32275">
            <a:solidFill>
              <a:srgbClr val="204A87"/>
            </a:solidFill>
            <a:prstDash val="solid"/>
            <a:round/>
            <a:headEnd len="sm" w="sm" type="none"/>
            <a:tailEnd len="sm" w="sm" type="none"/>
          </a:ln>
        </p:spPr>
        <p:txBody>
          <a:bodyPr anchorCtr="0" anchor="ctr" bIns="103325" lIns="103325" spcFirstLastPara="1" rIns="103325" wrap="square" tIns="103325">
            <a:noAutofit/>
          </a:bodyPr>
          <a:lstStyle/>
          <a:p>
            <a:pPr indent="0" lvl="0" marL="0" rtl="0" algn="ctr">
              <a:spcBef>
                <a:spcPts val="0"/>
              </a:spcBef>
              <a:spcAft>
                <a:spcPts val="0"/>
              </a:spcAft>
              <a:buNone/>
            </a:pPr>
            <a:r>
              <a:t/>
            </a:r>
            <a:endParaRPr sz="1582"/>
          </a:p>
        </p:txBody>
      </p:sp>
      <p:sp>
        <p:nvSpPr>
          <p:cNvPr id="336" name="Google Shape;336;p25"/>
          <p:cNvSpPr/>
          <p:nvPr/>
        </p:nvSpPr>
        <p:spPr>
          <a:xfrm>
            <a:off x="4102063" y="4499575"/>
            <a:ext cx="2049300" cy="585000"/>
          </a:xfrm>
          <a:prstGeom prst="roundRect">
            <a:avLst>
              <a:gd fmla="val 16667" name="adj"/>
            </a:avLst>
          </a:prstGeom>
          <a:solidFill>
            <a:srgbClr val="C8D0D4"/>
          </a:solidFill>
          <a:ln cap="flat" cmpd="sng" w="21550">
            <a:solidFill>
              <a:srgbClr val="0B5394"/>
            </a:solidFill>
            <a:prstDash val="solid"/>
            <a:round/>
            <a:headEnd len="sm" w="sm" type="none"/>
            <a:tailEnd len="sm" w="sm" type="none"/>
          </a:ln>
        </p:spPr>
        <p:txBody>
          <a:bodyPr anchorCtr="0" anchor="ctr" bIns="103325" lIns="103325" spcFirstLastPara="1" rIns="103325" wrap="square" tIns="103325">
            <a:noAutofit/>
          </a:bodyPr>
          <a:lstStyle/>
          <a:p>
            <a:pPr indent="0" lvl="0" marL="0" rtl="0" algn="ctr">
              <a:spcBef>
                <a:spcPts val="0"/>
              </a:spcBef>
              <a:spcAft>
                <a:spcPts val="0"/>
              </a:spcAft>
              <a:buNone/>
            </a:pPr>
            <a:r>
              <a:rPr b="1" i="1" lang="es-419" sz="1782">
                <a:solidFill>
                  <a:srgbClr val="204A87"/>
                </a:solidFill>
                <a:latin typeface="Oswald"/>
                <a:ea typeface="Oswald"/>
                <a:cs typeface="Oswald"/>
                <a:sym typeface="Oswald"/>
              </a:rPr>
              <a:t>DW</a:t>
            </a:r>
            <a:r>
              <a:rPr b="1" i="1" lang="es-419" sz="1782">
                <a:latin typeface="Oswald"/>
                <a:ea typeface="Oswald"/>
                <a:cs typeface="Oswald"/>
                <a:sym typeface="Oswald"/>
              </a:rPr>
              <a:t> </a:t>
            </a:r>
            <a:r>
              <a:rPr b="1" i="1" lang="es-419" sz="1782">
                <a:solidFill>
                  <a:srgbClr val="F57900"/>
                </a:solidFill>
                <a:latin typeface="Oswald"/>
                <a:ea typeface="Oswald"/>
                <a:cs typeface="Oswald"/>
                <a:sym typeface="Oswald"/>
              </a:rPr>
              <a:t>Matrículas Colombia</a:t>
            </a:r>
            <a:endParaRPr b="1" i="1" sz="1782">
              <a:solidFill>
                <a:srgbClr val="F57900"/>
              </a:solidFill>
              <a:latin typeface="Oswald"/>
              <a:ea typeface="Oswald"/>
              <a:cs typeface="Oswald"/>
              <a:sym typeface="Oswald"/>
            </a:endParaRPr>
          </a:p>
        </p:txBody>
      </p:sp>
      <p:pic>
        <p:nvPicPr>
          <p:cNvPr id="337" name="Google Shape;337;p25"/>
          <p:cNvPicPr preferRelativeResize="0"/>
          <p:nvPr/>
        </p:nvPicPr>
        <p:blipFill rotWithShape="1">
          <a:blip r:embed="rId3">
            <a:alphaModFix/>
          </a:blip>
          <a:srcRect b="17125" l="0" r="0" t="10279"/>
          <a:stretch/>
        </p:blipFill>
        <p:spPr>
          <a:xfrm>
            <a:off x="3088994" y="4453280"/>
            <a:ext cx="845275" cy="867986"/>
          </a:xfrm>
          <a:prstGeom prst="rect">
            <a:avLst/>
          </a:prstGeom>
          <a:noFill/>
          <a:ln>
            <a:noFill/>
          </a:ln>
        </p:spPr>
      </p:pic>
      <p:sp>
        <p:nvSpPr>
          <p:cNvPr id="338" name="Google Shape;338;p25"/>
          <p:cNvSpPr/>
          <p:nvPr/>
        </p:nvSpPr>
        <p:spPr>
          <a:xfrm>
            <a:off x="516075" y="4552772"/>
            <a:ext cx="1563000" cy="669000"/>
          </a:xfrm>
          <a:prstGeom prst="roundRect">
            <a:avLst>
              <a:gd fmla="val 16667" name="adj"/>
            </a:avLst>
          </a:prstGeom>
          <a:solidFill>
            <a:srgbClr val="3775A8"/>
          </a:solidFill>
          <a:ln cap="flat" cmpd="sng" w="17175">
            <a:solidFill>
              <a:srgbClr val="FBBD05"/>
            </a:solidFill>
            <a:prstDash val="solid"/>
            <a:round/>
            <a:headEnd len="sm" w="sm" type="none"/>
            <a:tailEnd len="sm" w="sm" type="none"/>
          </a:ln>
        </p:spPr>
        <p:txBody>
          <a:bodyPr anchorCtr="0" anchor="ctr" bIns="82400" lIns="82400" spcFirstLastPara="1" rIns="82400" wrap="square" tIns="82400">
            <a:noAutofit/>
          </a:bodyPr>
          <a:lstStyle/>
          <a:p>
            <a:pPr indent="0" lvl="0" marL="0" marR="0" rtl="0" algn="ctr">
              <a:lnSpc>
                <a:spcPct val="100000"/>
              </a:lnSpc>
              <a:spcBef>
                <a:spcPts val="0"/>
              </a:spcBef>
              <a:spcAft>
                <a:spcPts val="0"/>
              </a:spcAft>
              <a:buNone/>
            </a:pPr>
            <a:r>
              <a:rPr b="1" lang="es-419" sz="2162">
                <a:solidFill>
                  <a:schemeClr val="lt1"/>
                </a:solidFill>
                <a:latin typeface="Oswald"/>
                <a:ea typeface="Oswald"/>
                <a:cs typeface="Oswald"/>
                <a:sym typeface="Oswald"/>
              </a:rPr>
              <a:t>Load</a:t>
            </a:r>
            <a:endParaRPr b="1" sz="2162">
              <a:solidFill>
                <a:schemeClr val="lt1"/>
              </a:solidFill>
              <a:latin typeface="Oswald"/>
              <a:ea typeface="Oswald"/>
              <a:cs typeface="Oswald"/>
              <a:sym typeface="Oswald"/>
            </a:endParaRPr>
          </a:p>
        </p:txBody>
      </p:sp>
      <p:sp>
        <p:nvSpPr>
          <p:cNvPr id="339" name="Google Shape;339;p25"/>
          <p:cNvSpPr/>
          <p:nvPr/>
        </p:nvSpPr>
        <p:spPr>
          <a:xfrm>
            <a:off x="6960000" y="4887275"/>
            <a:ext cx="3684900" cy="1761900"/>
          </a:xfrm>
          <a:prstGeom prst="roundRect">
            <a:avLst>
              <a:gd fmla="val 16667" name="adj"/>
            </a:avLst>
          </a:prstGeom>
          <a:noFill/>
          <a:ln cap="flat" cmpd="sng" w="30675">
            <a:solidFill>
              <a:srgbClr val="0B5394"/>
            </a:solidFill>
            <a:prstDash val="solid"/>
            <a:round/>
            <a:headEnd len="sm" w="sm" type="none"/>
            <a:tailEnd len="sm" w="sm" type="none"/>
          </a:ln>
        </p:spPr>
        <p:txBody>
          <a:bodyPr anchorCtr="0" anchor="ctr" bIns="98125" lIns="98125" spcFirstLastPara="1" rIns="98125" wrap="square" tIns="98125">
            <a:noAutofit/>
          </a:bodyPr>
          <a:lstStyle/>
          <a:p>
            <a:pPr indent="0" lvl="0" marL="0" rtl="0" algn="ctr">
              <a:spcBef>
                <a:spcPts val="0"/>
              </a:spcBef>
              <a:spcAft>
                <a:spcPts val="0"/>
              </a:spcAft>
              <a:buNone/>
            </a:pPr>
            <a:r>
              <a:t/>
            </a:r>
            <a:endParaRPr sz="1503"/>
          </a:p>
        </p:txBody>
      </p:sp>
      <p:pic>
        <p:nvPicPr>
          <p:cNvPr id="340" name="Google Shape;340;p25"/>
          <p:cNvPicPr preferRelativeResize="0"/>
          <p:nvPr/>
        </p:nvPicPr>
        <p:blipFill>
          <a:blip r:embed="rId4">
            <a:alphaModFix/>
          </a:blip>
          <a:stretch>
            <a:fillRect/>
          </a:stretch>
        </p:blipFill>
        <p:spPr>
          <a:xfrm>
            <a:off x="3605947" y="5124559"/>
            <a:ext cx="633800" cy="505097"/>
          </a:xfrm>
          <a:prstGeom prst="rect">
            <a:avLst/>
          </a:prstGeom>
          <a:noFill/>
          <a:ln>
            <a:noFill/>
          </a:ln>
        </p:spPr>
      </p:pic>
      <p:pic>
        <p:nvPicPr>
          <p:cNvPr id="341" name="Google Shape;341;p25"/>
          <p:cNvPicPr preferRelativeResize="0"/>
          <p:nvPr/>
        </p:nvPicPr>
        <p:blipFill>
          <a:blip r:embed="rId5">
            <a:alphaModFix/>
          </a:blip>
          <a:stretch>
            <a:fillRect/>
          </a:stretch>
        </p:blipFill>
        <p:spPr>
          <a:xfrm>
            <a:off x="3746542" y="5647599"/>
            <a:ext cx="1959654" cy="941175"/>
          </a:xfrm>
          <a:prstGeom prst="rect">
            <a:avLst/>
          </a:prstGeom>
          <a:noFill/>
          <a:ln>
            <a:noFill/>
          </a:ln>
        </p:spPr>
      </p:pic>
      <p:sp>
        <p:nvSpPr>
          <p:cNvPr id="342" name="Google Shape;342;p25"/>
          <p:cNvSpPr/>
          <p:nvPr/>
        </p:nvSpPr>
        <p:spPr>
          <a:xfrm>
            <a:off x="7046700" y="4947275"/>
            <a:ext cx="2696100" cy="1637700"/>
          </a:xfrm>
          <a:prstGeom prst="roundRect">
            <a:avLst>
              <a:gd fmla="val 16667" name="adj"/>
            </a:avLst>
          </a:prstGeom>
          <a:noFill/>
          <a:ln cap="flat" cmpd="sng" w="22675">
            <a:solidFill>
              <a:srgbClr val="980000"/>
            </a:solidFill>
            <a:prstDash val="solid"/>
            <a:round/>
            <a:headEnd len="sm" w="sm" type="none"/>
            <a:tailEnd len="sm" w="sm" type="none"/>
          </a:ln>
        </p:spPr>
        <p:txBody>
          <a:bodyPr anchorCtr="0" anchor="ctr" bIns="98125" lIns="98125" spcFirstLastPara="1" rIns="98125" wrap="square" tIns="98125">
            <a:noAutofit/>
          </a:bodyPr>
          <a:lstStyle/>
          <a:p>
            <a:pPr indent="0" lvl="0" marL="0" rtl="0" algn="ctr">
              <a:spcBef>
                <a:spcPts val="0"/>
              </a:spcBef>
              <a:spcAft>
                <a:spcPts val="0"/>
              </a:spcAft>
              <a:buNone/>
            </a:pPr>
            <a:r>
              <a:t/>
            </a:r>
            <a:endParaRPr sz="1503"/>
          </a:p>
        </p:txBody>
      </p:sp>
      <p:pic>
        <p:nvPicPr>
          <p:cNvPr id="343" name="Google Shape;343;p25"/>
          <p:cNvPicPr preferRelativeResize="0"/>
          <p:nvPr/>
        </p:nvPicPr>
        <p:blipFill>
          <a:blip r:embed="rId6">
            <a:alphaModFix/>
          </a:blip>
          <a:stretch>
            <a:fillRect/>
          </a:stretch>
        </p:blipFill>
        <p:spPr>
          <a:xfrm>
            <a:off x="9182957" y="5258370"/>
            <a:ext cx="464875" cy="550702"/>
          </a:xfrm>
          <a:prstGeom prst="rect">
            <a:avLst/>
          </a:prstGeom>
          <a:noFill/>
          <a:ln>
            <a:noFill/>
          </a:ln>
        </p:spPr>
      </p:pic>
      <p:sp>
        <p:nvSpPr>
          <p:cNvPr id="344" name="Google Shape;344;p25"/>
          <p:cNvSpPr/>
          <p:nvPr/>
        </p:nvSpPr>
        <p:spPr>
          <a:xfrm>
            <a:off x="7045050" y="3554975"/>
            <a:ext cx="1420500" cy="393000"/>
          </a:xfrm>
          <a:prstGeom prst="roundRect">
            <a:avLst>
              <a:gd fmla="val 16667" name="adj"/>
            </a:avLst>
          </a:prstGeom>
          <a:solidFill>
            <a:srgbClr val="BBF0CD"/>
          </a:solidFill>
          <a:ln cap="flat" cmpd="sng" w="17175">
            <a:solidFill>
              <a:srgbClr val="5BC3B2"/>
            </a:solidFill>
            <a:prstDash val="solid"/>
            <a:round/>
            <a:headEnd len="sm" w="sm" type="none"/>
            <a:tailEnd len="sm" w="sm" type="none"/>
          </a:ln>
        </p:spPr>
        <p:txBody>
          <a:bodyPr anchorCtr="0" anchor="ctr" bIns="82400" lIns="82400" spcFirstLastPara="1" rIns="82400" wrap="square" tIns="82400">
            <a:noAutofit/>
          </a:bodyPr>
          <a:lstStyle/>
          <a:p>
            <a:pPr indent="0" lvl="0" marL="0" rtl="0" algn="ctr">
              <a:spcBef>
                <a:spcPts val="0"/>
              </a:spcBef>
              <a:spcAft>
                <a:spcPts val="0"/>
              </a:spcAft>
              <a:buNone/>
            </a:pPr>
            <a:r>
              <a:rPr b="1" lang="es-419" sz="2000">
                <a:solidFill>
                  <a:srgbClr val="4C4C4C"/>
                </a:solidFill>
                <a:latin typeface="Oswald"/>
                <a:ea typeface="Oswald"/>
                <a:cs typeface="Oswald"/>
                <a:sym typeface="Oswald"/>
              </a:rPr>
              <a:t>Producer</a:t>
            </a:r>
            <a:endParaRPr b="1" sz="2000">
              <a:solidFill>
                <a:srgbClr val="4C4C4C"/>
              </a:solidFill>
              <a:latin typeface="Oswald"/>
              <a:ea typeface="Oswald"/>
              <a:cs typeface="Oswald"/>
              <a:sym typeface="Oswald"/>
            </a:endParaRPr>
          </a:p>
        </p:txBody>
      </p:sp>
      <p:pic>
        <p:nvPicPr>
          <p:cNvPr id="345" name="Google Shape;345;p25"/>
          <p:cNvPicPr preferRelativeResize="0"/>
          <p:nvPr/>
        </p:nvPicPr>
        <p:blipFill>
          <a:blip r:embed="rId4">
            <a:alphaModFix/>
          </a:blip>
          <a:stretch>
            <a:fillRect/>
          </a:stretch>
        </p:blipFill>
        <p:spPr>
          <a:xfrm>
            <a:off x="9182966" y="5836394"/>
            <a:ext cx="464876" cy="479762"/>
          </a:xfrm>
          <a:prstGeom prst="rect">
            <a:avLst/>
          </a:prstGeom>
          <a:noFill/>
          <a:ln>
            <a:noFill/>
          </a:ln>
        </p:spPr>
      </p:pic>
      <p:sp>
        <p:nvSpPr>
          <p:cNvPr id="346" name="Google Shape;346;p25"/>
          <p:cNvSpPr/>
          <p:nvPr/>
        </p:nvSpPr>
        <p:spPr>
          <a:xfrm>
            <a:off x="7083389" y="5332575"/>
            <a:ext cx="2049300" cy="721200"/>
          </a:xfrm>
          <a:prstGeom prst="snip2DiagRect">
            <a:avLst>
              <a:gd fmla="val 0" name="adj1"/>
              <a:gd fmla="val 16667" name="adj2"/>
            </a:avLst>
          </a:prstGeom>
          <a:solidFill>
            <a:srgbClr val="5BC3B2"/>
          </a:solidFill>
          <a:ln cap="flat" cmpd="sng" w="20450">
            <a:solidFill>
              <a:srgbClr val="BBF0CD"/>
            </a:solidFill>
            <a:prstDash val="solid"/>
            <a:round/>
            <a:headEnd len="sm" w="sm" type="none"/>
            <a:tailEnd len="sm" w="sm" type="none"/>
          </a:ln>
        </p:spPr>
        <p:txBody>
          <a:bodyPr anchorCtr="0" anchor="ctr" bIns="108875" lIns="108875" spcFirstLastPara="1" rIns="108875" wrap="square" tIns="108875">
            <a:noAutofit/>
          </a:bodyPr>
          <a:lstStyle/>
          <a:p>
            <a:pPr indent="0" lvl="0" marL="0" rtl="0" algn="ctr">
              <a:spcBef>
                <a:spcPts val="0"/>
              </a:spcBef>
              <a:spcAft>
                <a:spcPts val="0"/>
              </a:spcAft>
              <a:buNone/>
            </a:pPr>
            <a:r>
              <a:rPr b="1" lang="es-419" sz="1567">
                <a:solidFill>
                  <a:srgbClr val="4C4C4C"/>
                </a:solidFill>
                <a:latin typeface="Oswald"/>
                <a:ea typeface="Oswald"/>
                <a:cs typeface="Oswald"/>
                <a:sym typeface="Oswald"/>
              </a:rPr>
              <a:t>Topic </a:t>
            </a:r>
            <a:r>
              <a:rPr b="1" i="1" lang="es-419" sz="1567">
                <a:solidFill>
                  <a:srgbClr val="4C4C4C"/>
                </a:solidFill>
                <a:latin typeface="Oswald"/>
                <a:ea typeface="Oswald"/>
                <a:cs typeface="Oswald"/>
                <a:sym typeface="Oswald"/>
              </a:rPr>
              <a:t>“dw-metrics-stream”</a:t>
            </a:r>
            <a:endParaRPr b="1" i="1" sz="1567">
              <a:solidFill>
                <a:srgbClr val="4C4C4C"/>
              </a:solidFill>
              <a:latin typeface="Oswald"/>
              <a:ea typeface="Oswald"/>
              <a:cs typeface="Oswald"/>
              <a:sym typeface="Oswald"/>
            </a:endParaRPr>
          </a:p>
        </p:txBody>
      </p:sp>
      <p:sp>
        <p:nvSpPr>
          <p:cNvPr id="347" name="Google Shape;347;p25"/>
          <p:cNvSpPr/>
          <p:nvPr/>
        </p:nvSpPr>
        <p:spPr>
          <a:xfrm>
            <a:off x="4098714" y="4090800"/>
            <a:ext cx="2049300" cy="323100"/>
          </a:xfrm>
          <a:prstGeom prst="roundRect">
            <a:avLst>
              <a:gd fmla="val 16667" name="adj"/>
            </a:avLst>
          </a:prstGeom>
          <a:solidFill>
            <a:srgbClr val="C7CFD3"/>
          </a:solidFill>
          <a:ln cap="flat" cmpd="sng" w="21550">
            <a:solidFill>
              <a:srgbClr val="204A87"/>
            </a:solidFill>
            <a:prstDash val="solid"/>
            <a:round/>
            <a:headEnd len="sm" w="sm" type="none"/>
            <a:tailEnd len="sm" w="sm" type="none"/>
          </a:ln>
        </p:spPr>
        <p:txBody>
          <a:bodyPr anchorCtr="0" anchor="ctr" bIns="103325" lIns="103325" spcFirstLastPara="1" rIns="103325" wrap="square" tIns="103325">
            <a:noAutofit/>
          </a:bodyPr>
          <a:lstStyle/>
          <a:p>
            <a:pPr indent="0" lvl="0" marL="0" rtl="0" algn="ctr">
              <a:spcBef>
                <a:spcPts val="0"/>
              </a:spcBef>
              <a:spcAft>
                <a:spcPts val="0"/>
              </a:spcAft>
              <a:buNone/>
            </a:pPr>
            <a:r>
              <a:rPr b="1" i="1" lang="es-419" sz="1481">
                <a:latin typeface="Oswald"/>
                <a:ea typeface="Oswald"/>
                <a:cs typeface="Oswald"/>
                <a:sym typeface="Oswald"/>
              </a:rPr>
              <a:t>stream_metrics_log</a:t>
            </a:r>
            <a:endParaRPr b="1" i="1" sz="1481">
              <a:latin typeface="Oswald"/>
              <a:ea typeface="Oswald"/>
              <a:cs typeface="Oswald"/>
              <a:sym typeface="Oswald"/>
            </a:endParaRPr>
          </a:p>
        </p:txBody>
      </p:sp>
      <p:sp>
        <p:nvSpPr>
          <p:cNvPr id="348" name="Google Shape;348;p25"/>
          <p:cNvSpPr/>
          <p:nvPr/>
        </p:nvSpPr>
        <p:spPr>
          <a:xfrm>
            <a:off x="4096637" y="3589925"/>
            <a:ext cx="2049300" cy="323100"/>
          </a:xfrm>
          <a:prstGeom prst="roundRect">
            <a:avLst>
              <a:gd fmla="val 16667" name="adj"/>
            </a:avLst>
          </a:prstGeom>
          <a:solidFill>
            <a:srgbClr val="C7CFD3"/>
          </a:solidFill>
          <a:ln cap="flat" cmpd="sng" w="21550">
            <a:solidFill>
              <a:srgbClr val="204A87"/>
            </a:solidFill>
            <a:prstDash val="solid"/>
            <a:round/>
            <a:headEnd len="sm" w="sm" type="none"/>
            <a:tailEnd len="sm" w="sm" type="none"/>
          </a:ln>
        </p:spPr>
        <p:txBody>
          <a:bodyPr anchorCtr="0" anchor="ctr" bIns="103325" lIns="103325" spcFirstLastPara="1" rIns="103325" wrap="square" tIns="103325">
            <a:noAutofit/>
          </a:bodyPr>
          <a:lstStyle/>
          <a:p>
            <a:pPr indent="0" lvl="0" marL="0" marR="0" rtl="0" algn="ctr">
              <a:lnSpc>
                <a:spcPct val="100000"/>
              </a:lnSpc>
              <a:spcBef>
                <a:spcPts val="0"/>
              </a:spcBef>
              <a:spcAft>
                <a:spcPts val="0"/>
              </a:spcAft>
              <a:buNone/>
            </a:pPr>
            <a:r>
              <a:rPr b="1" i="1" lang="es-419" sz="1381">
                <a:latin typeface="Oswald"/>
                <a:ea typeface="Oswald"/>
                <a:cs typeface="Oswald"/>
                <a:sym typeface="Oswald"/>
              </a:rPr>
              <a:t>fact_educacion_superior</a:t>
            </a:r>
            <a:endParaRPr b="1" i="1" sz="1381">
              <a:latin typeface="Oswald"/>
              <a:ea typeface="Oswald"/>
              <a:cs typeface="Oswald"/>
              <a:sym typeface="Oswald"/>
            </a:endParaRPr>
          </a:p>
        </p:txBody>
      </p:sp>
      <p:sp>
        <p:nvSpPr>
          <p:cNvPr id="349" name="Google Shape;349;p25"/>
          <p:cNvSpPr/>
          <p:nvPr/>
        </p:nvSpPr>
        <p:spPr>
          <a:xfrm>
            <a:off x="8233110" y="1396065"/>
            <a:ext cx="1269300" cy="393000"/>
          </a:xfrm>
          <a:prstGeom prst="roundRect">
            <a:avLst>
              <a:gd fmla="val 16667" name="adj"/>
            </a:avLst>
          </a:prstGeom>
          <a:solidFill>
            <a:srgbClr val="BBF0CD"/>
          </a:solidFill>
          <a:ln cap="flat" cmpd="sng" w="17175">
            <a:solidFill>
              <a:srgbClr val="5BC3B2"/>
            </a:solidFill>
            <a:prstDash val="solid"/>
            <a:round/>
            <a:headEnd len="sm" w="sm" type="none"/>
            <a:tailEnd len="sm" w="sm" type="none"/>
          </a:ln>
        </p:spPr>
        <p:txBody>
          <a:bodyPr anchorCtr="0" anchor="ctr" bIns="82400" lIns="82400" spcFirstLastPara="1" rIns="82400" wrap="square" tIns="82400">
            <a:noAutofit/>
          </a:bodyPr>
          <a:lstStyle/>
          <a:p>
            <a:pPr indent="0" lvl="0" marL="0" marR="0" rtl="0" algn="ctr">
              <a:lnSpc>
                <a:spcPct val="100000"/>
              </a:lnSpc>
              <a:spcBef>
                <a:spcPts val="0"/>
              </a:spcBef>
              <a:spcAft>
                <a:spcPts val="0"/>
              </a:spcAft>
              <a:buNone/>
            </a:pPr>
            <a:r>
              <a:rPr b="1" lang="es-419" sz="2000">
                <a:solidFill>
                  <a:srgbClr val="4C4C4C"/>
                </a:solidFill>
                <a:latin typeface="Oswald"/>
                <a:ea typeface="Oswald"/>
                <a:cs typeface="Oswald"/>
                <a:sym typeface="Oswald"/>
              </a:rPr>
              <a:t>Consumer</a:t>
            </a:r>
            <a:endParaRPr b="1" sz="1862">
              <a:latin typeface="Oswald"/>
              <a:ea typeface="Oswald"/>
              <a:cs typeface="Oswald"/>
              <a:sym typeface="Oswald"/>
            </a:endParaRPr>
          </a:p>
        </p:txBody>
      </p:sp>
      <p:pic>
        <p:nvPicPr>
          <p:cNvPr id="350" name="Google Shape;350;p25"/>
          <p:cNvPicPr preferRelativeResize="0"/>
          <p:nvPr/>
        </p:nvPicPr>
        <p:blipFill>
          <a:blip r:embed="rId7">
            <a:alphaModFix/>
          </a:blip>
          <a:stretch>
            <a:fillRect/>
          </a:stretch>
        </p:blipFill>
        <p:spPr>
          <a:xfrm>
            <a:off x="980672" y="1350925"/>
            <a:ext cx="633800" cy="483300"/>
          </a:xfrm>
          <a:prstGeom prst="rect">
            <a:avLst/>
          </a:prstGeom>
          <a:noFill/>
          <a:ln>
            <a:noFill/>
          </a:ln>
        </p:spPr>
      </p:pic>
      <p:sp>
        <p:nvSpPr>
          <p:cNvPr id="351" name="Google Shape;351;p25"/>
          <p:cNvSpPr/>
          <p:nvPr/>
        </p:nvSpPr>
        <p:spPr>
          <a:xfrm>
            <a:off x="1715600" y="1258075"/>
            <a:ext cx="2218800" cy="669000"/>
          </a:xfrm>
          <a:prstGeom prst="roundRect">
            <a:avLst>
              <a:gd fmla="val 16667" name="adj"/>
            </a:avLst>
          </a:prstGeom>
          <a:solidFill>
            <a:srgbClr val="4C1130"/>
          </a:solidFill>
          <a:ln cap="flat" cmpd="sng" w="17175">
            <a:solidFill>
              <a:srgbClr val="A64D79"/>
            </a:solidFill>
            <a:prstDash val="solid"/>
            <a:round/>
            <a:headEnd len="sm" w="sm" type="none"/>
            <a:tailEnd len="sm" w="sm" type="none"/>
          </a:ln>
        </p:spPr>
        <p:txBody>
          <a:bodyPr anchorCtr="0" anchor="ctr" bIns="82400" lIns="82400" spcFirstLastPara="1" rIns="82400" wrap="square" tIns="82400">
            <a:noAutofit/>
          </a:bodyPr>
          <a:lstStyle/>
          <a:p>
            <a:pPr indent="0" lvl="0" marL="0" rtl="0" algn="ctr">
              <a:spcBef>
                <a:spcPts val="0"/>
              </a:spcBef>
              <a:spcAft>
                <a:spcPts val="0"/>
              </a:spcAft>
              <a:buNone/>
            </a:pPr>
            <a:r>
              <a:rPr b="1" lang="es-419" sz="1762">
                <a:solidFill>
                  <a:schemeClr val="lt1"/>
                </a:solidFill>
                <a:latin typeface="Oswald"/>
                <a:ea typeface="Oswald"/>
                <a:cs typeface="Oswald"/>
                <a:sym typeface="Oswald"/>
              </a:rPr>
              <a:t>Console Real-time monitoring</a:t>
            </a:r>
            <a:endParaRPr b="1" sz="1762">
              <a:solidFill>
                <a:schemeClr val="lt1"/>
              </a:solidFill>
              <a:latin typeface="Oswald"/>
              <a:ea typeface="Oswald"/>
              <a:cs typeface="Oswald"/>
              <a:sym typeface="Oswald"/>
            </a:endParaRPr>
          </a:p>
        </p:txBody>
      </p:sp>
      <p:cxnSp>
        <p:nvCxnSpPr>
          <p:cNvPr id="352" name="Google Shape;352;p25"/>
          <p:cNvCxnSpPr>
            <a:stCxn id="349" idx="1"/>
            <a:endCxn id="351" idx="3"/>
          </p:cNvCxnSpPr>
          <p:nvPr/>
        </p:nvCxnSpPr>
        <p:spPr>
          <a:xfrm rot="10800000">
            <a:off x="3934410" y="1592565"/>
            <a:ext cx="4298700" cy="0"/>
          </a:xfrm>
          <a:prstGeom prst="straightConnector1">
            <a:avLst/>
          </a:prstGeom>
          <a:noFill/>
          <a:ln cap="flat" cmpd="sng" w="9525">
            <a:solidFill>
              <a:srgbClr val="DD4814"/>
            </a:solidFill>
            <a:prstDash val="dash"/>
            <a:round/>
            <a:headEnd len="med" w="med" type="none"/>
            <a:tailEnd len="med" w="med" type="triangle"/>
          </a:ln>
        </p:spPr>
      </p:cxnSp>
      <p:cxnSp>
        <p:nvCxnSpPr>
          <p:cNvPr id="353" name="Google Shape;353;p25"/>
          <p:cNvCxnSpPr>
            <a:stCxn id="349" idx="2"/>
          </p:cNvCxnSpPr>
          <p:nvPr/>
        </p:nvCxnSpPr>
        <p:spPr>
          <a:xfrm flipH="1">
            <a:off x="8857560" y="1789065"/>
            <a:ext cx="10200" cy="3540300"/>
          </a:xfrm>
          <a:prstGeom prst="straightConnector1">
            <a:avLst/>
          </a:prstGeom>
          <a:noFill/>
          <a:ln cap="flat" cmpd="sng" w="19050">
            <a:solidFill>
              <a:srgbClr val="980000"/>
            </a:solidFill>
            <a:prstDash val="dash"/>
            <a:round/>
            <a:headEnd len="med" w="med" type="triangle"/>
            <a:tailEnd len="med" w="med" type="none"/>
          </a:ln>
        </p:spPr>
      </p:cxnSp>
      <p:cxnSp>
        <p:nvCxnSpPr>
          <p:cNvPr id="354" name="Google Shape;354;p25"/>
          <p:cNvCxnSpPr/>
          <p:nvPr/>
        </p:nvCxnSpPr>
        <p:spPr>
          <a:xfrm flipH="1">
            <a:off x="7753650" y="4004075"/>
            <a:ext cx="3300" cy="1319700"/>
          </a:xfrm>
          <a:prstGeom prst="straightConnector1">
            <a:avLst/>
          </a:prstGeom>
          <a:noFill/>
          <a:ln cap="flat" cmpd="sng" w="19050">
            <a:solidFill>
              <a:srgbClr val="5BC3B2"/>
            </a:solidFill>
            <a:prstDash val="dash"/>
            <a:round/>
            <a:headEnd len="med" w="med" type="none"/>
            <a:tailEnd len="med" w="med" type="triangle"/>
          </a:ln>
        </p:spPr>
      </p:cxnSp>
      <p:pic>
        <p:nvPicPr>
          <p:cNvPr id="355" name="Google Shape;355;p25"/>
          <p:cNvPicPr preferRelativeResize="0"/>
          <p:nvPr/>
        </p:nvPicPr>
        <p:blipFill>
          <a:blip r:embed="rId5">
            <a:alphaModFix/>
          </a:blip>
          <a:stretch>
            <a:fillRect/>
          </a:stretch>
        </p:blipFill>
        <p:spPr>
          <a:xfrm>
            <a:off x="9742812" y="5319202"/>
            <a:ext cx="822048" cy="893841"/>
          </a:xfrm>
          <a:prstGeom prst="rect">
            <a:avLst/>
          </a:prstGeom>
          <a:noFill/>
          <a:ln>
            <a:noFill/>
          </a:ln>
        </p:spPr>
      </p:pic>
      <p:cxnSp>
        <p:nvCxnSpPr>
          <p:cNvPr id="356" name="Google Shape;356;p25"/>
          <p:cNvCxnSpPr>
            <a:stCxn id="357" idx="3"/>
            <a:endCxn id="358" idx="1"/>
          </p:cNvCxnSpPr>
          <p:nvPr/>
        </p:nvCxnSpPr>
        <p:spPr>
          <a:xfrm>
            <a:off x="7969376" y="4353732"/>
            <a:ext cx="1051500" cy="0"/>
          </a:xfrm>
          <a:prstGeom prst="straightConnector1">
            <a:avLst/>
          </a:prstGeom>
          <a:noFill/>
          <a:ln cap="flat" cmpd="sng" w="19050">
            <a:solidFill>
              <a:srgbClr val="5BC3B2"/>
            </a:solidFill>
            <a:prstDash val="dash"/>
            <a:round/>
            <a:headEnd len="med" w="med" type="none"/>
            <a:tailEnd len="med" w="med" type="none"/>
          </a:ln>
        </p:spPr>
      </p:cxnSp>
      <p:cxnSp>
        <p:nvCxnSpPr>
          <p:cNvPr id="359" name="Google Shape;359;p25"/>
          <p:cNvCxnSpPr>
            <a:stCxn id="336" idx="1"/>
            <a:endCxn id="347" idx="1"/>
          </p:cNvCxnSpPr>
          <p:nvPr/>
        </p:nvCxnSpPr>
        <p:spPr>
          <a:xfrm rot="10800000">
            <a:off x="4098763" y="4252375"/>
            <a:ext cx="3300" cy="539700"/>
          </a:xfrm>
          <a:prstGeom prst="bentConnector3">
            <a:avLst>
              <a:gd fmla="val 7317382" name="adj1"/>
            </a:avLst>
          </a:prstGeom>
          <a:noFill/>
          <a:ln cap="flat" cmpd="sng" w="11950">
            <a:solidFill>
              <a:srgbClr val="0000FF"/>
            </a:solidFill>
            <a:prstDash val="solid"/>
            <a:round/>
            <a:headEnd len="med" w="med" type="none"/>
            <a:tailEnd len="med" w="med" type="stealth"/>
          </a:ln>
        </p:spPr>
      </p:cxnSp>
      <p:cxnSp>
        <p:nvCxnSpPr>
          <p:cNvPr id="360" name="Google Shape;360;p25"/>
          <p:cNvCxnSpPr>
            <a:stCxn id="336" idx="1"/>
            <a:endCxn id="348" idx="1"/>
          </p:cNvCxnSpPr>
          <p:nvPr/>
        </p:nvCxnSpPr>
        <p:spPr>
          <a:xfrm rot="10800000">
            <a:off x="4096663" y="3751375"/>
            <a:ext cx="5400" cy="1040700"/>
          </a:xfrm>
          <a:prstGeom prst="bentConnector3">
            <a:avLst>
              <a:gd fmla="val 4510185" name="adj1"/>
            </a:avLst>
          </a:prstGeom>
          <a:noFill/>
          <a:ln cap="flat" cmpd="sng" w="11950">
            <a:solidFill>
              <a:srgbClr val="0000FF"/>
            </a:solidFill>
            <a:prstDash val="solid"/>
            <a:round/>
            <a:headEnd len="med" w="med" type="none"/>
            <a:tailEnd len="med" w="med" type="stealth"/>
          </a:ln>
        </p:spPr>
      </p:cxnSp>
      <p:sp>
        <p:nvSpPr>
          <p:cNvPr id="358" name="Google Shape;358;p25"/>
          <p:cNvSpPr/>
          <p:nvPr/>
        </p:nvSpPr>
        <p:spPr>
          <a:xfrm>
            <a:off x="9020875" y="4113881"/>
            <a:ext cx="1330200" cy="479700"/>
          </a:xfrm>
          <a:prstGeom prst="roundRect">
            <a:avLst>
              <a:gd fmla="val 16667" name="adj"/>
            </a:avLst>
          </a:prstGeom>
          <a:solidFill>
            <a:srgbClr val="5BC3B2"/>
          </a:solidFill>
          <a:ln cap="flat" cmpd="sng" w="17175">
            <a:solidFill>
              <a:srgbClr val="BBF0CD"/>
            </a:solidFill>
            <a:prstDash val="solid"/>
            <a:round/>
            <a:headEnd len="sm" w="sm" type="none"/>
            <a:tailEnd len="sm" w="sm" type="none"/>
          </a:ln>
        </p:spPr>
        <p:txBody>
          <a:bodyPr anchorCtr="0" anchor="ctr" bIns="82400" lIns="82400" spcFirstLastPara="1" rIns="82400" wrap="square" tIns="82400">
            <a:noAutofit/>
          </a:bodyPr>
          <a:lstStyle/>
          <a:p>
            <a:pPr indent="0" lvl="0" marL="0" marR="0" rtl="0" algn="ctr">
              <a:lnSpc>
                <a:spcPct val="100000"/>
              </a:lnSpc>
              <a:spcBef>
                <a:spcPts val="0"/>
              </a:spcBef>
              <a:spcAft>
                <a:spcPts val="0"/>
              </a:spcAft>
              <a:buNone/>
            </a:pPr>
            <a:r>
              <a:rPr i="1" lang="es-419">
                <a:solidFill>
                  <a:srgbClr val="4C4C4C"/>
                </a:solidFill>
                <a:latin typeface="Oswald"/>
                <a:ea typeface="Oswald"/>
                <a:cs typeface="Oswald"/>
                <a:sym typeface="Oswald"/>
              </a:rPr>
              <a:t>Stream in Loop every n seconds </a:t>
            </a:r>
            <a:endParaRPr i="1">
              <a:solidFill>
                <a:srgbClr val="4C4C4C"/>
              </a:solidFill>
              <a:latin typeface="Oswald"/>
              <a:ea typeface="Oswald"/>
              <a:cs typeface="Oswald"/>
              <a:sym typeface="Oswald"/>
            </a:endParaRPr>
          </a:p>
        </p:txBody>
      </p:sp>
      <p:pic>
        <p:nvPicPr>
          <p:cNvPr id="361" name="Google Shape;361;p25"/>
          <p:cNvPicPr preferRelativeResize="0"/>
          <p:nvPr/>
        </p:nvPicPr>
        <p:blipFill>
          <a:blip r:embed="rId8">
            <a:alphaModFix/>
          </a:blip>
          <a:stretch>
            <a:fillRect/>
          </a:stretch>
        </p:blipFill>
        <p:spPr>
          <a:xfrm>
            <a:off x="10351224" y="4152528"/>
            <a:ext cx="329100" cy="329100"/>
          </a:xfrm>
          <a:prstGeom prst="rect">
            <a:avLst/>
          </a:prstGeom>
          <a:noFill/>
          <a:ln>
            <a:noFill/>
          </a:ln>
        </p:spPr>
      </p:pic>
      <p:sp>
        <p:nvSpPr>
          <p:cNvPr id="362" name="Google Shape;362;p25"/>
          <p:cNvSpPr/>
          <p:nvPr/>
        </p:nvSpPr>
        <p:spPr>
          <a:xfrm>
            <a:off x="5905925" y="1414339"/>
            <a:ext cx="980100" cy="393000"/>
          </a:xfrm>
          <a:prstGeom prst="roundRect">
            <a:avLst>
              <a:gd fmla="val 16667" name="adj"/>
            </a:avLst>
          </a:prstGeom>
          <a:solidFill>
            <a:srgbClr val="5BC3B2"/>
          </a:solidFill>
          <a:ln cap="flat" cmpd="sng" w="17175">
            <a:solidFill>
              <a:srgbClr val="BBF0CD"/>
            </a:solidFill>
            <a:prstDash val="solid"/>
            <a:round/>
            <a:headEnd len="sm" w="sm" type="none"/>
            <a:tailEnd len="sm" w="sm" type="none"/>
          </a:ln>
        </p:spPr>
        <p:txBody>
          <a:bodyPr anchorCtr="0" anchor="ctr" bIns="82400" lIns="82400" spcFirstLastPara="1" rIns="82400" wrap="square" tIns="82400">
            <a:noAutofit/>
          </a:bodyPr>
          <a:lstStyle/>
          <a:p>
            <a:pPr indent="0" lvl="0" marL="0" marR="0" rtl="0" algn="ctr">
              <a:lnSpc>
                <a:spcPct val="100000"/>
              </a:lnSpc>
              <a:spcBef>
                <a:spcPts val="0"/>
              </a:spcBef>
              <a:spcAft>
                <a:spcPts val="0"/>
              </a:spcAft>
              <a:buNone/>
            </a:pPr>
            <a:r>
              <a:rPr i="1" lang="es-419" sz="1000">
                <a:solidFill>
                  <a:srgbClr val="4C4C4C"/>
                </a:solidFill>
                <a:latin typeface="Oswald"/>
                <a:ea typeface="Oswald"/>
                <a:cs typeface="Oswald"/>
                <a:sym typeface="Oswald"/>
              </a:rPr>
              <a:t>Data</a:t>
            </a:r>
            <a:r>
              <a:rPr i="1" lang="es-419" sz="1000">
                <a:solidFill>
                  <a:srgbClr val="4C4C4C"/>
                </a:solidFill>
                <a:latin typeface="Oswald"/>
                <a:ea typeface="Oswald"/>
                <a:cs typeface="Oswald"/>
                <a:sym typeface="Oswald"/>
              </a:rPr>
              <a:t> Persistence</a:t>
            </a:r>
            <a:endParaRPr i="1" sz="1000">
              <a:solidFill>
                <a:srgbClr val="4C4C4C"/>
              </a:solidFill>
              <a:latin typeface="Oswald"/>
              <a:ea typeface="Oswald"/>
              <a:cs typeface="Oswald"/>
              <a:sym typeface="Oswald"/>
            </a:endParaRPr>
          </a:p>
        </p:txBody>
      </p:sp>
      <p:cxnSp>
        <p:nvCxnSpPr>
          <p:cNvPr id="363" name="Google Shape;363;p25"/>
          <p:cNvCxnSpPr>
            <a:stCxn id="338" idx="3"/>
            <a:endCxn id="337" idx="1"/>
          </p:cNvCxnSpPr>
          <p:nvPr/>
        </p:nvCxnSpPr>
        <p:spPr>
          <a:xfrm>
            <a:off x="2079075" y="4887272"/>
            <a:ext cx="1009800" cy="0"/>
          </a:xfrm>
          <a:prstGeom prst="straightConnector1">
            <a:avLst/>
          </a:prstGeom>
          <a:noFill/>
          <a:ln cap="flat" cmpd="sng" w="23875">
            <a:solidFill>
              <a:srgbClr val="3465A4"/>
            </a:solidFill>
            <a:prstDash val="dash"/>
            <a:round/>
            <a:headEnd len="med" w="med" type="none"/>
            <a:tailEnd len="med" w="med" type="triangle"/>
          </a:ln>
        </p:spPr>
      </p:cxnSp>
      <p:pic>
        <p:nvPicPr>
          <p:cNvPr id="357" name="Google Shape;357;p25"/>
          <p:cNvPicPr preferRelativeResize="0"/>
          <p:nvPr/>
        </p:nvPicPr>
        <p:blipFill>
          <a:blip r:embed="rId9">
            <a:alphaModFix/>
          </a:blip>
          <a:stretch>
            <a:fillRect/>
          </a:stretch>
        </p:blipFill>
        <p:spPr>
          <a:xfrm>
            <a:off x="7544875" y="4141482"/>
            <a:ext cx="424500" cy="424500"/>
          </a:xfrm>
          <a:prstGeom prst="rect">
            <a:avLst/>
          </a:prstGeom>
          <a:noFill/>
          <a:ln>
            <a:noFill/>
          </a:ln>
        </p:spPr>
      </p:pic>
      <p:cxnSp>
        <p:nvCxnSpPr>
          <p:cNvPr id="364" name="Google Shape;364;p25"/>
          <p:cNvCxnSpPr>
            <a:stCxn id="348" idx="3"/>
            <a:endCxn id="344" idx="1"/>
          </p:cNvCxnSpPr>
          <p:nvPr/>
        </p:nvCxnSpPr>
        <p:spPr>
          <a:xfrm>
            <a:off x="6145937" y="3751475"/>
            <a:ext cx="899100" cy="0"/>
          </a:xfrm>
          <a:prstGeom prst="straightConnector1">
            <a:avLst/>
          </a:prstGeom>
          <a:noFill/>
          <a:ln cap="flat" cmpd="sng" w="19050">
            <a:solidFill>
              <a:srgbClr val="5BC3B2"/>
            </a:solidFill>
            <a:prstDash val="dash"/>
            <a:round/>
            <a:headEnd len="med" w="med" type="none"/>
            <a:tailEnd len="med" w="med" type="triangle"/>
          </a:ln>
        </p:spPr>
      </p:cxnSp>
      <p:cxnSp>
        <p:nvCxnSpPr>
          <p:cNvPr id="365" name="Google Shape;365;p25"/>
          <p:cNvCxnSpPr>
            <a:stCxn id="362" idx="2"/>
            <a:endCxn id="347" idx="3"/>
          </p:cNvCxnSpPr>
          <p:nvPr/>
        </p:nvCxnSpPr>
        <p:spPr>
          <a:xfrm rot="5400000">
            <a:off x="5049425" y="2905789"/>
            <a:ext cx="2445000" cy="248100"/>
          </a:xfrm>
          <a:prstGeom prst="bentConnector2">
            <a:avLst/>
          </a:prstGeom>
          <a:noFill/>
          <a:ln cap="flat" cmpd="sng" w="9525">
            <a:solidFill>
              <a:srgbClr val="DD4814"/>
            </a:solidFill>
            <a:prstDash val="dash"/>
            <a:round/>
            <a:headEnd len="med" w="med" type="none"/>
            <a:tailEnd len="med" w="med" type="triangle"/>
          </a:ln>
        </p:spPr>
      </p:cxnSp>
      <p:sp>
        <p:nvSpPr>
          <p:cNvPr id="366" name="Google Shape;366;p25"/>
          <p:cNvSpPr/>
          <p:nvPr/>
        </p:nvSpPr>
        <p:spPr>
          <a:xfrm>
            <a:off x="0" y="-19825"/>
            <a:ext cx="10800000" cy="9411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7" name="Google Shape;367;p25"/>
          <p:cNvSpPr/>
          <p:nvPr/>
        </p:nvSpPr>
        <p:spPr>
          <a:xfrm>
            <a:off x="288553" y="359750"/>
            <a:ext cx="5417700" cy="7734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8" name="Google Shape;368;p25"/>
          <p:cNvSpPr txBox="1"/>
          <p:nvPr/>
        </p:nvSpPr>
        <p:spPr>
          <a:xfrm>
            <a:off x="460307" y="361125"/>
            <a:ext cx="5417700" cy="773400"/>
          </a:xfrm>
          <a:prstGeom prst="rect">
            <a:avLst/>
          </a:prstGeom>
          <a:noFill/>
          <a:ln>
            <a:noFill/>
          </a:ln>
        </p:spPr>
        <p:txBody>
          <a:bodyPr anchorCtr="0" anchor="t" bIns="114650" lIns="114650" spcFirstLastPara="1" rIns="114650" wrap="square" tIns="114650">
            <a:noAutofit/>
          </a:bodyPr>
          <a:lstStyle/>
          <a:p>
            <a:pPr indent="0" lvl="0" marL="0" rtl="0" algn="l">
              <a:spcBef>
                <a:spcPts val="0"/>
              </a:spcBef>
              <a:spcAft>
                <a:spcPts val="0"/>
              </a:spcAft>
              <a:buNone/>
            </a:pPr>
            <a:r>
              <a:rPr b="1" lang="es-419" sz="3500">
                <a:solidFill>
                  <a:schemeClr val="dk1"/>
                </a:solidFill>
                <a:latin typeface="Oswald"/>
                <a:ea typeface="Oswald"/>
                <a:cs typeface="Oswald"/>
                <a:sym typeface="Oswald"/>
              </a:rPr>
              <a:t>Arquitectura de Streaming</a:t>
            </a:r>
            <a:endParaRPr b="1" sz="3500">
              <a:solidFill>
                <a:schemeClr val="dk1"/>
              </a:solidFill>
              <a:latin typeface="Oswald"/>
              <a:ea typeface="Oswald"/>
              <a:cs typeface="Oswald"/>
              <a:sym typeface="Oswald"/>
            </a:endParaRPr>
          </a:p>
        </p:txBody>
      </p:sp>
      <p:sp>
        <p:nvSpPr>
          <p:cNvPr id="369" name="Google Shape;369;p25"/>
          <p:cNvSpPr txBox="1"/>
          <p:nvPr/>
        </p:nvSpPr>
        <p:spPr>
          <a:xfrm>
            <a:off x="173975" y="6790200"/>
            <a:ext cx="10322100" cy="393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400"/>
              </a:spcBef>
              <a:spcAft>
                <a:spcPts val="400"/>
              </a:spcAft>
              <a:buNone/>
            </a:pPr>
            <a:r>
              <a:rPr i="1" lang="es-419" sz="1500">
                <a:solidFill>
                  <a:schemeClr val="dk1"/>
                </a:solidFill>
                <a:latin typeface="Oswald"/>
                <a:ea typeface="Oswald"/>
                <a:cs typeface="Oswald"/>
                <a:sym typeface="Oswald"/>
              </a:rPr>
              <a:t>Ruta de referencia  </a:t>
            </a:r>
            <a:r>
              <a:rPr i="1" lang="es-419" sz="1500">
                <a:solidFill>
                  <a:schemeClr val="dk1"/>
                </a:solidFill>
                <a:latin typeface="Courier New"/>
                <a:ea typeface="Courier New"/>
                <a:cs typeface="Courier New"/>
                <a:sym typeface="Courier New"/>
              </a:rPr>
              <a:t>kafka</a:t>
            </a:r>
            <a:r>
              <a:rPr i="1" lang="es-419" sz="1500">
                <a:solidFill>
                  <a:schemeClr val="dk1"/>
                </a:solidFill>
                <a:latin typeface="Courier New"/>
                <a:ea typeface="Courier New"/>
                <a:cs typeface="Courier New"/>
                <a:sym typeface="Courier New"/>
              </a:rPr>
              <a:t>/* | diagrams/streaming_architecture.png  </a:t>
            </a:r>
            <a:endParaRPr i="1" sz="1500">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6"/>
          <p:cNvSpPr/>
          <p:nvPr/>
        </p:nvSpPr>
        <p:spPr>
          <a:xfrm>
            <a:off x="3225" y="-25825"/>
            <a:ext cx="10800000" cy="7225800"/>
          </a:xfrm>
          <a:prstGeom prst="roundRect">
            <a:avLst>
              <a:gd fmla="val 0" name="adj"/>
            </a:avLst>
          </a:prstGeom>
          <a:no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5" name="Google Shape;375;p26"/>
          <p:cNvSpPr/>
          <p:nvPr/>
        </p:nvSpPr>
        <p:spPr>
          <a:xfrm>
            <a:off x="1363950" y="1810925"/>
            <a:ext cx="8072100" cy="3538500"/>
          </a:xfrm>
          <a:prstGeom prst="roundRect">
            <a:avLst>
              <a:gd fmla="val 16667" name="adj"/>
            </a:avLst>
          </a:prstGeom>
          <a:solidFill>
            <a:schemeClr val="accen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6" name="Google Shape;376;p26"/>
          <p:cNvSpPr/>
          <p:nvPr/>
        </p:nvSpPr>
        <p:spPr>
          <a:xfrm>
            <a:off x="1790400" y="2219250"/>
            <a:ext cx="7219200" cy="2761500"/>
          </a:xfrm>
          <a:prstGeom prst="roundRect">
            <a:avLst>
              <a:gd fmla="val 16667" name="adj"/>
            </a:avLst>
          </a:prstGeom>
          <a:solidFill>
            <a:schemeClr val="lt1"/>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7" name="Google Shape;377;p26"/>
          <p:cNvSpPr txBox="1"/>
          <p:nvPr/>
        </p:nvSpPr>
        <p:spPr>
          <a:xfrm>
            <a:off x="2812275" y="2449625"/>
            <a:ext cx="5181900" cy="2261100"/>
          </a:xfrm>
          <a:prstGeom prst="rect">
            <a:avLst/>
          </a:prstGeom>
          <a:noFill/>
          <a:ln>
            <a:noFill/>
          </a:ln>
        </p:spPr>
        <p:txBody>
          <a:bodyPr anchorCtr="0" anchor="t" bIns="114650" lIns="114650" spcFirstLastPara="1" rIns="114650" wrap="square" tIns="114650">
            <a:noAutofit/>
          </a:bodyPr>
          <a:lstStyle/>
          <a:p>
            <a:pPr indent="0" lvl="0" marL="0" rtl="0" algn="ctr">
              <a:spcBef>
                <a:spcPts val="0"/>
              </a:spcBef>
              <a:spcAft>
                <a:spcPts val="0"/>
              </a:spcAft>
              <a:buNone/>
            </a:pPr>
            <a:r>
              <a:rPr b="1" lang="es-419" sz="7200">
                <a:solidFill>
                  <a:schemeClr val="dk1"/>
                </a:solidFill>
                <a:latin typeface="Oswald"/>
                <a:ea typeface="Oswald"/>
                <a:cs typeface="Oswald"/>
                <a:sym typeface="Oswald"/>
              </a:rPr>
              <a:t>Monitoreo en Tiempo Real</a:t>
            </a:r>
            <a:endParaRPr b="1" sz="7200">
              <a:solidFill>
                <a:schemeClr val="dk1"/>
              </a:solidFill>
              <a:latin typeface="Oswald"/>
              <a:ea typeface="Oswald"/>
              <a:cs typeface="Oswald"/>
              <a:sym typeface="Oswald"/>
            </a:endParaRPr>
          </a:p>
        </p:txBody>
      </p:sp>
      <p:pic>
        <p:nvPicPr>
          <p:cNvPr id="378" name="Google Shape;378;p26"/>
          <p:cNvPicPr preferRelativeResize="0"/>
          <p:nvPr/>
        </p:nvPicPr>
        <p:blipFill>
          <a:blip r:embed="rId3">
            <a:alphaModFix/>
          </a:blip>
          <a:stretch>
            <a:fillRect/>
          </a:stretch>
        </p:blipFill>
        <p:spPr>
          <a:xfrm flipH="1">
            <a:off x="1105650" y="1584900"/>
            <a:ext cx="1180075" cy="1180075"/>
          </a:xfrm>
          <a:prstGeom prst="rect">
            <a:avLst/>
          </a:prstGeom>
          <a:noFill/>
          <a:ln>
            <a:noFill/>
          </a:ln>
        </p:spPr>
      </p:pic>
      <p:sp>
        <p:nvSpPr>
          <p:cNvPr id="379" name="Google Shape;379;p26"/>
          <p:cNvSpPr/>
          <p:nvPr/>
        </p:nvSpPr>
        <p:spPr>
          <a:xfrm>
            <a:off x="8542350" y="5061475"/>
            <a:ext cx="893700" cy="606300"/>
          </a:xfrm>
          <a:prstGeom prst="chevron">
            <a:avLst>
              <a:gd fmla="val 50000" name="adj"/>
            </a:avLst>
          </a:prstGeom>
          <a:solidFill>
            <a:schemeClr val="accen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0" name="Google Shape;380;p26"/>
          <p:cNvSpPr/>
          <p:nvPr/>
        </p:nvSpPr>
        <p:spPr>
          <a:xfrm>
            <a:off x="8275738" y="5061475"/>
            <a:ext cx="893700" cy="606300"/>
          </a:xfrm>
          <a:prstGeom prst="chevron">
            <a:avLst>
              <a:gd fmla="val 50000" name="adj"/>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1" name="Google Shape;381;p26"/>
          <p:cNvSpPr/>
          <p:nvPr/>
        </p:nvSpPr>
        <p:spPr>
          <a:xfrm>
            <a:off x="8275750" y="5061475"/>
            <a:ext cx="574800" cy="606300"/>
          </a:xfrm>
          <a:prstGeom prst="chevron">
            <a:avLst>
              <a:gd fmla="val 50000"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7"/>
          <p:cNvSpPr/>
          <p:nvPr/>
        </p:nvSpPr>
        <p:spPr>
          <a:xfrm>
            <a:off x="3225" y="-25825"/>
            <a:ext cx="10800000" cy="7225800"/>
          </a:xfrm>
          <a:prstGeom prst="roundRect">
            <a:avLst>
              <a:gd fmla="val 0" name="adj"/>
            </a:avLst>
          </a:prstGeom>
          <a:no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7" name="Google Shape;387;p27"/>
          <p:cNvSpPr/>
          <p:nvPr/>
        </p:nvSpPr>
        <p:spPr>
          <a:xfrm>
            <a:off x="1363950" y="1810925"/>
            <a:ext cx="8072100" cy="3538500"/>
          </a:xfrm>
          <a:prstGeom prst="roundRect">
            <a:avLst>
              <a:gd fmla="val 16667" name="adj"/>
            </a:avLst>
          </a:prstGeom>
          <a:solidFill>
            <a:schemeClr val="accen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8" name="Google Shape;388;p27"/>
          <p:cNvSpPr/>
          <p:nvPr/>
        </p:nvSpPr>
        <p:spPr>
          <a:xfrm>
            <a:off x="1790400" y="2219250"/>
            <a:ext cx="7219200" cy="2761500"/>
          </a:xfrm>
          <a:prstGeom prst="roundRect">
            <a:avLst>
              <a:gd fmla="val 16667" name="adj"/>
            </a:avLst>
          </a:prstGeom>
          <a:solidFill>
            <a:schemeClr val="lt1"/>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9" name="Google Shape;389;p27"/>
          <p:cNvSpPr txBox="1"/>
          <p:nvPr/>
        </p:nvSpPr>
        <p:spPr>
          <a:xfrm>
            <a:off x="2809050" y="2913575"/>
            <a:ext cx="5181900" cy="1333200"/>
          </a:xfrm>
          <a:prstGeom prst="rect">
            <a:avLst/>
          </a:prstGeom>
          <a:noFill/>
          <a:ln>
            <a:noFill/>
          </a:ln>
        </p:spPr>
        <p:txBody>
          <a:bodyPr anchorCtr="0" anchor="t" bIns="114650" lIns="114650" spcFirstLastPara="1" rIns="114650" wrap="square" tIns="114650">
            <a:noAutofit/>
          </a:bodyPr>
          <a:lstStyle/>
          <a:p>
            <a:pPr indent="0" lvl="0" marL="0" rtl="0" algn="ctr">
              <a:spcBef>
                <a:spcPts val="0"/>
              </a:spcBef>
              <a:spcAft>
                <a:spcPts val="0"/>
              </a:spcAft>
              <a:buNone/>
            </a:pPr>
            <a:r>
              <a:rPr b="1" lang="es-419" sz="7200">
                <a:solidFill>
                  <a:schemeClr val="dk1"/>
                </a:solidFill>
                <a:latin typeface="Oswald"/>
                <a:ea typeface="Oswald"/>
                <a:cs typeface="Oswald"/>
                <a:sym typeface="Oswald"/>
              </a:rPr>
              <a:t>Dashboard</a:t>
            </a:r>
            <a:endParaRPr b="1" sz="7200">
              <a:solidFill>
                <a:schemeClr val="dk1"/>
              </a:solidFill>
              <a:latin typeface="Oswald"/>
              <a:ea typeface="Oswald"/>
              <a:cs typeface="Oswald"/>
              <a:sym typeface="Oswald"/>
            </a:endParaRPr>
          </a:p>
        </p:txBody>
      </p:sp>
      <p:pic>
        <p:nvPicPr>
          <p:cNvPr id="390" name="Google Shape;390;p27"/>
          <p:cNvPicPr preferRelativeResize="0"/>
          <p:nvPr/>
        </p:nvPicPr>
        <p:blipFill>
          <a:blip r:embed="rId3">
            <a:alphaModFix/>
          </a:blip>
          <a:stretch>
            <a:fillRect/>
          </a:stretch>
        </p:blipFill>
        <p:spPr>
          <a:xfrm flipH="1">
            <a:off x="1105650" y="1584900"/>
            <a:ext cx="1180075" cy="1180075"/>
          </a:xfrm>
          <a:prstGeom prst="rect">
            <a:avLst/>
          </a:prstGeom>
          <a:noFill/>
          <a:ln>
            <a:noFill/>
          </a:ln>
        </p:spPr>
      </p:pic>
      <p:sp>
        <p:nvSpPr>
          <p:cNvPr id="391" name="Google Shape;391;p27"/>
          <p:cNvSpPr/>
          <p:nvPr/>
        </p:nvSpPr>
        <p:spPr>
          <a:xfrm>
            <a:off x="8542350" y="5061475"/>
            <a:ext cx="893700" cy="606300"/>
          </a:xfrm>
          <a:prstGeom prst="chevron">
            <a:avLst>
              <a:gd fmla="val 50000" name="adj"/>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2" name="Google Shape;392;p27"/>
          <p:cNvSpPr/>
          <p:nvPr/>
        </p:nvSpPr>
        <p:spPr>
          <a:xfrm>
            <a:off x="8275738" y="5061475"/>
            <a:ext cx="893700" cy="606300"/>
          </a:xfrm>
          <a:prstGeom prst="chevron">
            <a:avLst>
              <a:gd fmla="val 50000" name="adj"/>
            </a:avLst>
          </a:prstGeom>
          <a:solidFill>
            <a:schemeClr val="accen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3" name="Google Shape;393;p27"/>
          <p:cNvSpPr/>
          <p:nvPr/>
        </p:nvSpPr>
        <p:spPr>
          <a:xfrm>
            <a:off x="8275750" y="5061475"/>
            <a:ext cx="574800" cy="606300"/>
          </a:xfrm>
          <a:prstGeom prst="chevron">
            <a:avLst>
              <a:gd fmla="val 50000"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28"/>
          <p:cNvSpPr/>
          <p:nvPr/>
        </p:nvSpPr>
        <p:spPr>
          <a:xfrm>
            <a:off x="0" y="-19825"/>
            <a:ext cx="10800000" cy="773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9" name="Google Shape;399;p28"/>
          <p:cNvSpPr/>
          <p:nvPr/>
        </p:nvSpPr>
        <p:spPr>
          <a:xfrm>
            <a:off x="2809050" y="366875"/>
            <a:ext cx="5181900" cy="1060800"/>
          </a:xfrm>
          <a:prstGeom prst="roundRect">
            <a:avLst>
              <a:gd fmla="val 16667" name="adj"/>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0" name="Google Shape;400;p28"/>
          <p:cNvSpPr txBox="1"/>
          <p:nvPr/>
        </p:nvSpPr>
        <p:spPr>
          <a:xfrm>
            <a:off x="2809050" y="366875"/>
            <a:ext cx="5181900" cy="306600"/>
          </a:xfrm>
          <a:prstGeom prst="rect">
            <a:avLst/>
          </a:prstGeom>
          <a:noFill/>
          <a:ln>
            <a:noFill/>
          </a:ln>
        </p:spPr>
        <p:txBody>
          <a:bodyPr anchorCtr="0" anchor="t" bIns="114650" lIns="114650" spcFirstLastPara="1" rIns="114650" wrap="square" tIns="114650">
            <a:noAutofit/>
          </a:bodyPr>
          <a:lstStyle/>
          <a:p>
            <a:pPr indent="0" lvl="0" marL="0" rtl="0" algn="ctr">
              <a:spcBef>
                <a:spcPts val="0"/>
              </a:spcBef>
              <a:spcAft>
                <a:spcPts val="0"/>
              </a:spcAft>
              <a:buNone/>
            </a:pPr>
            <a:r>
              <a:rPr b="1" lang="es-419" sz="2800">
                <a:solidFill>
                  <a:schemeClr val="dk1"/>
                </a:solidFill>
                <a:latin typeface="Oswald"/>
                <a:ea typeface="Oswald"/>
                <a:cs typeface="Oswald"/>
                <a:sym typeface="Oswald"/>
              </a:rPr>
              <a:t>Supuestos, Limitaciones y Mejoras Futuras</a:t>
            </a:r>
            <a:endParaRPr b="1" sz="2800">
              <a:solidFill>
                <a:schemeClr val="dk1"/>
              </a:solidFill>
              <a:latin typeface="Oswald"/>
              <a:ea typeface="Oswald"/>
              <a:cs typeface="Oswald"/>
              <a:sym typeface="Oswald"/>
            </a:endParaRPr>
          </a:p>
        </p:txBody>
      </p:sp>
      <p:sp>
        <p:nvSpPr>
          <p:cNvPr id="401" name="Google Shape;401;p28"/>
          <p:cNvSpPr/>
          <p:nvPr/>
        </p:nvSpPr>
        <p:spPr>
          <a:xfrm>
            <a:off x="7493050" y="753563"/>
            <a:ext cx="838800" cy="7734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02" name="Google Shape;402;p28"/>
          <p:cNvPicPr preferRelativeResize="0"/>
          <p:nvPr/>
        </p:nvPicPr>
        <p:blipFill>
          <a:blip r:embed="rId3">
            <a:alphaModFix/>
          </a:blip>
          <a:stretch>
            <a:fillRect/>
          </a:stretch>
        </p:blipFill>
        <p:spPr>
          <a:xfrm flipH="1">
            <a:off x="2440050" y="93275"/>
            <a:ext cx="707350" cy="707350"/>
          </a:xfrm>
          <a:prstGeom prst="rect">
            <a:avLst/>
          </a:prstGeom>
          <a:noFill/>
          <a:ln>
            <a:noFill/>
          </a:ln>
        </p:spPr>
      </p:pic>
      <p:pic>
        <p:nvPicPr>
          <p:cNvPr id="403" name="Google Shape;403;p28"/>
          <p:cNvPicPr preferRelativeResize="0"/>
          <p:nvPr/>
        </p:nvPicPr>
        <p:blipFill>
          <a:blip r:embed="rId4">
            <a:alphaModFix/>
          </a:blip>
          <a:stretch>
            <a:fillRect/>
          </a:stretch>
        </p:blipFill>
        <p:spPr>
          <a:xfrm>
            <a:off x="7625050" y="852875"/>
            <a:ext cx="574801" cy="574801"/>
          </a:xfrm>
          <a:prstGeom prst="rect">
            <a:avLst/>
          </a:prstGeom>
          <a:noFill/>
          <a:ln>
            <a:noFill/>
          </a:ln>
        </p:spPr>
      </p:pic>
      <p:sp>
        <p:nvSpPr>
          <p:cNvPr id="404" name="Google Shape;404;p28"/>
          <p:cNvSpPr/>
          <p:nvPr/>
        </p:nvSpPr>
        <p:spPr>
          <a:xfrm>
            <a:off x="159125" y="1606925"/>
            <a:ext cx="10511100" cy="2597700"/>
          </a:xfrm>
          <a:prstGeom prst="roundRect">
            <a:avLst>
              <a:gd fmla="val 16667" name="adj"/>
            </a:avLst>
          </a:prstGeom>
          <a:solidFill>
            <a:srgbClr val="CD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5" name="Google Shape;405;p28"/>
          <p:cNvSpPr/>
          <p:nvPr/>
        </p:nvSpPr>
        <p:spPr>
          <a:xfrm>
            <a:off x="159125" y="4420950"/>
            <a:ext cx="5241000" cy="2667000"/>
          </a:xfrm>
          <a:prstGeom prst="roundRect">
            <a:avLst>
              <a:gd fmla="val 16667" name="adj"/>
            </a:avLst>
          </a:prstGeom>
          <a:solidFill>
            <a:srgbClr val="FFD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6" name="Google Shape;406;p28"/>
          <p:cNvSpPr/>
          <p:nvPr/>
        </p:nvSpPr>
        <p:spPr>
          <a:xfrm>
            <a:off x="5488325" y="4453175"/>
            <a:ext cx="5181900" cy="2667000"/>
          </a:xfrm>
          <a:prstGeom prst="roundRect">
            <a:avLst>
              <a:gd fmla="val 16667" name="adj"/>
            </a:avLst>
          </a:prstGeom>
          <a:solidFill>
            <a:srgbClr val="98DB7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407" name="Google Shape;407;p28"/>
          <p:cNvGrpSpPr/>
          <p:nvPr/>
        </p:nvGrpSpPr>
        <p:grpSpPr>
          <a:xfrm>
            <a:off x="320076" y="2324987"/>
            <a:ext cx="1726912" cy="1143799"/>
            <a:chOff x="588600" y="4852875"/>
            <a:chExt cx="1917300" cy="1269900"/>
          </a:xfrm>
        </p:grpSpPr>
        <p:sp>
          <p:nvSpPr>
            <p:cNvPr id="408" name="Google Shape;408;p28"/>
            <p:cNvSpPr/>
            <p:nvPr/>
          </p:nvSpPr>
          <p:spPr>
            <a:xfrm>
              <a:off x="588600" y="4852875"/>
              <a:ext cx="1917300" cy="1269900"/>
            </a:xfrm>
            <a:prstGeom prst="roundRect">
              <a:avLst>
                <a:gd fmla="val 16667" name="adj"/>
              </a:avLst>
            </a:prstGeom>
            <a:solidFill>
              <a:srgbClr val="161D2D"/>
            </a:solidFill>
            <a:ln cap="flat" cmpd="sng" w="25750">
              <a:solidFill>
                <a:schemeClr val="accent5"/>
              </a:solidFill>
              <a:prstDash val="solid"/>
              <a:round/>
              <a:headEnd len="sm" w="sm" type="none"/>
              <a:tailEnd len="sm" w="sm" type="none"/>
            </a:ln>
          </p:spPr>
          <p:txBody>
            <a:bodyPr anchorCtr="0" anchor="t" bIns="82350" lIns="82350" spcFirstLastPara="1" rIns="82350" wrap="square" tIns="82350">
              <a:noAutofit/>
            </a:bodyPr>
            <a:lstStyle/>
            <a:p>
              <a:pPr indent="0" lvl="0" marL="0" rtl="0" algn="l">
                <a:spcBef>
                  <a:spcPts val="0"/>
                </a:spcBef>
                <a:spcAft>
                  <a:spcPts val="0"/>
                </a:spcAft>
                <a:buNone/>
              </a:pPr>
              <a:r>
                <a:rPr b="1" lang="es-419" sz="1261">
                  <a:solidFill>
                    <a:schemeClr val="lt1"/>
                  </a:solidFill>
                  <a:latin typeface="Oswald"/>
                  <a:ea typeface="Oswald"/>
                  <a:cs typeface="Oswald"/>
                  <a:sym typeface="Oswald"/>
                </a:rPr>
                <a:t>Kafka en modo KRaft</a:t>
              </a:r>
              <a:endParaRPr b="1" sz="1261">
                <a:solidFill>
                  <a:schemeClr val="lt1"/>
                </a:solidFill>
                <a:latin typeface="Oswald"/>
                <a:ea typeface="Oswald"/>
                <a:cs typeface="Oswald"/>
                <a:sym typeface="Oswald"/>
              </a:endParaRPr>
            </a:p>
            <a:p>
              <a:pPr indent="0" lvl="0" marL="0" rtl="0" algn="l">
                <a:spcBef>
                  <a:spcPts val="0"/>
                </a:spcBef>
                <a:spcAft>
                  <a:spcPts val="0"/>
                </a:spcAft>
                <a:buNone/>
              </a:pPr>
              <a:r>
                <a:rPr lang="es-419" sz="1261">
                  <a:solidFill>
                    <a:schemeClr val="lt1"/>
                  </a:solidFill>
                  <a:latin typeface="Oswald ExtraLight"/>
                  <a:ea typeface="Oswald ExtraLight"/>
                  <a:cs typeface="Oswald ExtraLight"/>
                  <a:sym typeface="Oswald ExtraLight"/>
                </a:rPr>
                <a:t>Sin Zookeeper</a:t>
              </a:r>
              <a:endParaRPr sz="1261">
                <a:solidFill>
                  <a:schemeClr val="lt1"/>
                </a:solidFill>
                <a:latin typeface="Oswald ExtraLight"/>
                <a:ea typeface="Oswald ExtraLight"/>
                <a:cs typeface="Oswald ExtraLight"/>
                <a:sym typeface="Oswald ExtraLight"/>
              </a:endParaRPr>
            </a:p>
          </p:txBody>
        </p:sp>
        <p:sp>
          <p:nvSpPr>
            <p:cNvPr id="409" name="Google Shape;409;p28"/>
            <p:cNvSpPr/>
            <p:nvPr/>
          </p:nvSpPr>
          <p:spPr>
            <a:xfrm>
              <a:off x="720200" y="5526975"/>
              <a:ext cx="1050900" cy="338100"/>
            </a:xfrm>
            <a:prstGeom prst="roundRect">
              <a:avLst>
                <a:gd fmla="val 16667" name="adj"/>
              </a:avLst>
            </a:prstGeom>
            <a:solidFill>
              <a:schemeClr val="accent5"/>
            </a:solidFill>
            <a:ln cap="flat" cmpd="sng" w="8600">
              <a:solidFill>
                <a:schemeClr val="accent5"/>
              </a:solidFill>
              <a:prstDash val="solid"/>
              <a:round/>
              <a:headEnd len="sm" w="sm" type="none"/>
              <a:tailEnd len="sm" w="sm" type="none"/>
            </a:ln>
          </p:spPr>
          <p:txBody>
            <a:bodyPr anchorCtr="0" anchor="ctr" bIns="82350" lIns="82350" spcFirstLastPara="1" rIns="82350" wrap="square" tIns="82350">
              <a:noAutofit/>
            </a:bodyPr>
            <a:lstStyle/>
            <a:p>
              <a:pPr indent="0" lvl="0" marL="0" rtl="0" algn="ctr">
                <a:spcBef>
                  <a:spcPts val="0"/>
                </a:spcBef>
                <a:spcAft>
                  <a:spcPts val="0"/>
                </a:spcAft>
                <a:buNone/>
              </a:pPr>
              <a:r>
                <a:rPr b="1" lang="es-419" sz="1261">
                  <a:solidFill>
                    <a:schemeClr val="lt1"/>
                  </a:solidFill>
                  <a:latin typeface="Oswald"/>
                  <a:ea typeface="Oswald"/>
                  <a:cs typeface="Oswald"/>
                  <a:sym typeface="Oswald"/>
                </a:rPr>
                <a:t>✓Supuesto</a:t>
              </a:r>
              <a:endParaRPr b="1" sz="1261">
                <a:solidFill>
                  <a:schemeClr val="lt1"/>
                </a:solidFill>
                <a:latin typeface="Oswald"/>
                <a:ea typeface="Oswald"/>
                <a:cs typeface="Oswald"/>
                <a:sym typeface="Oswald"/>
              </a:endParaRPr>
            </a:p>
          </p:txBody>
        </p:sp>
      </p:grpSp>
      <p:grpSp>
        <p:nvGrpSpPr>
          <p:cNvPr id="410" name="Google Shape;410;p28"/>
          <p:cNvGrpSpPr/>
          <p:nvPr/>
        </p:nvGrpSpPr>
        <p:grpSpPr>
          <a:xfrm>
            <a:off x="2435642" y="2324987"/>
            <a:ext cx="1726912" cy="1143799"/>
            <a:chOff x="588600" y="4852875"/>
            <a:chExt cx="1917300" cy="1269900"/>
          </a:xfrm>
        </p:grpSpPr>
        <p:sp>
          <p:nvSpPr>
            <p:cNvPr id="411" name="Google Shape;411;p28"/>
            <p:cNvSpPr/>
            <p:nvPr/>
          </p:nvSpPr>
          <p:spPr>
            <a:xfrm>
              <a:off x="588600" y="4852875"/>
              <a:ext cx="1917300" cy="1269900"/>
            </a:xfrm>
            <a:prstGeom prst="roundRect">
              <a:avLst>
                <a:gd fmla="val 16667" name="adj"/>
              </a:avLst>
            </a:prstGeom>
            <a:solidFill>
              <a:srgbClr val="161D2D"/>
            </a:solidFill>
            <a:ln cap="flat" cmpd="sng" w="25750">
              <a:solidFill>
                <a:schemeClr val="accent5"/>
              </a:solidFill>
              <a:prstDash val="solid"/>
              <a:round/>
              <a:headEnd len="sm" w="sm" type="none"/>
              <a:tailEnd len="sm" w="sm" type="none"/>
            </a:ln>
          </p:spPr>
          <p:txBody>
            <a:bodyPr anchorCtr="0" anchor="t" bIns="82350" lIns="82350" spcFirstLastPara="1" rIns="82350" wrap="square" tIns="82350">
              <a:noAutofit/>
            </a:bodyPr>
            <a:lstStyle/>
            <a:p>
              <a:pPr indent="0" lvl="0" marL="0" rtl="0" algn="l">
                <a:spcBef>
                  <a:spcPts val="0"/>
                </a:spcBef>
                <a:spcAft>
                  <a:spcPts val="0"/>
                </a:spcAft>
                <a:buNone/>
              </a:pPr>
              <a:r>
                <a:rPr b="1" lang="es-419" sz="1261">
                  <a:solidFill>
                    <a:schemeClr val="lt1"/>
                  </a:solidFill>
                  <a:latin typeface="Oswald"/>
                  <a:ea typeface="Oswald"/>
                  <a:cs typeface="Oswald"/>
                  <a:sym typeface="Oswald"/>
                </a:rPr>
                <a:t>docker-compose.yaml</a:t>
              </a:r>
              <a:endParaRPr b="1" sz="1261">
                <a:solidFill>
                  <a:schemeClr val="lt1"/>
                </a:solidFill>
                <a:latin typeface="Oswald"/>
                <a:ea typeface="Oswald"/>
                <a:cs typeface="Oswald"/>
                <a:sym typeface="Oswald"/>
              </a:endParaRPr>
            </a:p>
            <a:p>
              <a:pPr indent="0" lvl="0" marL="0" rtl="0" algn="l">
                <a:spcBef>
                  <a:spcPts val="0"/>
                </a:spcBef>
                <a:spcAft>
                  <a:spcPts val="0"/>
                </a:spcAft>
                <a:buNone/>
              </a:pPr>
              <a:r>
                <a:rPr lang="es-419" sz="1261">
                  <a:solidFill>
                    <a:schemeClr val="lt1"/>
                  </a:solidFill>
                  <a:latin typeface="Oswald ExtraLight"/>
                  <a:ea typeface="Oswald ExtraLight"/>
                  <a:cs typeface="Oswald ExtraLight"/>
                  <a:sym typeface="Oswald ExtraLight"/>
                </a:rPr>
                <a:t>Separado para kafka</a:t>
              </a:r>
              <a:endParaRPr sz="1261">
                <a:solidFill>
                  <a:schemeClr val="lt1"/>
                </a:solidFill>
                <a:latin typeface="Oswald ExtraLight"/>
                <a:ea typeface="Oswald ExtraLight"/>
                <a:cs typeface="Oswald ExtraLight"/>
                <a:sym typeface="Oswald ExtraLight"/>
              </a:endParaRPr>
            </a:p>
          </p:txBody>
        </p:sp>
        <p:sp>
          <p:nvSpPr>
            <p:cNvPr id="412" name="Google Shape;412;p28"/>
            <p:cNvSpPr/>
            <p:nvPr/>
          </p:nvSpPr>
          <p:spPr>
            <a:xfrm>
              <a:off x="720200" y="5526975"/>
              <a:ext cx="1050900" cy="338100"/>
            </a:xfrm>
            <a:prstGeom prst="roundRect">
              <a:avLst>
                <a:gd fmla="val 16667" name="adj"/>
              </a:avLst>
            </a:prstGeom>
            <a:solidFill>
              <a:schemeClr val="accent5"/>
            </a:solidFill>
            <a:ln cap="flat" cmpd="sng" w="8600">
              <a:solidFill>
                <a:schemeClr val="accent5"/>
              </a:solidFill>
              <a:prstDash val="solid"/>
              <a:round/>
              <a:headEnd len="sm" w="sm" type="none"/>
              <a:tailEnd len="sm" w="sm" type="none"/>
            </a:ln>
          </p:spPr>
          <p:txBody>
            <a:bodyPr anchorCtr="0" anchor="ctr" bIns="82350" lIns="82350" spcFirstLastPara="1" rIns="82350" wrap="square" tIns="82350">
              <a:noAutofit/>
            </a:bodyPr>
            <a:lstStyle/>
            <a:p>
              <a:pPr indent="0" lvl="0" marL="0" marR="0" rtl="0" algn="ctr">
                <a:lnSpc>
                  <a:spcPct val="100000"/>
                </a:lnSpc>
                <a:spcBef>
                  <a:spcPts val="0"/>
                </a:spcBef>
                <a:spcAft>
                  <a:spcPts val="0"/>
                </a:spcAft>
                <a:buNone/>
              </a:pPr>
              <a:r>
                <a:rPr b="1" lang="es-419" sz="1261">
                  <a:solidFill>
                    <a:schemeClr val="lt1"/>
                  </a:solidFill>
                  <a:latin typeface="Oswald"/>
                  <a:ea typeface="Oswald"/>
                  <a:cs typeface="Oswald"/>
                  <a:sym typeface="Oswald"/>
                </a:rPr>
                <a:t>✓Supuesto</a:t>
              </a:r>
              <a:endParaRPr b="1" sz="1261">
                <a:solidFill>
                  <a:schemeClr val="lt1"/>
                </a:solidFill>
                <a:latin typeface="Oswald"/>
                <a:ea typeface="Oswald"/>
                <a:cs typeface="Oswald"/>
                <a:sym typeface="Oswald"/>
              </a:endParaRPr>
            </a:p>
          </p:txBody>
        </p:sp>
      </p:grpSp>
      <p:grpSp>
        <p:nvGrpSpPr>
          <p:cNvPr id="413" name="Google Shape;413;p28"/>
          <p:cNvGrpSpPr/>
          <p:nvPr/>
        </p:nvGrpSpPr>
        <p:grpSpPr>
          <a:xfrm>
            <a:off x="4551208" y="2324973"/>
            <a:ext cx="1726912" cy="1143799"/>
            <a:chOff x="588600" y="4852875"/>
            <a:chExt cx="1917300" cy="1269900"/>
          </a:xfrm>
        </p:grpSpPr>
        <p:sp>
          <p:nvSpPr>
            <p:cNvPr id="414" name="Google Shape;414;p28"/>
            <p:cNvSpPr/>
            <p:nvPr/>
          </p:nvSpPr>
          <p:spPr>
            <a:xfrm>
              <a:off x="588600" y="4852875"/>
              <a:ext cx="1917300" cy="1269900"/>
            </a:xfrm>
            <a:prstGeom prst="roundRect">
              <a:avLst>
                <a:gd fmla="val 16667" name="adj"/>
              </a:avLst>
            </a:prstGeom>
            <a:solidFill>
              <a:srgbClr val="161D2D"/>
            </a:solidFill>
            <a:ln cap="flat" cmpd="sng" w="25750">
              <a:solidFill>
                <a:schemeClr val="accent5"/>
              </a:solidFill>
              <a:prstDash val="solid"/>
              <a:round/>
              <a:headEnd len="sm" w="sm" type="none"/>
              <a:tailEnd len="sm" w="sm" type="none"/>
            </a:ln>
          </p:spPr>
          <p:txBody>
            <a:bodyPr anchorCtr="0" anchor="t" bIns="82350" lIns="82350" spcFirstLastPara="1" rIns="82350" wrap="square" tIns="82350">
              <a:noAutofit/>
            </a:bodyPr>
            <a:lstStyle/>
            <a:p>
              <a:pPr indent="0" lvl="0" marL="0" rtl="0" algn="l">
                <a:spcBef>
                  <a:spcPts val="0"/>
                </a:spcBef>
                <a:spcAft>
                  <a:spcPts val="0"/>
                </a:spcAft>
                <a:buNone/>
              </a:pPr>
              <a:r>
                <a:rPr b="1" lang="es-419" sz="1261">
                  <a:solidFill>
                    <a:schemeClr val="lt1"/>
                  </a:solidFill>
                  <a:latin typeface="Oswald"/>
                  <a:ea typeface="Oswald"/>
                  <a:cs typeface="Oswald"/>
                  <a:sym typeface="Oswald"/>
                </a:rPr>
                <a:t>Continuidad Simulada</a:t>
              </a:r>
              <a:endParaRPr b="1" sz="1261">
                <a:solidFill>
                  <a:schemeClr val="lt1"/>
                </a:solidFill>
                <a:latin typeface="Oswald"/>
                <a:ea typeface="Oswald"/>
                <a:cs typeface="Oswald"/>
                <a:sym typeface="Oswald"/>
              </a:endParaRPr>
            </a:p>
            <a:p>
              <a:pPr indent="0" lvl="0" marL="0" rtl="0" algn="l">
                <a:spcBef>
                  <a:spcPts val="0"/>
                </a:spcBef>
                <a:spcAft>
                  <a:spcPts val="0"/>
                </a:spcAft>
                <a:buNone/>
              </a:pPr>
              <a:r>
                <a:rPr lang="es-419" sz="1261">
                  <a:solidFill>
                    <a:schemeClr val="lt1"/>
                  </a:solidFill>
                  <a:latin typeface="Oswald ExtraLight"/>
                  <a:ea typeface="Oswald ExtraLight"/>
                  <a:cs typeface="Oswald ExtraLight"/>
                  <a:sym typeface="Oswald ExtraLight"/>
                </a:rPr>
                <a:t>re-consulta en bucle</a:t>
              </a:r>
              <a:endParaRPr sz="1261">
                <a:solidFill>
                  <a:schemeClr val="lt1"/>
                </a:solidFill>
                <a:latin typeface="Oswald ExtraLight"/>
                <a:ea typeface="Oswald ExtraLight"/>
                <a:cs typeface="Oswald ExtraLight"/>
                <a:sym typeface="Oswald ExtraLight"/>
              </a:endParaRPr>
            </a:p>
          </p:txBody>
        </p:sp>
        <p:sp>
          <p:nvSpPr>
            <p:cNvPr id="415" name="Google Shape;415;p28"/>
            <p:cNvSpPr/>
            <p:nvPr/>
          </p:nvSpPr>
          <p:spPr>
            <a:xfrm>
              <a:off x="720200" y="5526975"/>
              <a:ext cx="1050900" cy="338100"/>
            </a:xfrm>
            <a:prstGeom prst="roundRect">
              <a:avLst>
                <a:gd fmla="val 16667" name="adj"/>
              </a:avLst>
            </a:prstGeom>
            <a:solidFill>
              <a:schemeClr val="accent5"/>
            </a:solidFill>
            <a:ln cap="flat" cmpd="sng" w="8600">
              <a:solidFill>
                <a:schemeClr val="accent5"/>
              </a:solidFill>
              <a:prstDash val="solid"/>
              <a:round/>
              <a:headEnd len="sm" w="sm" type="none"/>
              <a:tailEnd len="sm" w="sm" type="none"/>
            </a:ln>
          </p:spPr>
          <p:txBody>
            <a:bodyPr anchorCtr="0" anchor="ctr" bIns="82350" lIns="82350" spcFirstLastPara="1" rIns="82350" wrap="square" tIns="82350">
              <a:noAutofit/>
            </a:bodyPr>
            <a:lstStyle/>
            <a:p>
              <a:pPr indent="0" lvl="0" marL="0" rtl="0" algn="ctr">
                <a:spcBef>
                  <a:spcPts val="0"/>
                </a:spcBef>
                <a:spcAft>
                  <a:spcPts val="0"/>
                </a:spcAft>
                <a:buNone/>
              </a:pPr>
              <a:r>
                <a:rPr b="1" lang="es-419" sz="1261">
                  <a:solidFill>
                    <a:schemeClr val="lt1"/>
                  </a:solidFill>
                  <a:latin typeface="Oswald"/>
                  <a:ea typeface="Oswald"/>
                  <a:cs typeface="Oswald"/>
                  <a:sym typeface="Oswald"/>
                </a:rPr>
                <a:t>✓Supuesto</a:t>
              </a:r>
              <a:endParaRPr b="1" sz="1261">
                <a:solidFill>
                  <a:schemeClr val="lt1"/>
                </a:solidFill>
                <a:latin typeface="Oswald"/>
                <a:ea typeface="Oswald"/>
                <a:cs typeface="Oswald"/>
                <a:sym typeface="Oswald"/>
              </a:endParaRPr>
            </a:p>
          </p:txBody>
        </p:sp>
      </p:grpSp>
      <p:grpSp>
        <p:nvGrpSpPr>
          <p:cNvPr id="416" name="Google Shape;416;p28"/>
          <p:cNvGrpSpPr/>
          <p:nvPr/>
        </p:nvGrpSpPr>
        <p:grpSpPr>
          <a:xfrm>
            <a:off x="6666775" y="2324975"/>
            <a:ext cx="1852019" cy="1143799"/>
            <a:chOff x="588586" y="4852881"/>
            <a:chExt cx="2056200" cy="1269900"/>
          </a:xfrm>
        </p:grpSpPr>
        <p:sp>
          <p:nvSpPr>
            <p:cNvPr id="417" name="Google Shape;417;p28"/>
            <p:cNvSpPr/>
            <p:nvPr/>
          </p:nvSpPr>
          <p:spPr>
            <a:xfrm>
              <a:off x="588586" y="4852881"/>
              <a:ext cx="2056200" cy="1269900"/>
            </a:xfrm>
            <a:prstGeom prst="roundRect">
              <a:avLst>
                <a:gd fmla="val 16667" name="adj"/>
              </a:avLst>
            </a:prstGeom>
            <a:solidFill>
              <a:srgbClr val="161D2D"/>
            </a:solidFill>
            <a:ln cap="flat" cmpd="sng" w="25750">
              <a:solidFill>
                <a:schemeClr val="accent5"/>
              </a:solidFill>
              <a:prstDash val="solid"/>
              <a:round/>
              <a:headEnd len="sm" w="sm" type="none"/>
              <a:tailEnd len="sm" w="sm" type="none"/>
            </a:ln>
          </p:spPr>
          <p:txBody>
            <a:bodyPr anchorCtr="0" anchor="t" bIns="82350" lIns="82350" spcFirstLastPara="1" rIns="82350" wrap="square" tIns="82350">
              <a:noAutofit/>
            </a:bodyPr>
            <a:lstStyle/>
            <a:p>
              <a:pPr indent="0" lvl="0" marL="0" rtl="0" algn="l">
                <a:spcBef>
                  <a:spcPts val="0"/>
                </a:spcBef>
                <a:spcAft>
                  <a:spcPts val="0"/>
                </a:spcAft>
                <a:buNone/>
              </a:pPr>
              <a:r>
                <a:rPr b="1" lang="es-419" sz="1261">
                  <a:solidFill>
                    <a:schemeClr val="lt1"/>
                  </a:solidFill>
                  <a:latin typeface="Oswald"/>
                  <a:ea typeface="Oswald"/>
                  <a:cs typeface="Oswald"/>
                  <a:sym typeface="Oswald"/>
                </a:rPr>
                <a:t>Proxy de departamento</a:t>
              </a:r>
              <a:endParaRPr b="1" sz="1261">
                <a:solidFill>
                  <a:schemeClr val="lt1"/>
                </a:solidFill>
                <a:latin typeface="Oswald"/>
                <a:ea typeface="Oswald"/>
                <a:cs typeface="Oswald"/>
                <a:sym typeface="Oswald"/>
              </a:endParaRPr>
            </a:p>
            <a:p>
              <a:pPr indent="0" lvl="0" marL="0" rtl="0" algn="l">
                <a:spcBef>
                  <a:spcPts val="0"/>
                </a:spcBef>
                <a:spcAft>
                  <a:spcPts val="0"/>
                </a:spcAft>
                <a:buNone/>
              </a:pPr>
              <a:r>
                <a:rPr lang="es-419" sz="1261">
                  <a:solidFill>
                    <a:schemeClr val="lt1"/>
                  </a:solidFill>
                  <a:latin typeface="Oswald ExtraLight"/>
                  <a:ea typeface="Oswald ExtraLight"/>
                  <a:cs typeface="Oswald ExtraLight"/>
                  <a:sym typeface="Oswald ExtraLight"/>
                </a:rPr>
                <a:t>heredado de entrega II</a:t>
              </a:r>
              <a:endParaRPr sz="1261">
                <a:solidFill>
                  <a:schemeClr val="lt1"/>
                </a:solidFill>
                <a:latin typeface="Oswald ExtraLight"/>
                <a:ea typeface="Oswald ExtraLight"/>
                <a:cs typeface="Oswald ExtraLight"/>
                <a:sym typeface="Oswald ExtraLight"/>
              </a:endParaRPr>
            </a:p>
          </p:txBody>
        </p:sp>
        <p:sp>
          <p:nvSpPr>
            <p:cNvPr id="418" name="Google Shape;418;p28"/>
            <p:cNvSpPr/>
            <p:nvPr/>
          </p:nvSpPr>
          <p:spPr>
            <a:xfrm>
              <a:off x="720200" y="5526975"/>
              <a:ext cx="1050900" cy="338100"/>
            </a:xfrm>
            <a:prstGeom prst="roundRect">
              <a:avLst>
                <a:gd fmla="val 16667" name="adj"/>
              </a:avLst>
            </a:prstGeom>
            <a:solidFill>
              <a:schemeClr val="accent5"/>
            </a:solidFill>
            <a:ln cap="flat" cmpd="sng" w="8600">
              <a:solidFill>
                <a:schemeClr val="accent5"/>
              </a:solidFill>
              <a:prstDash val="solid"/>
              <a:round/>
              <a:headEnd len="sm" w="sm" type="none"/>
              <a:tailEnd len="sm" w="sm" type="none"/>
            </a:ln>
          </p:spPr>
          <p:txBody>
            <a:bodyPr anchorCtr="0" anchor="ctr" bIns="82350" lIns="82350" spcFirstLastPara="1" rIns="82350" wrap="square" tIns="82350">
              <a:noAutofit/>
            </a:bodyPr>
            <a:lstStyle/>
            <a:p>
              <a:pPr indent="0" lvl="0" marL="0" rtl="0" algn="ctr">
                <a:spcBef>
                  <a:spcPts val="0"/>
                </a:spcBef>
                <a:spcAft>
                  <a:spcPts val="0"/>
                </a:spcAft>
                <a:buNone/>
              </a:pPr>
              <a:r>
                <a:rPr b="1" lang="es-419" sz="1261">
                  <a:solidFill>
                    <a:schemeClr val="lt1"/>
                  </a:solidFill>
                  <a:latin typeface="Oswald"/>
                  <a:ea typeface="Oswald"/>
                  <a:cs typeface="Oswald"/>
                  <a:sym typeface="Oswald"/>
                </a:rPr>
                <a:t>✓Supuesto</a:t>
              </a:r>
              <a:endParaRPr b="1" sz="1261">
                <a:solidFill>
                  <a:schemeClr val="lt1"/>
                </a:solidFill>
                <a:latin typeface="Oswald"/>
                <a:ea typeface="Oswald"/>
                <a:cs typeface="Oswald"/>
                <a:sym typeface="Oswald"/>
              </a:endParaRPr>
            </a:p>
          </p:txBody>
        </p:sp>
      </p:grpSp>
      <p:grpSp>
        <p:nvGrpSpPr>
          <p:cNvPr id="419" name="Google Shape;419;p28"/>
          <p:cNvGrpSpPr/>
          <p:nvPr/>
        </p:nvGrpSpPr>
        <p:grpSpPr>
          <a:xfrm>
            <a:off x="8782341" y="2324970"/>
            <a:ext cx="1726912" cy="1143799"/>
            <a:chOff x="588600" y="4852875"/>
            <a:chExt cx="1917300" cy="1269900"/>
          </a:xfrm>
        </p:grpSpPr>
        <p:sp>
          <p:nvSpPr>
            <p:cNvPr id="420" name="Google Shape;420;p28"/>
            <p:cNvSpPr/>
            <p:nvPr/>
          </p:nvSpPr>
          <p:spPr>
            <a:xfrm>
              <a:off x="588600" y="4852875"/>
              <a:ext cx="1917300" cy="1269900"/>
            </a:xfrm>
            <a:prstGeom prst="roundRect">
              <a:avLst>
                <a:gd fmla="val 16667" name="adj"/>
              </a:avLst>
            </a:prstGeom>
            <a:solidFill>
              <a:srgbClr val="161D2D"/>
            </a:solidFill>
            <a:ln cap="flat" cmpd="sng" w="25750">
              <a:solidFill>
                <a:schemeClr val="accent5"/>
              </a:solidFill>
              <a:prstDash val="solid"/>
              <a:round/>
              <a:headEnd len="sm" w="sm" type="none"/>
              <a:tailEnd len="sm" w="sm" type="none"/>
            </a:ln>
          </p:spPr>
          <p:txBody>
            <a:bodyPr anchorCtr="0" anchor="t" bIns="82350" lIns="82350" spcFirstLastPara="1" rIns="82350" wrap="square" tIns="82350">
              <a:noAutofit/>
            </a:bodyPr>
            <a:lstStyle/>
            <a:p>
              <a:pPr indent="0" lvl="0" marL="0" rtl="0" algn="l">
                <a:spcBef>
                  <a:spcPts val="0"/>
                </a:spcBef>
                <a:spcAft>
                  <a:spcPts val="0"/>
                </a:spcAft>
                <a:buNone/>
              </a:pPr>
              <a:r>
                <a:rPr b="1" lang="es-419" sz="1261">
                  <a:solidFill>
                    <a:schemeClr val="lt1"/>
                  </a:solidFill>
                  <a:latin typeface="Oswald"/>
                  <a:ea typeface="Oswald"/>
                  <a:cs typeface="Oswald"/>
                  <a:sym typeface="Oswald"/>
                </a:rPr>
                <a:t>Consumer</a:t>
              </a:r>
              <a:endParaRPr b="1" sz="1261">
                <a:solidFill>
                  <a:schemeClr val="lt1"/>
                </a:solidFill>
                <a:latin typeface="Oswald"/>
                <a:ea typeface="Oswald"/>
                <a:cs typeface="Oswald"/>
                <a:sym typeface="Oswald"/>
              </a:endParaRPr>
            </a:p>
            <a:p>
              <a:pPr indent="0" lvl="0" marL="0" rtl="0" algn="l">
                <a:spcBef>
                  <a:spcPts val="0"/>
                </a:spcBef>
                <a:spcAft>
                  <a:spcPts val="0"/>
                </a:spcAft>
                <a:buNone/>
              </a:pPr>
              <a:r>
                <a:rPr lang="es-419" sz="1261">
                  <a:solidFill>
                    <a:schemeClr val="lt1"/>
                  </a:solidFill>
                  <a:latin typeface="Oswald ExtraLight"/>
                  <a:ea typeface="Oswald ExtraLight"/>
                  <a:cs typeface="Oswald ExtraLight"/>
                  <a:sym typeface="Oswald ExtraLight"/>
                </a:rPr>
                <a:t>Con group_id fijo e </a:t>
              </a:r>
              <a:r>
                <a:rPr lang="es-419" sz="1261">
                  <a:solidFill>
                    <a:schemeClr val="lt1"/>
                  </a:solidFill>
                  <a:latin typeface="Oswald ExtraLight"/>
                  <a:ea typeface="Oswald ExtraLight"/>
                  <a:cs typeface="Oswald ExtraLight"/>
                  <a:sym typeface="Oswald ExtraLight"/>
                </a:rPr>
                <a:t>histórico</a:t>
              </a:r>
              <a:endParaRPr sz="1261">
                <a:solidFill>
                  <a:schemeClr val="lt1"/>
                </a:solidFill>
                <a:latin typeface="Oswald ExtraLight"/>
                <a:ea typeface="Oswald ExtraLight"/>
                <a:cs typeface="Oswald ExtraLight"/>
                <a:sym typeface="Oswald ExtraLight"/>
              </a:endParaRPr>
            </a:p>
          </p:txBody>
        </p:sp>
        <p:sp>
          <p:nvSpPr>
            <p:cNvPr id="421" name="Google Shape;421;p28"/>
            <p:cNvSpPr/>
            <p:nvPr/>
          </p:nvSpPr>
          <p:spPr>
            <a:xfrm>
              <a:off x="720200" y="5526975"/>
              <a:ext cx="1050900" cy="338100"/>
            </a:xfrm>
            <a:prstGeom prst="roundRect">
              <a:avLst>
                <a:gd fmla="val 16667" name="adj"/>
              </a:avLst>
            </a:prstGeom>
            <a:solidFill>
              <a:schemeClr val="accent5"/>
            </a:solidFill>
            <a:ln cap="flat" cmpd="sng" w="8600">
              <a:solidFill>
                <a:schemeClr val="accent5"/>
              </a:solidFill>
              <a:prstDash val="solid"/>
              <a:round/>
              <a:headEnd len="sm" w="sm" type="none"/>
              <a:tailEnd len="sm" w="sm" type="none"/>
            </a:ln>
          </p:spPr>
          <p:txBody>
            <a:bodyPr anchorCtr="0" anchor="ctr" bIns="82350" lIns="82350" spcFirstLastPara="1" rIns="82350" wrap="square" tIns="82350">
              <a:noAutofit/>
            </a:bodyPr>
            <a:lstStyle/>
            <a:p>
              <a:pPr indent="0" lvl="0" marL="0" rtl="0" algn="ctr">
                <a:spcBef>
                  <a:spcPts val="0"/>
                </a:spcBef>
                <a:spcAft>
                  <a:spcPts val="0"/>
                </a:spcAft>
                <a:buNone/>
              </a:pPr>
              <a:r>
                <a:rPr b="1" lang="es-419" sz="1261">
                  <a:solidFill>
                    <a:schemeClr val="lt1"/>
                  </a:solidFill>
                  <a:latin typeface="Oswald"/>
                  <a:ea typeface="Oswald"/>
                  <a:cs typeface="Oswald"/>
                  <a:sym typeface="Oswald"/>
                </a:rPr>
                <a:t>✓Supuesto</a:t>
              </a:r>
              <a:endParaRPr b="1" sz="1261">
                <a:solidFill>
                  <a:schemeClr val="lt1"/>
                </a:solidFill>
                <a:latin typeface="Oswald"/>
                <a:ea typeface="Oswald"/>
                <a:cs typeface="Oswald"/>
                <a:sym typeface="Oswald"/>
              </a:endParaRPr>
            </a:p>
          </p:txBody>
        </p:sp>
      </p:grpSp>
      <p:grpSp>
        <p:nvGrpSpPr>
          <p:cNvPr id="422" name="Google Shape;422;p28"/>
          <p:cNvGrpSpPr/>
          <p:nvPr/>
        </p:nvGrpSpPr>
        <p:grpSpPr>
          <a:xfrm>
            <a:off x="328210" y="5256302"/>
            <a:ext cx="1429155" cy="1060747"/>
            <a:chOff x="588600" y="4852875"/>
            <a:chExt cx="1917300" cy="1269900"/>
          </a:xfrm>
        </p:grpSpPr>
        <p:sp>
          <p:nvSpPr>
            <p:cNvPr id="423" name="Google Shape;423;p28"/>
            <p:cNvSpPr/>
            <p:nvPr/>
          </p:nvSpPr>
          <p:spPr>
            <a:xfrm>
              <a:off x="588600" y="4852875"/>
              <a:ext cx="1917300" cy="1269900"/>
            </a:xfrm>
            <a:prstGeom prst="roundRect">
              <a:avLst>
                <a:gd fmla="val 16667" name="adj"/>
              </a:avLst>
            </a:prstGeom>
            <a:solidFill>
              <a:srgbClr val="161D2D"/>
            </a:solidFill>
            <a:ln cap="flat" cmpd="sng" w="23875">
              <a:solidFill>
                <a:srgbClr val="FBBD05"/>
              </a:solidFill>
              <a:prstDash val="solid"/>
              <a:round/>
              <a:headEnd len="sm" w="sm" type="none"/>
              <a:tailEnd len="sm" w="sm" type="none"/>
            </a:ln>
          </p:spPr>
          <p:txBody>
            <a:bodyPr anchorCtr="0" anchor="t" bIns="76375" lIns="76375" spcFirstLastPara="1" rIns="76375" wrap="square" tIns="76375">
              <a:noAutofit/>
            </a:bodyPr>
            <a:lstStyle/>
            <a:p>
              <a:pPr indent="0" lvl="0" marL="0" rtl="0" algn="l">
                <a:spcBef>
                  <a:spcPts val="0"/>
                </a:spcBef>
                <a:spcAft>
                  <a:spcPts val="0"/>
                </a:spcAft>
                <a:buNone/>
              </a:pPr>
              <a:r>
                <a:rPr b="1" lang="es-419" sz="1170">
                  <a:solidFill>
                    <a:schemeClr val="lt1"/>
                  </a:solidFill>
                  <a:latin typeface="Oswald"/>
                  <a:ea typeface="Oswald"/>
                  <a:cs typeface="Oswald"/>
                  <a:sym typeface="Oswald"/>
                </a:rPr>
                <a:t>DW </a:t>
              </a:r>
              <a:r>
                <a:rPr b="1" lang="es-419" sz="1170">
                  <a:solidFill>
                    <a:schemeClr val="lt1"/>
                  </a:solidFill>
                  <a:latin typeface="Oswald"/>
                  <a:ea typeface="Oswald"/>
                  <a:cs typeface="Oswald"/>
                  <a:sym typeface="Oswald"/>
                </a:rPr>
                <a:t>estático</a:t>
              </a:r>
              <a:endParaRPr b="1" sz="1170">
                <a:solidFill>
                  <a:schemeClr val="lt1"/>
                </a:solidFill>
                <a:latin typeface="Oswald"/>
                <a:ea typeface="Oswald"/>
                <a:cs typeface="Oswald"/>
                <a:sym typeface="Oswald"/>
              </a:endParaRPr>
            </a:p>
            <a:p>
              <a:pPr indent="0" lvl="0" marL="0" rtl="0" algn="l">
                <a:spcBef>
                  <a:spcPts val="0"/>
                </a:spcBef>
                <a:spcAft>
                  <a:spcPts val="0"/>
                </a:spcAft>
                <a:buNone/>
              </a:pPr>
              <a:r>
                <a:rPr lang="es-419" sz="1170">
                  <a:solidFill>
                    <a:schemeClr val="lt1"/>
                  </a:solidFill>
                  <a:latin typeface="Oswald ExtraLight"/>
                  <a:ea typeface="Oswald ExtraLight"/>
                  <a:cs typeface="Oswald ExtraLight"/>
                  <a:sym typeface="Oswald ExtraLight"/>
                </a:rPr>
                <a:t>No hay novedad</a:t>
              </a:r>
              <a:endParaRPr sz="1170">
                <a:solidFill>
                  <a:schemeClr val="lt1"/>
                </a:solidFill>
                <a:latin typeface="Oswald ExtraLight"/>
                <a:ea typeface="Oswald ExtraLight"/>
                <a:cs typeface="Oswald ExtraLight"/>
                <a:sym typeface="Oswald ExtraLight"/>
              </a:endParaRPr>
            </a:p>
          </p:txBody>
        </p:sp>
        <p:sp>
          <p:nvSpPr>
            <p:cNvPr id="424" name="Google Shape;424;p28"/>
            <p:cNvSpPr/>
            <p:nvPr/>
          </p:nvSpPr>
          <p:spPr>
            <a:xfrm>
              <a:off x="720194" y="5526972"/>
              <a:ext cx="1295100" cy="338100"/>
            </a:xfrm>
            <a:prstGeom prst="roundRect">
              <a:avLst>
                <a:gd fmla="val 16667" name="adj"/>
              </a:avLst>
            </a:prstGeom>
            <a:solidFill>
              <a:srgbClr val="FBBD05"/>
            </a:solidFill>
            <a:ln cap="flat" cmpd="sng" w="7975">
              <a:solidFill>
                <a:srgbClr val="FBBD05"/>
              </a:solidFill>
              <a:prstDash val="solid"/>
              <a:round/>
              <a:headEnd len="sm" w="sm" type="none"/>
              <a:tailEnd len="sm" w="sm" type="none"/>
            </a:ln>
          </p:spPr>
          <p:txBody>
            <a:bodyPr anchorCtr="0" anchor="ctr" bIns="76375" lIns="76375" spcFirstLastPara="1" rIns="76375" wrap="square" tIns="76375">
              <a:noAutofit/>
            </a:bodyPr>
            <a:lstStyle/>
            <a:p>
              <a:pPr indent="0" lvl="0" marL="0" rtl="0" algn="ctr">
                <a:spcBef>
                  <a:spcPts val="0"/>
                </a:spcBef>
                <a:spcAft>
                  <a:spcPts val="0"/>
                </a:spcAft>
                <a:buNone/>
              </a:pPr>
              <a:r>
                <a:rPr b="1" lang="es-419" sz="1170">
                  <a:solidFill>
                    <a:schemeClr val="lt1"/>
                  </a:solidFill>
                  <a:latin typeface="Oswald"/>
                  <a:ea typeface="Oswald"/>
                  <a:cs typeface="Oswald"/>
                  <a:sym typeface="Oswald"/>
                </a:rPr>
                <a:t>✓Limitaci</a:t>
              </a:r>
              <a:r>
                <a:rPr b="1" lang="es-419" sz="1170">
                  <a:solidFill>
                    <a:schemeClr val="lt1"/>
                  </a:solidFill>
                  <a:latin typeface="Oswald"/>
                  <a:ea typeface="Oswald"/>
                  <a:cs typeface="Oswald"/>
                  <a:sym typeface="Oswald"/>
                </a:rPr>
                <a:t>ón</a:t>
              </a:r>
              <a:endParaRPr b="1" sz="1170">
                <a:solidFill>
                  <a:schemeClr val="lt1"/>
                </a:solidFill>
                <a:latin typeface="Oswald"/>
                <a:ea typeface="Oswald"/>
                <a:cs typeface="Oswald"/>
                <a:sym typeface="Oswald"/>
              </a:endParaRPr>
            </a:p>
          </p:txBody>
        </p:sp>
      </p:grpSp>
      <p:grpSp>
        <p:nvGrpSpPr>
          <p:cNvPr id="425" name="Google Shape;425;p28"/>
          <p:cNvGrpSpPr/>
          <p:nvPr/>
        </p:nvGrpSpPr>
        <p:grpSpPr>
          <a:xfrm>
            <a:off x="2079141" y="5256302"/>
            <a:ext cx="1429155" cy="1060747"/>
            <a:chOff x="588600" y="4852875"/>
            <a:chExt cx="1917300" cy="1269900"/>
          </a:xfrm>
        </p:grpSpPr>
        <p:sp>
          <p:nvSpPr>
            <p:cNvPr id="426" name="Google Shape;426;p28"/>
            <p:cNvSpPr/>
            <p:nvPr/>
          </p:nvSpPr>
          <p:spPr>
            <a:xfrm>
              <a:off x="588600" y="4852875"/>
              <a:ext cx="1917300" cy="1269900"/>
            </a:xfrm>
            <a:prstGeom prst="roundRect">
              <a:avLst>
                <a:gd fmla="val 16667" name="adj"/>
              </a:avLst>
            </a:prstGeom>
            <a:solidFill>
              <a:srgbClr val="161D2D"/>
            </a:solidFill>
            <a:ln cap="flat" cmpd="sng" w="23875">
              <a:solidFill>
                <a:srgbClr val="FBBD05"/>
              </a:solidFill>
              <a:prstDash val="solid"/>
              <a:round/>
              <a:headEnd len="sm" w="sm" type="none"/>
              <a:tailEnd len="sm" w="sm" type="none"/>
            </a:ln>
          </p:spPr>
          <p:txBody>
            <a:bodyPr anchorCtr="0" anchor="t" bIns="76375" lIns="76375" spcFirstLastPara="1" rIns="76375" wrap="square" tIns="76375">
              <a:noAutofit/>
            </a:bodyPr>
            <a:lstStyle/>
            <a:p>
              <a:pPr indent="0" lvl="0" marL="0" rtl="0" algn="l">
                <a:spcBef>
                  <a:spcPts val="0"/>
                </a:spcBef>
                <a:spcAft>
                  <a:spcPts val="0"/>
                </a:spcAft>
                <a:buNone/>
              </a:pPr>
              <a:r>
                <a:rPr b="1" lang="es-419" sz="1170">
                  <a:solidFill>
                    <a:schemeClr val="lt1"/>
                  </a:solidFill>
                  <a:latin typeface="Oswald"/>
                  <a:ea typeface="Oswald"/>
                  <a:cs typeface="Oswald"/>
                  <a:sym typeface="Oswald"/>
                </a:rPr>
                <a:t>Broker</a:t>
              </a:r>
              <a:endParaRPr b="1" sz="1170">
                <a:solidFill>
                  <a:schemeClr val="lt1"/>
                </a:solidFill>
                <a:latin typeface="Oswald"/>
                <a:ea typeface="Oswald"/>
                <a:cs typeface="Oswald"/>
                <a:sym typeface="Oswald"/>
              </a:endParaRPr>
            </a:p>
            <a:p>
              <a:pPr indent="0" lvl="0" marL="0" rtl="0" algn="l">
                <a:spcBef>
                  <a:spcPts val="0"/>
                </a:spcBef>
                <a:spcAft>
                  <a:spcPts val="0"/>
                </a:spcAft>
                <a:buNone/>
              </a:pPr>
              <a:r>
                <a:rPr lang="es-419" sz="1170">
                  <a:solidFill>
                    <a:schemeClr val="lt1"/>
                  </a:solidFill>
                  <a:latin typeface="Oswald ExtraLight"/>
                  <a:ea typeface="Oswald ExtraLight"/>
                  <a:cs typeface="Oswald ExtraLight"/>
                  <a:sym typeface="Oswald ExtraLight"/>
                </a:rPr>
                <a:t>De un solo nodo</a:t>
              </a:r>
              <a:endParaRPr sz="1170">
                <a:solidFill>
                  <a:schemeClr val="lt1"/>
                </a:solidFill>
                <a:latin typeface="Oswald ExtraLight"/>
                <a:ea typeface="Oswald ExtraLight"/>
                <a:cs typeface="Oswald ExtraLight"/>
                <a:sym typeface="Oswald ExtraLight"/>
              </a:endParaRPr>
            </a:p>
          </p:txBody>
        </p:sp>
        <p:sp>
          <p:nvSpPr>
            <p:cNvPr id="427" name="Google Shape;427;p28"/>
            <p:cNvSpPr/>
            <p:nvPr/>
          </p:nvSpPr>
          <p:spPr>
            <a:xfrm>
              <a:off x="720186" y="5526972"/>
              <a:ext cx="1301400" cy="338100"/>
            </a:xfrm>
            <a:prstGeom prst="roundRect">
              <a:avLst>
                <a:gd fmla="val 16667" name="adj"/>
              </a:avLst>
            </a:prstGeom>
            <a:solidFill>
              <a:srgbClr val="FBBD05"/>
            </a:solidFill>
            <a:ln cap="flat" cmpd="sng" w="7975">
              <a:solidFill>
                <a:srgbClr val="FBBD05"/>
              </a:solidFill>
              <a:prstDash val="solid"/>
              <a:round/>
              <a:headEnd len="sm" w="sm" type="none"/>
              <a:tailEnd len="sm" w="sm" type="none"/>
            </a:ln>
          </p:spPr>
          <p:txBody>
            <a:bodyPr anchorCtr="0" anchor="ctr" bIns="76375" lIns="76375" spcFirstLastPara="1" rIns="76375" wrap="square" tIns="76375">
              <a:noAutofit/>
            </a:bodyPr>
            <a:lstStyle/>
            <a:p>
              <a:pPr indent="0" lvl="0" marL="0" rtl="0" algn="ctr">
                <a:spcBef>
                  <a:spcPts val="0"/>
                </a:spcBef>
                <a:spcAft>
                  <a:spcPts val="0"/>
                </a:spcAft>
                <a:buNone/>
              </a:pPr>
              <a:r>
                <a:rPr b="1" lang="es-419" sz="1170">
                  <a:solidFill>
                    <a:schemeClr val="lt1"/>
                  </a:solidFill>
                  <a:latin typeface="Oswald"/>
                  <a:ea typeface="Oswald"/>
                  <a:cs typeface="Oswald"/>
                  <a:sym typeface="Oswald"/>
                </a:rPr>
                <a:t>✓Limitaci</a:t>
              </a:r>
              <a:r>
                <a:rPr b="1" lang="es-419" sz="1170">
                  <a:solidFill>
                    <a:schemeClr val="lt1"/>
                  </a:solidFill>
                  <a:latin typeface="Oswald"/>
                  <a:ea typeface="Oswald"/>
                  <a:cs typeface="Oswald"/>
                  <a:sym typeface="Oswald"/>
                </a:rPr>
                <a:t>ón</a:t>
              </a:r>
              <a:endParaRPr b="1" sz="1170">
                <a:solidFill>
                  <a:schemeClr val="lt1"/>
                </a:solidFill>
                <a:latin typeface="Oswald"/>
                <a:ea typeface="Oswald"/>
                <a:cs typeface="Oswald"/>
                <a:sym typeface="Oswald"/>
              </a:endParaRPr>
            </a:p>
          </p:txBody>
        </p:sp>
      </p:grpSp>
      <p:grpSp>
        <p:nvGrpSpPr>
          <p:cNvPr id="428" name="Google Shape;428;p28"/>
          <p:cNvGrpSpPr/>
          <p:nvPr/>
        </p:nvGrpSpPr>
        <p:grpSpPr>
          <a:xfrm>
            <a:off x="3830072" y="5256289"/>
            <a:ext cx="1429155" cy="1060747"/>
            <a:chOff x="588600" y="4852875"/>
            <a:chExt cx="1917300" cy="1269900"/>
          </a:xfrm>
        </p:grpSpPr>
        <p:sp>
          <p:nvSpPr>
            <p:cNvPr id="429" name="Google Shape;429;p28"/>
            <p:cNvSpPr/>
            <p:nvPr/>
          </p:nvSpPr>
          <p:spPr>
            <a:xfrm>
              <a:off x="588600" y="4852875"/>
              <a:ext cx="1917300" cy="1269900"/>
            </a:xfrm>
            <a:prstGeom prst="roundRect">
              <a:avLst>
                <a:gd fmla="val 16667" name="adj"/>
              </a:avLst>
            </a:prstGeom>
            <a:solidFill>
              <a:srgbClr val="161D2D"/>
            </a:solidFill>
            <a:ln cap="flat" cmpd="sng" w="23875">
              <a:solidFill>
                <a:srgbClr val="FBBD05"/>
              </a:solidFill>
              <a:prstDash val="solid"/>
              <a:round/>
              <a:headEnd len="sm" w="sm" type="none"/>
              <a:tailEnd len="sm" w="sm" type="none"/>
            </a:ln>
          </p:spPr>
          <p:txBody>
            <a:bodyPr anchorCtr="0" anchor="t" bIns="76375" lIns="76375" spcFirstLastPara="1" rIns="76375" wrap="square" tIns="76375">
              <a:noAutofit/>
            </a:bodyPr>
            <a:lstStyle/>
            <a:p>
              <a:pPr indent="0" lvl="0" marL="0" rtl="0" algn="l">
                <a:spcBef>
                  <a:spcPts val="0"/>
                </a:spcBef>
                <a:spcAft>
                  <a:spcPts val="0"/>
                </a:spcAft>
                <a:buNone/>
              </a:pPr>
              <a:r>
                <a:rPr b="1" lang="es-419" sz="1170">
                  <a:solidFill>
                    <a:schemeClr val="lt1"/>
                  </a:solidFill>
                  <a:latin typeface="Oswald"/>
                  <a:ea typeface="Oswald"/>
                  <a:cs typeface="Oswald"/>
                  <a:sym typeface="Oswald"/>
                </a:rPr>
                <a:t>Grano</a:t>
              </a:r>
              <a:endParaRPr b="1" sz="1170">
                <a:solidFill>
                  <a:schemeClr val="lt1"/>
                </a:solidFill>
                <a:latin typeface="Oswald"/>
                <a:ea typeface="Oswald"/>
                <a:cs typeface="Oswald"/>
                <a:sym typeface="Oswald"/>
              </a:endParaRPr>
            </a:p>
            <a:p>
              <a:pPr indent="0" lvl="0" marL="0" rtl="0" algn="l">
                <a:spcBef>
                  <a:spcPts val="0"/>
                </a:spcBef>
                <a:spcAft>
                  <a:spcPts val="0"/>
                </a:spcAft>
                <a:buNone/>
              </a:pPr>
              <a:r>
                <a:rPr lang="es-419" sz="1170">
                  <a:solidFill>
                    <a:schemeClr val="lt1"/>
                  </a:solidFill>
                  <a:latin typeface="Oswald ExtraLight"/>
                  <a:ea typeface="Oswald ExtraLight"/>
                  <a:cs typeface="Oswald ExtraLight"/>
                  <a:sym typeface="Oswald ExtraLight"/>
                </a:rPr>
                <a:t>Sacrificio de detalle</a:t>
              </a:r>
              <a:endParaRPr sz="1170">
                <a:solidFill>
                  <a:schemeClr val="lt1"/>
                </a:solidFill>
                <a:latin typeface="Oswald ExtraLight"/>
                <a:ea typeface="Oswald ExtraLight"/>
                <a:cs typeface="Oswald ExtraLight"/>
                <a:sym typeface="Oswald ExtraLight"/>
              </a:endParaRPr>
            </a:p>
          </p:txBody>
        </p:sp>
        <p:sp>
          <p:nvSpPr>
            <p:cNvPr id="430" name="Google Shape;430;p28"/>
            <p:cNvSpPr/>
            <p:nvPr/>
          </p:nvSpPr>
          <p:spPr>
            <a:xfrm>
              <a:off x="720213" y="5526987"/>
              <a:ext cx="1336200" cy="338100"/>
            </a:xfrm>
            <a:prstGeom prst="roundRect">
              <a:avLst>
                <a:gd fmla="val 16667" name="adj"/>
              </a:avLst>
            </a:prstGeom>
            <a:solidFill>
              <a:srgbClr val="FBBD05"/>
            </a:solidFill>
            <a:ln cap="flat" cmpd="sng" w="7975">
              <a:solidFill>
                <a:srgbClr val="FBBD05"/>
              </a:solidFill>
              <a:prstDash val="solid"/>
              <a:round/>
              <a:headEnd len="sm" w="sm" type="none"/>
              <a:tailEnd len="sm" w="sm" type="none"/>
            </a:ln>
          </p:spPr>
          <p:txBody>
            <a:bodyPr anchorCtr="0" anchor="ctr" bIns="76375" lIns="76375" spcFirstLastPara="1" rIns="76375" wrap="square" tIns="76375">
              <a:noAutofit/>
            </a:bodyPr>
            <a:lstStyle/>
            <a:p>
              <a:pPr indent="0" lvl="0" marL="0" rtl="0" algn="ctr">
                <a:spcBef>
                  <a:spcPts val="0"/>
                </a:spcBef>
                <a:spcAft>
                  <a:spcPts val="0"/>
                </a:spcAft>
                <a:buNone/>
              </a:pPr>
              <a:r>
                <a:rPr b="1" lang="es-419" sz="1170">
                  <a:solidFill>
                    <a:schemeClr val="lt1"/>
                  </a:solidFill>
                  <a:latin typeface="Oswald"/>
                  <a:ea typeface="Oswald"/>
                  <a:cs typeface="Oswald"/>
                  <a:sym typeface="Oswald"/>
                </a:rPr>
                <a:t>✓Limitaci</a:t>
              </a:r>
              <a:r>
                <a:rPr b="1" lang="es-419" sz="1170">
                  <a:solidFill>
                    <a:schemeClr val="lt1"/>
                  </a:solidFill>
                  <a:latin typeface="Oswald"/>
                  <a:ea typeface="Oswald"/>
                  <a:cs typeface="Oswald"/>
                  <a:sym typeface="Oswald"/>
                </a:rPr>
                <a:t>ón</a:t>
              </a:r>
              <a:endParaRPr b="1" sz="1170">
                <a:solidFill>
                  <a:schemeClr val="lt1"/>
                </a:solidFill>
                <a:latin typeface="Oswald"/>
                <a:ea typeface="Oswald"/>
                <a:cs typeface="Oswald"/>
                <a:sym typeface="Oswald"/>
              </a:endParaRPr>
            </a:p>
          </p:txBody>
        </p:sp>
      </p:grpSp>
      <p:grpSp>
        <p:nvGrpSpPr>
          <p:cNvPr id="431" name="Google Shape;431;p28"/>
          <p:cNvGrpSpPr/>
          <p:nvPr/>
        </p:nvGrpSpPr>
        <p:grpSpPr>
          <a:xfrm>
            <a:off x="5581000" y="5256300"/>
            <a:ext cx="1523970" cy="1060747"/>
            <a:chOff x="588586" y="4852873"/>
            <a:chExt cx="2044500" cy="1269900"/>
          </a:xfrm>
        </p:grpSpPr>
        <p:sp>
          <p:nvSpPr>
            <p:cNvPr id="432" name="Google Shape;432;p28"/>
            <p:cNvSpPr/>
            <p:nvPr/>
          </p:nvSpPr>
          <p:spPr>
            <a:xfrm>
              <a:off x="588586" y="4852873"/>
              <a:ext cx="2044500" cy="1269900"/>
            </a:xfrm>
            <a:prstGeom prst="roundRect">
              <a:avLst>
                <a:gd fmla="val 16667" name="adj"/>
              </a:avLst>
            </a:prstGeom>
            <a:solidFill>
              <a:srgbClr val="161D2D"/>
            </a:solidFill>
            <a:ln cap="flat" cmpd="sng" w="23875">
              <a:solidFill>
                <a:srgbClr val="007500"/>
              </a:solidFill>
              <a:prstDash val="solid"/>
              <a:round/>
              <a:headEnd len="sm" w="sm" type="none"/>
              <a:tailEnd len="sm" w="sm" type="none"/>
            </a:ln>
          </p:spPr>
          <p:txBody>
            <a:bodyPr anchorCtr="0" anchor="t" bIns="76375" lIns="76375" spcFirstLastPara="1" rIns="76375" wrap="square" tIns="76375">
              <a:noAutofit/>
            </a:bodyPr>
            <a:lstStyle/>
            <a:p>
              <a:pPr indent="0" lvl="0" marL="0" rtl="0" algn="l">
                <a:spcBef>
                  <a:spcPts val="0"/>
                </a:spcBef>
                <a:spcAft>
                  <a:spcPts val="0"/>
                </a:spcAft>
                <a:buNone/>
              </a:pPr>
              <a:r>
                <a:rPr b="1" lang="es-419" sz="1170">
                  <a:solidFill>
                    <a:schemeClr val="lt1"/>
                  </a:solidFill>
                  <a:latin typeface="Oswald"/>
                  <a:ea typeface="Oswald"/>
                  <a:cs typeface="Oswald"/>
                  <a:sym typeface="Oswald"/>
                </a:rPr>
                <a:t>Alimentar el Stream</a:t>
              </a:r>
              <a:endParaRPr b="1" sz="1170">
                <a:solidFill>
                  <a:schemeClr val="lt1"/>
                </a:solidFill>
                <a:latin typeface="Oswald"/>
                <a:ea typeface="Oswald"/>
                <a:cs typeface="Oswald"/>
                <a:sym typeface="Oswald"/>
              </a:endParaRPr>
            </a:p>
            <a:p>
              <a:pPr indent="0" lvl="0" marL="0" rtl="0" algn="l">
                <a:spcBef>
                  <a:spcPts val="0"/>
                </a:spcBef>
                <a:spcAft>
                  <a:spcPts val="0"/>
                </a:spcAft>
                <a:buNone/>
              </a:pPr>
              <a:r>
                <a:rPr lang="es-419" sz="1170">
                  <a:solidFill>
                    <a:schemeClr val="lt1"/>
                  </a:solidFill>
                  <a:latin typeface="Oswald ExtraLight"/>
                  <a:ea typeface="Oswald ExtraLight"/>
                  <a:cs typeface="Oswald ExtraLight"/>
                  <a:sym typeface="Oswald ExtraLight"/>
                </a:rPr>
                <a:t>CDC sobre la fact-table</a:t>
              </a:r>
              <a:endParaRPr sz="1170">
                <a:solidFill>
                  <a:schemeClr val="lt1"/>
                </a:solidFill>
                <a:latin typeface="Oswald ExtraLight"/>
                <a:ea typeface="Oswald ExtraLight"/>
                <a:cs typeface="Oswald ExtraLight"/>
                <a:sym typeface="Oswald ExtraLight"/>
              </a:endParaRPr>
            </a:p>
          </p:txBody>
        </p:sp>
        <p:sp>
          <p:nvSpPr>
            <p:cNvPr id="433" name="Google Shape;433;p28"/>
            <p:cNvSpPr/>
            <p:nvPr/>
          </p:nvSpPr>
          <p:spPr>
            <a:xfrm>
              <a:off x="720200" y="5526975"/>
              <a:ext cx="1050900" cy="338100"/>
            </a:xfrm>
            <a:prstGeom prst="roundRect">
              <a:avLst>
                <a:gd fmla="val 16667" name="adj"/>
              </a:avLst>
            </a:prstGeom>
            <a:solidFill>
              <a:srgbClr val="007500"/>
            </a:solidFill>
            <a:ln>
              <a:noFill/>
            </a:ln>
          </p:spPr>
          <p:txBody>
            <a:bodyPr anchorCtr="0" anchor="ctr" bIns="76375" lIns="76375" spcFirstLastPara="1" rIns="76375" wrap="square" tIns="76375">
              <a:noAutofit/>
            </a:bodyPr>
            <a:lstStyle/>
            <a:p>
              <a:pPr indent="0" lvl="0" marL="0" rtl="0" algn="ctr">
                <a:spcBef>
                  <a:spcPts val="0"/>
                </a:spcBef>
                <a:spcAft>
                  <a:spcPts val="0"/>
                </a:spcAft>
                <a:buNone/>
              </a:pPr>
              <a:r>
                <a:rPr b="1" lang="es-419" sz="1170">
                  <a:solidFill>
                    <a:schemeClr val="lt1"/>
                  </a:solidFill>
                  <a:latin typeface="Oswald"/>
                  <a:ea typeface="Oswald"/>
                  <a:cs typeface="Oswald"/>
                  <a:sym typeface="Oswald"/>
                </a:rPr>
                <a:t>✓Mejora</a:t>
              </a:r>
              <a:endParaRPr b="1" sz="1170">
                <a:solidFill>
                  <a:schemeClr val="lt1"/>
                </a:solidFill>
                <a:latin typeface="Oswald"/>
                <a:ea typeface="Oswald"/>
                <a:cs typeface="Oswald"/>
                <a:sym typeface="Oswald"/>
              </a:endParaRPr>
            </a:p>
          </p:txBody>
        </p:sp>
      </p:grpSp>
      <p:grpSp>
        <p:nvGrpSpPr>
          <p:cNvPr id="434" name="Google Shape;434;p28"/>
          <p:cNvGrpSpPr/>
          <p:nvPr/>
        </p:nvGrpSpPr>
        <p:grpSpPr>
          <a:xfrm>
            <a:off x="7331951" y="5256300"/>
            <a:ext cx="1523970" cy="1060747"/>
            <a:chOff x="588613" y="4852873"/>
            <a:chExt cx="2044500" cy="1269900"/>
          </a:xfrm>
        </p:grpSpPr>
        <p:sp>
          <p:nvSpPr>
            <p:cNvPr id="435" name="Google Shape;435;p28"/>
            <p:cNvSpPr/>
            <p:nvPr/>
          </p:nvSpPr>
          <p:spPr>
            <a:xfrm>
              <a:off x="588613" y="4852873"/>
              <a:ext cx="2044500" cy="1269900"/>
            </a:xfrm>
            <a:prstGeom prst="roundRect">
              <a:avLst>
                <a:gd fmla="val 16667" name="adj"/>
              </a:avLst>
            </a:prstGeom>
            <a:solidFill>
              <a:srgbClr val="161D2D"/>
            </a:solidFill>
            <a:ln cap="flat" cmpd="sng" w="23875">
              <a:solidFill>
                <a:srgbClr val="007500"/>
              </a:solidFill>
              <a:prstDash val="solid"/>
              <a:round/>
              <a:headEnd len="sm" w="sm" type="none"/>
              <a:tailEnd len="sm" w="sm" type="none"/>
            </a:ln>
          </p:spPr>
          <p:txBody>
            <a:bodyPr anchorCtr="0" anchor="t" bIns="76375" lIns="76375" spcFirstLastPara="1" rIns="76375" wrap="square" tIns="76375">
              <a:noAutofit/>
            </a:bodyPr>
            <a:lstStyle/>
            <a:p>
              <a:pPr indent="0" lvl="0" marL="0" rtl="0" algn="l">
                <a:spcBef>
                  <a:spcPts val="0"/>
                </a:spcBef>
                <a:spcAft>
                  <a:spcPts val="0"/>
                </a:spcAft>
                <a:buNone/>
              </a:pPr>
              <a:r>
                <a:rPr b="1" lang="es-419" sz="1170">
                  <a:solidFill>
                    <a:schemeClr val="lt1"/>
                  </a:solidFill>
                  <a:latin typeface="Oswald"/>
                  <a:ea typeface="Oswald"/>
                  <a:cs typeface="Oswald"/>
                  <a:sym typeface="Oswald"/>
                </a:rPr>
                <a:t>Cluster multi-broker</a:t>
              </a:r>
              <a:endParaRPr b="1" sz="1170">
                <a:solidFill>
                  <a:schemeClr val="lt1"/>
                </a:solidFill>
                <a:latin typeface="Oswald"/>
                <a:ea typeface="Oswald"/>
                <a:cs typeface="Oswald"/>
                <a:sym typeface="Oswald"/>
              </a:endParaRPr>
            </a:p>
            <a:p>
              <a:pPr indent="0" lvl="0" marL="0" rtl="0" algn="l">
                <a:spcBef>
                  <a:spcPts val="0"/>
                </a:spcBef>
                <a:spcAft>
                  <a:spcPts val="0"/>
                </a:spcAft>
                <a:buNone/>
              </a:pPr>
              <a:r>
                <a:rPr lang="es-419" sz="1170">
                  <a:solidFill>
                    <a:schemeClr val="lt1"/>
                  </a:solidFill>
                  <a:latin typeface="Oswald ExtraLight"/>
                  <a:ea typeface="Oswald ExtraLight"/>
                  <a:cs typeface="Oswald ExtraLight"/>
                  <a:sym typeface="Oswald ExtraLight"/>
                </a:rPr>
                <a:t>Alta disponibilidad</a:t>
              </a:r>
              <a:endParaRPr sz="1170">
                <a:solidFill>
                  <a:schemeClr val="lt1"/>
                </a:solidFill>
                <a:latin typeface="Oswald ExtraLight"/>
                <a:ea typeface="Oswald ExtraLight"/>
                <a:cs typeface="Oswald ExtraLight"/>
                <a:sym typeface="Oswald ExtraLight"/>
              </a:endParaRPr>
            </a:p>
          </p:txBody>
        </p:sp>
        <p:sp>
          <p:nvSpPr>
            <p:cNvPr id="436" name="Google Shape;436;p28"/>
            <p:cNvSpPr/>
            <p:nvPr/>
          </p:nvSpPr>
          <p:spPr>
            <a:xfrm>
              <a:off x="720200" y="5526975"/>
              <a:ext cx="1050900" cy="338100"/>
            </a:xfrm>
            <a:prstGeom prst="roundRect">
              <a:avLst>
                <a:gd fmla="val 16667" name="adj"/>
              </a:avLst>
            </a:prstGeom>
            <a:solidFill>
              <a:srgbClr val="007500"/>
            </a:solidFill>
            <a:ln>
              <a:noFill/>
            </a:ln>
          </p:spPr>
          <p:txBody>
            <a:bodyPr anchorCtr="0" anchor="ctr" bIns="76375" lIns="76375" spcFirstLastPara="1" rIns="76375" wrap="square" tIns="76375">
              <a:noAutofit/>
            </a:bodyPr>
            <a:lstStyle/>
            <a:p>
              <a:pPr indent="0" lvl="0" marL="0" rtl="0" algn="ctr">
                <a:spcBef>
                  <a:spcPts val="0"/>
                </a:spcBef>
                <a:spcAft>
                  <a:spcPts val="0"/>
                </a:spcAft>
                <a:buNone/>
              </a:pPr>
              <a:r>
                <a:rPr b="1" lang="es-419" sz="1170">
                  <a:solidFill>
                    <a:schemeClr val="lt1"/>
                  </a:solidFill>
                  <a:latin typeface="Oswald"/>
                  <a:ea typeface="Oswald"/>
                  <a:cs typeface="Oswald"/>
                  <a:sym typeface="Oswald"/>
                </a:rPr>
                <a:t>✓Mejora</a:t>
              </a:r>
              <a:endParaRPr b="1" sz="1170">
                <a:solidFill>
                  <a:schemeClr val="lt1"/>
                </a:solidFill>
                <a:latin typeface="Oswald"/>
                <a:ea typeface="Oswald"/>
                <a:cs typeface="Oswald"/>
                <a:sym typeface="Oswald"/>
              </a:endParaRPr>
            </a:p>
          </p:txBody>
        </p:sp>
      </p:grpSp>
      <p:grpSp>
        <p:nvGrpSpPr>
          <p:cNvPr id="437" name="Google Shape;437;p28"/>
          <p:cNvGrpSpPr/>
          <p:nvPr/>
        </p:nvGrpSpPr>
        <p:grpSpPr>
          <a:xfrm>
            <a:off x="9082872" y="5256289"/>
            <a:ext cx="1429155" cy="1060747"/>
            <a:chOff x="588600" y="4852875"/>
            <a:chExt cx="1917300" cy="1269900"/>
          </a:xfrm>
        </p:grpSpPr>
        <p:sp>
          <p:nvSpPr>
            <p:cNvPr id="438" name="Google Shape;438;p28"/>
            <p:cNvSpPr/>
            <p:nvPr/>
          </p:nvSpPr>
          <p:spPr>
            <a:xfrm>
              <a:off x="588600" y="4852875"/>
              <a:ext cx="1917300" cy="1269900"/>
            </a:xfrm>
            <a:prstGeom prst="roundRect">
              <a:avLst>
                <a:gd fmla="val 16667" name="adj"/>
              </a:avLst>
            </a:prstGeom>
            <a:solidFill>
              <a:srgbClr val="161D2D"/>
            </a:solidFill>
            <a:ln cap="flat" cmpd="sng" w="23875">
              <a:solidFill>
                <a:srgbClr val="007500"/>
              </a:solidFill>
              <a:prstDash val="solid"/>
              <a:round/>
              <a:headEnd len="sm" w="sm" type="none"/>
              <a:tailEnd len="sm" w="sm" type="none"/>
            </a:ln>
          </p:spPr>
          <p:txBody>
            <a:bodyPr anchorCtr="0" anchor="t" bIns="76375" lIns="76375" spcFirstLastPara="1" rIns="76375" wrap="square" tIns="76375">
              <a:noAutofit/>
            </a:bodyPr>
            <a:lstStyle/>
            <a:p>
              <a:pPr indent="0" lvl="0" marL="0" rtl="0" algn="l">
                <a:spcBef>
                  <a:spcPts val="0"/>
                </a:spcBef>
                <a:spcAft>
                  <a:spcPts val="0"/>
                </a:spcAft>
                <a:buNone/>
              </a:pPr>
              <a:r>
                <a:rPr b="1" lang="es-419" sz="1170">
                  <a:solidFill>
                    <a:schemeClr val="lt1"/>
                  </a:solidFill>
                  <a:latin typeface="Oswald"/>
                  <a:ea typeface="Oswald"/>
                  <a:cs typeface="Oswald"/>
                  <a:sym typeface="Oswald"/>
                </a:rPr>
                <a:t>Panel en Vivo</a:t>
              </a:r>
              <a:endParaRPr b="1" sz="1170">
                <a:solidFill>
                  <a:schemeClr val="lt1"/>
                </a:solidFill>
                <a:latin typeface="Oswald"/>
                <a:ea typeface="Oswald"/>
                <a:cs typeface="Oswald"/>
                <a:sym typeface="Oswald"/>
              </a:endParaRPr>
            </a:p>
            <a:p>
              <a:pPr indent="0" lvl="0" marL="0" rtl="0" algn="l">
                <a:spcBef>
                  <a:spcPts val="0"/>
                </a:spcBef>
                <a:spcAft>
                  <a:spcPts val="0"/>
                </a:spcAft>
                <a:buNone/>
              </a:pPr>
              <a:r>
                <a:rPr lang="es-419" sz="1170">
                  <a:solidFill>
                    <a:schemeClr val="lt1"/>
                  </a:solidFill>
                  <a:latin typeface="Oswald ExtraLight"/>
                  <a:ea typeface="Oswald ExtraLight"/>
                  <a:cs typeface="Oswald ExtraLight"/>
                  <a:sym typeface="Oswald ExtraLight"/>
                </a:rPr>
                <a:t>Grafana</a:t>
              </a:r>
              <a:endParaRPr sz="1170">
                <a:solidFill>
                  <a:schemeClr val="lt1"/>
                </a:solidFill>
                <a:latin typeface="Oswald ExtraLight"/>
                <a:ea typeface="Oswald ExtraLight"/>
                <a:cs typeface="Oswald ExtraLight"/>
                <a:sym typeface="Oswald ExtraLight"/>
              </a:endParaRPr>
            </a:p>
          </p:txBody>
        </p:sp>
        <p:sp>
          <p:nvSpPr>
            <p:cNvPr id="439" name="Google Shape;439;p28"/>
            <p:cNvSpPr/>
            <p:nvPr/>
          </p:nvSpPr>
          <p:spPr>
            <a:xfrm>
              <a:off x="720200" y="5526975"/>
              <a:ext cx="1050900" cy="338100"/>
            </a:xfrm>
            <a:prstGeom prst="roundRect">
              <a:avLst>
                <a:gd fmla="val 16667" name="adj"/>
              </a:avLst>
            </a:prstGeom>
            <a:solidFill>
              <a:srgbClr val="007500"/>
            </a:solidFill>
            <a:ln>
              <a:noFill/>
            </a:ln>
          </p:spPr>
          <p:txBody>
            <a:bodyPr anchorCtr="0" anchor="ctr" bIns="76375" lIns="76375" spcFirstLastPara="1" rIns="76375" wrap="square" tIns="76375">
              <a:noAutofit/>
            </a:bodyPr>
            <a:lstStyle/>
            <a:p>
              <a:pPr indent="0" lvl="0" marL="0" rtl="0" algn="ctr">
                <a:spcBef>
                  <a:spcPts val="0"/>
                </a:spcBef>
                <a:spcAft>
                  <a:spcPts val="0"/>
                </a:spcAft>
                <a:buNone/>
              </a:pPr>
              <a:r>
                <a:rPr b="1" lang="es-419" sz="1170">
                  <a:solidFill>
                    <a:schemeClr val="lt1"/>
                  </a:solidFill>
                  <a:latin typeface="Oswald"/>
                  <a:ea typeface="Oswald"/>
                  <a:cs typeface="Oswald"/>
                  <a:sym typeface="Oswald"/>
                </a:rPr>
                <a:t>✓Mejora</a:t>
              </a:r>
              <a:endParaRPr b="1" sz="1170">
                <a:solidFill>
                  <a:schemeClr val="lt1"/>
                </a:solidFill>
                <a:latin typeface="Oswald"/>
                <a:ea typeface="Oswald"/>
                <a:cs typeface="Oswald"/>
                <a:sym typeface="Oswald"/>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29"/>
          <p:cNvSpPr/>
          <p:nvPr/>
        </p:nvSpPr>
        <p:spPr>
          <a:xfrm>
            <a:off x="3225" y="-41440"/>
            <a:ext cx="10800000" cy="7225800"/>
          </a:xfrm>
          <a:prstGeom prst="roundRect">
            <a:avLst>
              <a:gd fmla="val 0" name="adj"/>
            </a:avLst>
          </a:prstGeom>
          <a:no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5" name="Google Shape;445;p29"/>
          <p:cNvSpPr/>
          <p:nvPr/>
        </p:nvSpPr>
        <p:spPr>
          <a:xfrm>
            <a:off x="0" y="-19825"/>
            <a:ext cx="10800000" cy="7200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29"/>
          <p:cNvSpPr/>
          <p:nvPr/>
        </p:nvSpPr>
        <p:spPr>
          <a:xfrm>
            <a:off x="1363950" y="1810925"/>
            <a:ext cx="8072100" cy="3538500"/>
          </a:xfrm>
          <a:prstGeom prst="roundRect">
            <a:avLst>
              <a:gd fmla="val 16667"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29"/>
          <p:cNvSpPr/>
          <p:nvPr/>
        </p:nvSpPr>
        <p:spPr>
          <a:xfrm>
            <a:off x="1790400" y="2219250"/>
            <a:ext cx="7219200" cy="2761500"/>
          </a:xfrm>
          <a:prstGeom prst="roundRect">
            <a:avLst>
              <a:gd fmla="val 16667" name="adj"/>
            </a:avLst>
          </a:prstGeom>
          <a:solidFill>
            <a:schemeClr val="lt1"/>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8" name="Google Shape;448;p29"/>
          <p:cNvSpPr txBox="1"/>
          <p:nvPr/>
        </p:nvSpPr>
        <p:spPr>
          <a:xfrm>
            <a:off x="2809050" y="2377650"/>
            <a:ext cx="5181900" cy="2444700"/>
          </a:xfrm>
          <a:prstGeom prst="rect">
            <a:avLst/>
          </a:prstGeom>
          <a:noFill/>
          <a:ln>
            <a:noFill/>
          </a:ln>
        </p:spPr>
        <p:txBody>
          <a:bodyPr anchorCtr="0" anchor="t" bIns="114650" lIns="114650" spcFirstLastPara="1" rIns="114650" wrap="square" tIns="114650">
            <a:noAutofit/>
          </a:bodyPr>
          <a:lstStyle/>
          <a:p>
            <a:pPr indent="0" lvl="0" marL="0" rtl="0" algn="ctr">
              <a:spcBef>
                <a:spcPts val="0"/>
              </a:spcBef>
              <a:spcAft>
                <a:spcPts val="0"/>
              </a:spcAft>
              <a:buNone/>
            </a:pPr>
            <a:r>
              <a:rPr b="1" lang="es-419" sz="7200">
                <a:solidFill>
                  <a:schemeClr val="dk1"/>
                </a:solidFill>
                <a:latin typeface="Oswald"/>
                <a:ea typeface="Oswald"/>
                <a:cs typeface="Oswald"/>
                <a:sym typeface="Oswald"/>
              </a:rPr>
              <a:t>MUCHAS GRACIAS</a:t>
            </a:r>
            <a:endParaRPr b="1" sz="7200">
              <a:solidFill>
                <a:schemeClr val="dk1"/>
              </a:solidFill>
              <a:latin typeface="Oswald"/>
              <a:ea typeface="Oswald"/>
              <a:cs typeface="Oswald"/>
              <a:sym typeface="Oswald"/>
            </a:endParaRPr>
          </a:p>
        </p:txBody>
      </p:sp>
      <p:pic>
        <p:nvPicPr>
          <p:cNvPr id="449" name="Google Shape;449;p29"/>
          <p:cNvPicPr preferRelativeResize="0"/>
          <p:nvPr/>
        </p:nvPicPr>
        <p:blipFill>
          <a:blip r:embed="rId3">
            <a:alphaModFix/>
          </a:blip>
          <a:stretch>
            <a:fillRect/>
          </a:stretch>
        </p:blipFill>
        <p:spPr>
          <a:xfrm flipH="1">
            <a:off x="1105650" y="1584900"/>
            <a:ext cx="1180075" cy="1180075"/>
          </a:xfrm>
          <a:prstGeom prst="rect">
            <a:avLst/>
          </a:prstGeom>
          <a:noFill/>
          <a:ln>
            <a:noFill/>
          </a:ln>
        </p:spPr>
      </p:pic>
      <p:sp>
        <p:nvSpPr>
          <p:cNvPr id="450" name="Google Shape;450;p29"/>
          <p:cNvSpPr/>
          <p:nvPr/>
        </p:nvSpPr>
        <p:spPr>
          <a:xfrm>
            <a:off x="8542350" y="4980750"/>
            <a:ext cx="893700" cy="606300"/>
          </a:xfrm>
          <a:prstGeom prst="chevron">
            <a:avLst>
              <a:gd fmla="val 50000" name="adj"/>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1" name="Google Shape;451;p29"/>
          <p:cNvSpPr/>
          <p:nvPr/>
        </p:nvSpPr>
        <p:spPr>
          <a:xfrm>
            <a:off x="8275738" y="4980750"/>
            <a:ext cx="893700" cy="606300"/>
          </a:xfrm>
          <a:prstGeom prst="chevron">
            <a:avLst>
              <a:gd fmla="val 50000" name="adj"/>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2" name="Google Shape;452;p29"/>
          <p:cNvSpPr/>
          <p:nvPr/>
        </p:nvSpPr>
        <p:spPr>
          <a:xfrm>
            <a:off x="8275750" y="4980750"/>
            <a:ext cx="574800" cy="606300"/>
          </a:xfrm>
          <a:prstGeom prst="chevron">
            <a:avLst>
              <a:gd fmla="val 50000" name="adj"/>
            </a:avLst>
          </a:prstGeom>
          <a:solidFill>
            <a:schemeClr val="accen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